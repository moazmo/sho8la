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04B9FA-3E12-7F9A-12BE-1CA3F0330471}" v="364" dt="2025-12-05T19:34:31.453"/>
    <p1510:client id="{68050997-F0FB-4BB9-9DE5-FDD0229C3B92}" v="6" dt="2025-12-04T19:32:21.116"/>
    <p1510:client id="{6840743B-B080-8763-44AD-874D3363DCD5}" v="87" dt="2025-12-05T16:38:07.8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378" y="-42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069025"/>
              </p:ext>
            </p:extLst>
          </p:nvPr>
        </p:nvGraphicFramePr>
        <p:xfrm>
          <a:off x="83238" y="72811"/>
          <a:ext cx="7623629" cy="9899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6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9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8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Use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case 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name: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noProof="0" dirty="0"/>
                        <a:t>Register Account</a:t>
                      </a:r>
                    </a:p>
                  </a:txBody>
                  <a:tcPr marL="0" marR="0" marT="0" marB="0">
                    <a:lnL w="9525">
                      <a:solidFill>
                        <a:schemeClr val="tx1"/>
                      </a:solidFill>
                      <a:prstDash val="solid"/>
                    </a:lnL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Scenario: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ar-SA" sz="1400" b="0" i="0" u="none" strike="noStrike" noProof="0" dirty="0" err="1"/>
                        <a:t>Create</a:t>
                      </a:r>
                      <a:r>
                        <a:rPr lang="ar-SA" sz="1400" b="0" i="0" u="none" strike="noStrike" noProof="0" dirty="0"/>
                        <a:t> a </a:t>
                      </a:r>
                      <a:r>
                        <a:rPr lang="ar-SA" sz="1400" b="0" i="0" u="none" strike="noStrike" noProof="0" dirty="0" err="1"/>
                        <a:t>new</a:t>
                      </a:r>
                      <a:r>
                        <a:rPr lang="ar-SA" sz="1400" b="0" i="0" u="none" strike="noStrike" noProof="0" dirty="0"/>
                        <a:t> </a:t>
                      </a:r>
                      <a:r>
                        <a:rPr lang="ar-SA" sz="1400" b="0" i="0" u="none" strike="noStrike" noProof="0" dirty="0" err="1"/>
                        <a:t>profile</a:t>
                      </a:r>
                      <a:r>
                        <a:rPr lang="ar-SA" sz="1400" b="0" i="0" u="none" strike="noStrike" noProof="0" dirty="0"/>
                        <a:t> </a:t>
                      </a:r>
                      <a:r>
                        <a:rPr lang="ar-SA" sz="1400" b="0" i="0" u="none" strike="noStrike" noProof="0" dirty="0" err="1"/>
                        <a:t>for</a:t>
                      </a:r>
                      <a:r>
                        <a:rPr lang="ar-SA" sz="1400" b="0" i="0" u="none" strike="noStrike" noProof="0" dirty="0"/>
                        <a:t> a </a:t>
                      </a:r>
                      <a:r>
                        <a:rPr lang="ar-SA" sz="1400" b="0" i="0" u="none" strike="noStrike" noProof="0" dirty="0" err="1"/>
                        <a:t>Freelancer</a:t>
                      </a:r>
                      <a:r>
                        <a:rPr lang="ar-SA" sz="1400" b="0" i="0" u="none" strike="noStrike" noProof="0" dirty="0"/>
                        <a:t> </a:t>
                      </a:r>
                      <a:r>
                        <a:rPr lang="ar-SA" sz="1400" b="0" i="0" u="none" strike="noStrike" noProof="0" dirty="0" err="1"/>
                        <a:t>or</a:t>
                      </a:r>
                      <a:r>
                        <a:rPr lang="ar-SA" sz="1400" b="0" i="0" u="none" strike="noStrike" noProof="0" dirty="0"/>
                        <a:t> </a:t>
                      </a:r>
                      <a:r>
                        <a:rPr lang="ar-SA" sz="1400" b="0" i="0" u="none" strike="noStrike" noProof="0" dirty="0" err="1"/>
                        <a:t>Client</a:t>
                      </a:r>
                      <a:r>
                        <a:rPr lang="ar-SA" sz="1400" b="0" i="0" u="none" strike="noStrike" noProof="0" dirty="0"/>
                        <a:t>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chemeClr val="tx1"/>
                      </a:solidFill>
                      <a:prstDash val="solid"/>
                    </a:lnL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54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Triggering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event: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noProof="0" dirty="0"/>
                        <a:t>A visitor (Student or Business Owner) wants to join Sho8la to post jobs or find work.</a:t>
                      </a:r>
                      <a:endParaRPr sz="1400"/>
                    </a:p>
                  </a:txBody>
                  <a:tcPr marL="0" marR="0" marT="0" marB="0">
                    <a:lnL w="9525">
                      <a:solidFill>
                        <a:schemeClr val="tx1"/>
                      </a:solidFill>
                      <a:prstDash val="solid"/>
                    </a:lnL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430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Brief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description: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noProof="0" dirty="0"/>
                        <a:t>The user provides their basic personal information (Name, Email, Phone Number), selects their role (Client or Freelancer), and sets a password to create a secure account.</a:t>
                      </a:r>
                      <a:endParaRPr sz="1400"/>
                    </a:p>
                  </a:txBody>
                  <a:tcPr marL="0" marR="0" marT="0" marB="0">
                    <a:lnL w="9525">
                      <a:solidFill>
                        <a:schemeClr val="tx1"/>
                      </a:solidFill>
                      <a:prstDash val="solid"/>
                    </a:lnL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Actors: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noProof="0" dirty="0"/>
                        <a:t>Client, Freelancer (Student).</a:t>
                      </a:r>
                    </a:p>
                  </a:txBody>
                  <a:tcPr marL="0" marR="0" marT="0" marB="0">
                    <a:lnL w="9525">
                      <a:solidFill>
                        <a:schemeClr val="tx1"/>
                      </a:solidFill>
                      <a:prstDash val="solid"/>
                    </a:lnL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54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Related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use</a:t>
                      </a:r>
                      <a:r>
                        <a:rPr sz="14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cases: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1" u="none" strike="noStrike" noProof="0" dirty="0"/>
                        <a:t>Upload University ID</a:t>
                      </a:r>
                      <a:r>
                        <a:rPr lang="en-US" sz="1400" b="0" i="0" u="none" strike="noStrike" noProof="0" dirty="0"/>
                        <a:t> (Specific to Freelancer, usually follows this).</a:t>
                      </a:r>
                      <a:endParaRPr sz="1400"/>
                    </a:p>
                  </a:txBody>
                  <a:tcPr marL="0" marR="0" marT="0" marB="0">
                    <a:lnL w="9525">
                      <a:solidFill>
                        <a:schemeClr val="tx1"/>
                      </a:solidFill>
                      <a:prstDash val="solid"/>
                    </a:lnL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381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Stakeholders: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1" i="0" u="none" strike="noStrike" noProof="0" dirty="0" err="1"/>
                        <a:t>Admin</a:t>
                      </a:r>
                      <a:r>
                        <a:rPr lang="ar-SA" sz="1400" b="1" i="0" u="none" strike="noStrike" noProof="0" dirty="0"/>
                        <a:t>:</a:t>
                      </a:r>
                      <a:r>
                        <a:rPr lang="ar-SA" sz="1400" b="0" i="0" u="none" strike="noStrike" noProof="0" dirty="0"/>
                        <a:t> </a:t>
                      </a:r>
                      <a:r>
                        <a:rPr lang="ar-SA" sz="1400" b="0" i="0" u="none" strike="noStrike" noProof="0" dirty="0" err="1"/>
                        <a:t>Wants</a:t>
                      </a:r>
                      <a:r>
                        <a:rPr lang="ar-SA" sz="1400" b="0" i="0" u="none" strike="noStrike" noProof="0" dirty="0"/>
                        <a:t> </a:t>
                      </a:r>
                      <a:r>
                        <a:rPr lang="ar-SA" sz="1400" b="0" i="0" u="none" strike="noStrike" noProof="0" dirty="0" err="1"/>
                        <a:t>verified</a:t>
                      </a:r>
                      <a:r>
                        <a:rPr lang="ar-SA" sz="1400" b="0" i="0" u="none" strike="noStrike" noProof="0" dirty="0"/>
                        <a:t>, </a:t>
                      </a:r>
                      <a:r>
                        <a:rPr lang="ar-SA" sz="1400" b="0" i="0" u="none" strike="noStrike" noProof="0" dirty="0" err="1"/>
                        <a:t>real</a:t>
                      </a:r>
                      <a:r>
                        <a:rPr lang="ar-SA" sz="1400" b="0" i="0" u="none" strike="noStrike" noProof="0" dirty="0"/>
                        <a:t> </a:t>
                      </a:r>
                      <a:r>
                        <a:rPr lang="ar-SA" sz="1400" b="0" i="0" u="none" strike="noStrike" noProof="0" dirty="0" err="1"/>
                        <a:t>users</a:t>
                      </a:r>
                      <a:r>
                        <a:rPr lang="ar-SA" sz="1400" b="0" i="0" u="none" strike="noStrike" noProof="0" dirty="0"/>
                        <a:t> </a:t>
                      </a:r>
                      <a:r>
                        <a:rPr lang="ar-SA" sz="1400" b="0" i="0" u="none" strike="noStrike" noProof="0" dirty="0" err="1"/>
                        <a:t>to</a:t>
                      </a:r>
                      <a:r>
                        <a:rPr lang="ar-SA" sz="1400" b="0" i="0" u="none" strike="noStrike" noProof="0" dirty="0"/>
                        <a:t> </a:t>
                      </a:r>
                      <a:r>
                        <a:rPr lang="ar-SA" sz="1400" b="0" i="0" u="none" strike="noStrike" noProof="0" dirty="0" err="1"/>
                        <a:t>prevent</a:t>
                      </a:r>
                      <a:r>
                        <a:rPr lang="ar-SA" sz="1400" b="0" i="0" u="none" strike="noStrike" noProof="0" dirty="0"/>
                        <a:t> </a:t>
                      </a:r>
                      <a:r>
                        <a:rPr lang="ar-SA" sz="1400" b="0" i="0" u="none" strike="noStrike" noProof="0" dirty="0" err="1"/>
                        <a:t>spam</a:t>
                      </a:r>
                      <a:r>
                        <a:rPr lang="ar-SA" sz="1400" b="0" i="0" u="none" strike="noStrike" noProof="0" dirty="0"/>
                        <a:t>.</a:t>
                      </a:r>
                      <a:endParaRPr lang="ar-SA" sz="14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A" sz="1400" b="1" i="0" u="none" strike="noStrike" noProof="0" dirty="0" err="1"/>
                        <a:t>Marketing</a:t>
                      </a:r>
                      <a:r>
                        <a:rPr lang="ar-SA" sz="1400" b="1" i="0" u="none" strike="noStrike" noProof="0" dirty="0"/>
                        <a:t>:</a:t>
                      </a:r>
                      <a:r>
                        <a:rPr lang="ar-SA" sz="1400" b="0" i="0" u="none" strike="noStrike" noProof="0" dirty="0"/>
                        <a:t> </a:t>
                      </a:r>
                      <a:r>
                        <a:rPr lang="ar-SA" sz="1400" b="0" i="0" u="none" strike="noStrike" noProof="0" dirty="0" err="1"/>
                        <a:t>Wants</a:t>
                      </a:r>
                      <a:r>
                        <a:rPr lang="ar-SA" sz="1400" b="0" i="0" u="none" strike="noStrike" noProof="0" dirty="0"/>
                        <a:t> </a:t>
                      </a:r>
                      <a:r>
                        <a:rPr lang="ar-SA" sz="1400" b="0" i="0" u="none" strike="noStrike" noProof="0" dirty="0" err="1"/>
                        <a:t>user</a:t>
                      </a:r>
                      <a:r>
                        <a:rPr lang="ar-SA" sz="1400" b="0" i="0" u="none" strike="noStrike" noProof="0" dirty="0"/>
                        <a:t> </a:t>
                      </a:r>
                      <a:r>
                        <a:rPr lang="ar-SA" sz="1400" b="0" i="0" u="none" strike="noStrike" noProof="0" dirty="0" err="1"/>
                        <a:t>contact</a:t>
                      </a:r>
                      <a:r>
                        <a:rPr lang="ar-SA" sz="1400" b="0" i="0" u="none" strike="noStrike" noProof="0" dirty="0"/>
                        <a:t> </a:t>
                      </a:r>
                      <a:r>
                        <a:rPr lang="ar-SA" sz="1400" b="0" i="0" u="none" strike="noStrike" noProof="0" dirty="0" err="1"/>
                        <a:t>info</a:t>
                      </a:r>
                      <a:r>
                        <a:rPr lang="ar-SA" sz="1400" b="0" i="0" u="none" strike="noStrike" noProof="0" dirty="0"/>
                        <a:t> </a:t>
                      </a:r>
                      <a:r>
                        <a:rPr lang="ar-SA" sz="1400" b="0" i="0" u="none" strike="noStrike" noProof="0" dirty="0" err="1"/>
                        <a:t>for</a:t>
                      </a:r>
                      <a:r>
                        <a:rPr lang="ar-SA" sz="1400" b="0" i="0" u="none" strike="noStrike" noProof="0" dirty="0"/>
                        <a:t> </a:t>
                      </a:r>
                      <a:r>
                        <a:rPr lang="ar-SA" sz="1400" b="0" i="0" u="none" strike="noStrike" noProof="0" dirty="0" err="1"/>
                        <a:t>engagement</a:t>
                      </a:r>
                      <a:r>
                        <a:rPr lang="ar-SA" sz="1400" b="0" i="0" u="none" strike="noStrike" noProof="0" dirty="0"/>
                        <a:t>.</a:t>
                      </a:r>
                      <a:endParaRPr lang="ar-SA" sz="1400"/>
                    </a:p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endParaRPr lang="ar-SA"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chemeClr val="tx1"/>
                      </a:solidFill>
                      <a:prstDash val="solid"/>
                    </a:lnL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650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Preconditions: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1. The user must have a valid email address and Egyptian phone number.</a:t>
                      </a:r>
                      <a:endParaRPr lang="ar-SA" sz="14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2. The user is not currently logged in.</a:t>
                      </a:r>
                      <a:endParaRPr lang="ar-SA" sz="1400"/>
                    </a:p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chemeClr val="tx1"/>
                      </a:solidFill>
                      <a:prstDash val="solid"/>
                    </a:lnL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0635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Postconditions: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1. A new User record is created in the database.</a:t>
                      </a:r>
                      <a:endParaRPr lang="ar-SA" sz="14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2. The user is assigned their selected role (Client/Freelancer).</a:t>
                      </a:r>
                      <a:endParaRPr lang="ar-SA" sz="14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3. The user is redirected to the Login page or Dashboard.</a:t>
                      </a:r>
                      <a:endParaRPr lang="ar-SA" sz="1400"/>
                    </a:p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chemeClr val="tx1"/>
                      </a:solidFill>
                      <a:prstDash val="solid"/>
                    </a:lnL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780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Flow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activities: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Actor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System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9525">
                      <a:solidFill>
                        <a:schemeClr val="tx1"/>
                      </a:solidFill>
                      <a:prstDash val="solid"/>
                    </a:lnL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406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1. User clicks "Sign Up" on the homepage.</a:t>
                      </a:r>
                      <a:endParaRPr lang="en-US" sz="14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2. User enters full name, email address, and Egyptian phone number.</a:t>
                      </a:r>
                      <a:endParaRPr lang="en-US" sz="14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3. User selects their role: "I am a Student (Freelancer)" or "I am a Client".</a:t>
                      </a:r>
                      <a:endParaRPr lang="ar-SA" sz="14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4. User creates a password and confirms it.</a:t>
                      </a:r>
                      <a:endParaRPr lang="ar-SA" sz="14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5. User clicks "Create Account".</a:t>
                      </a:r>
                      <a:endParaRPr lang="ar-SA" sz="1400"/>
                    </a:p>
                  </a:txBody>
                  <a:tcPr marL="0" marR="0" marT="0" marB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1. System displays the registration form.</a:t>
                      </a:r>
                      <a:endParaRPr lang="ar-SA" sz="14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2. System validates the email format and checks if it already exists.</a:t>
                      </a:r>
                      <a:endParaRPr lang="ar-SA" sz="14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3. System validates the phone number format (must start with 010, 011, 012, 015).</a:t>
                      </a:r>
                      <a:endParaRPr lang="ar-SA" sz="14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4. System validates password strength (min 8 chars).</a:t>
                      </a:r>
                      <a:endParaRPr lang="ar-SA" sz="14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5. System creates the account in the database.</a:t>
                      </a:r>
                      <a:endParaRPr lang="en-US" sz="14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6. System displays a success message and redirects user.</a:t>
                      </a:r>
                      <a:endParaRPr lang="ar-SA" sz="1400"/>
                    </a:p>
                  </a:txBody>
                  <a:tcPr marL="0" marR="0" marT="0" marB="0">
                    <a:lnL w="9525">
                      <a:solidFill>
                        <a:schemeClr val="tx1"/>
                      </a:solidFill>
                      <a:prstDash val="solid"/>
                    </a:lnL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0635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Exception</a:t>
                      </a:r>
                      <a:r>
                        <a:rPr sz="14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conditions: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9525">
                      <a:solidFill>
                        <a:schemeClr val="tx1"/>
                      </a:solidFill>
                      <a:prstDash val="solid"/>
                    </a:lnL>
                    <a:lnR w="9525">
                      <a:solidFill>
                        <a:schemeClr val="tx1"/>
                      </a:solidFill>
                      <a:prstDash val="solid"/>
                    </a:lnR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1. </a:t>
                      </a:r>
                      <a:r>
                        <a:rPr lang="en-US" sz="1400" b="1" i="0" u="none" strike="noStrike" noProof="0" dirty="0"/>
                        <a:t>Email already exists:</a:t>
                      </a:r>
                      <a:r>
                        <a:rPr lang="en-US" sz="1400" b="0" i="0" u="none" strike="noStrike" noProof="0" dirty="0"/>
                        <a:t> System shows error "Email already in use" and asks user to Login.</a:t>
                      </a:r>
                      <a:endParaRPr lang="ar-SA" sz="14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2. </a:t>
                      </a:r>
                      <a:r>
                        <a:rPr lang="en-US" sz="1400" b="1" i="0" u="none" strike="noStrike" noProof="0" dirty="0"/>
                        <a:t>Weak Password:</a:t>
                      </a:r>
                      <a:r>
                        <a:rPr lang="en-US" sz="1400" b="0" i="0" u="none" strike="noStrike" noProof="0" dirty="0"/>
                        <a:t> System prompts user to use a stronger password.</a:t>
                      </a:r>
                      <a:endParaRPr lang="ar-SA" sz="14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/>
                        <a:t>3. </a:t>
                      </a:r>
                      <a:r>
                        <a:rPr lang="en-US" sz="1400" b="1" i="0" u="none" strike="noStrike" noProof="0" dirty="0"/>
                        <a:t>Invalid Phone:</a:t>
                      </a:r>
                      <a:r>
                        <a:rPr lang="en-US" sz="1400" b="0" i="0" u="none" strike="noStrike" noProof="0" dirty="0"/>
                        <a:t> System rejects non-Egyptian numbers.</a:t>
                      </a:r>
                      <a:endParaRPr lang="ar-SA" sz="1400"/>
                    </a:p>
                  </a:txBody>
                  <a:tcPr marL="0" marR="0" marT="0" marB="0">
                    <a:lnL w="9525">
                      <a:solidFill>
                        <a:schemeClr val="tx1"/>
                      </a:solidFill>
                      <a:prstDash val="solid"/>
                    </a:lnL>
                    <a:lnT w="9525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tx1"/>
                      </a:solidFill>
                      <a:prstDash val="solid"/>
                    </a:lnB>
                    <a:solidFill>
                      <a:srgbClr val="FBD4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33</Words>
  <Application>Microsoft Office PowerPoint</Application>
  <PresentationFormat>مخصص</PresentationFormat>
  <Paragraphs>13</Paragraphs>
  <Slides>1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2" baseType="lpstr">
      <vt:lpstr>Office Theme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Omar Shahata Ismail Abdel Hamid Anani</dc:creator>
  <cp:lastModifiedBy>Omar Shahata Ismail Abdel Hamid Anani</cp:lastModifiedBy>
  <cp:revision>114</cp:revision>
  <dcterms:created xsi:type="dcterms:W3CDTF">2025-12-04T18:53:50Z</dcterms:created>
  <dcterms:modified xsi:type="dcterms:W3CDTF">2025-12-05T19:37:01Z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2025-12-04T00:00:00Z</vt:filetime>
  </property>
  <property fmtid="{D5CDD505-2E9C-101B-9397-08002B2CF9AE}" pid="5" name="Producer">
    <vt:lpwstr>www.ilovepdf.com</vt:lpwstr>
  </property>
</Properties>
</file>