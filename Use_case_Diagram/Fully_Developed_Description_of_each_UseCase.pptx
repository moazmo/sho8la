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04B9FA-3E12-7F9A-12BE-1CA3F0330471}" v="704" dt="2025-12-05T19:56:38.177"/>
    <p1510:client id="{68050997-F0FB-4BB9-9DE5-FDD0229C3B92}" v="6" dt="2025-12-04T19:32:21.116"/>
    <p1510:client id="{6840743B-B080-8763-44AD-874D3363DCD5}" v="87" dt="2025-12-05T16:38:07.89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نمط فاتح 3 - تميي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النمط الفاتح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نمط فاتح 1 - تميي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النمط المتوسط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1378" y="-42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12/5/2025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12/5/2025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12/5/2025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12/5/2025</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560710358"/>
              </p:ext>
            </p:extLst>
          </p:nvPr>
        </p:nvGraphicFramePr>
        <p:xfrm>
          <a:off x="83238" y="72811"/>
          <a:ext cx="7623629" cy="9899785"/>
        </p:xfrm>
        <a:graphic>
          <a:graphicData uri="http://schemas.openxmlformats.org/drawingml/2006/table">
            <a:tbl>
              <a:tblPr firstRow="1" bandRow="1">
                <a:tableStyleId>{2D5ABB26-0587-4C30-8999-92F81FD0307C}</a:tableStyleId>
              </a:tblPr>
              <a:tblGrid>
                <a:gridCol w="2656113">
                  <a:extLst>
                    <a:ext uri="{9D8B030D-6E8A-4147-A177-3AD203B41FA5}">
                      <a16:colId xmlns:a16="http://schemas.microsoft.com/office/drawing/2014/main" val="20000"/>
                    </a:ext>
                  </a:extLst>
                </a:gridCol>
                <a:gridCol w="2429509">
                  <a:extLst>
                    <a:ext uri="{9D8B030D-6E8A-4147-A177-3AD203B41FA5}">
                      <a16:colId xmlns:a16="http://schemas.microsoft.com/office/drawing/2014/main" val="20001"/>
                    </a:ext>
                  </a:extLst>
                </a:gridCol>
                <a:gridCol w="2538007">
                  <a:extLst>
                    <a:ext uri="{9D8B030D-6E8A-4147-A177-3AD203B41FA5}">
                      <a16:colId xmlns:a16="http://schemas.microsoft.com/office/drawing/2014/main" val="20002"/>
                    </a:ext>
                  </a:extLst>
                </a:gridCol>
              </a:tblGrid>
              <a:tr h="251760">
                <a:tc>
                  <a:txBody>
                    <a:bodyPr/>
                    <a:lstStyle/>
                    <a:p>
                      <a:pPr marL="91440">
                        <a:lnSpc>
                          <a:spcPct val="100000"/>
                        </a:lnSpc>
                        <a:spcBef>
                          <a:spcPts val="310"/>
                        </a:spcBef>
                      </a:pPr>
                      <a:r>
                        <a:rPr sz="1400" b="1" dirty="0">
                          <a:latin typeface="Arial"/>
                          <a:cs typeface="Arial"/>
                        </a:rPr>
                        <a:t>Use</a:t>
                      </a:r>
                      <a:r>
                        <a:rPr sz="1400" b="1" spc="-10" dirty="0">
                          <a:latin typeface="Arial"/>
                          <a:cs typeface="Arial"/>
                        </a:rPr>
                        <a:t> </a:t>
                      </a:r>
                      <a:r>
                        <a:rPr sz="1400" b="1" dirty="0">
                          <a:latin typeface="Arial"/>
                          <a:cs typeface="Arial"/>
                        </a:rPr>
                        <a:t>case </a:t>
                      </a:r>
                      <a:r>
                        <a:rPr sz="1400" b="1" spc="-20" dirty="0">
                          <a:latin typeface="Arial"/>
                          <a:cs typeface="Arial"/>
                        </a:rPr>
                        <a:t>name:</a:t>
                      </a:r>
                      <a:endParaRPr sz="1400">
                        <a:latin typeface="Arial"/>
                        <a:cs typeface="Arial"/>
                      </a:endParaRPr>
                    </a:p>
                  </a:txBody>
                  <a:tcPr marL="0" marR="0" marT="39370" marB="0">
                    <a:lnL w="9525">
                      <a:solidFill>
                        <a:schemeClr val="tx1"/>
                      </a:solidFill>
                      <a:prstDash val="solid"/>
                    </a:lnL>
                    <a:lnR w="9525">
                      <a:solidFill>
                        <a:schemeClr val="tx1"/>
                      </a:solidFill>
                      <a:prstDash val="solid"/>
                    </a:lnR>
                    <a:lnT w="9525">
                      <a:solidFill>
                        <a:schemeClr val="tx1"/>
                      </a:solidFill>
                      <a:prstDash val="solid"/>
                    </a:lnT>
                    <a:lnB w="9525">
                      <a:solidFill>
                        <a:schemeClr val="tx1"/>
                      </a:solidFill>
                      <a:prstDash val="solid"/>
                    </a:lnB>
                    <a:solidFill>
                      <a:srgbClr val="FBD4B5"/>
                    </a:solidFill>
                  </a:tcPr>
                </a:tc>
                <a:tc gridSpan="2">
                  <a:txBody>
                    <a:bodyPr/>
                    <a:lstStyle/>
                    <a:p>
                      <a:pPr lvl="0" algn="ctr">
                        <a:lnSpc>
                          <a:spcPct val="100000"/>
                        </a:lnSpc>
                        <a:buNone/>
                      </a:pPr>
                      <a:endParaRPr lang="en-US" sz="1400" b="0" i="0" u="none" strike="noStrike" noProof="0" dirty="0"/>
                    </a:p>
                  </a:txBody>
                  <a:tcPr marL="0" marR="0" marT="0" marB="0">
                    <a:lnL w="9525">
                      <a:solidFill>
                        <a:schemeClr val="tx1"/>
                      </a:solidFill>
                      <a:prstDash val="solid"/>
                    </a:lnL>
                    <a:lnT w="9525">
                      <a:solidFill>
                        <a:schemeClr val="tx1"/>
                      </a:solidFill>
                      <a:prstDash val="solid"/>
                    </a:lnT>
                    <a:lnB w="9525">
                      <a:solidFill>
                        <a:schemeClr val="tx1"/>
                      </a:solidFill>
                      <a:prstDash val="solid"/>
                    </a:lnB>
                    <a:solidFill>
                      <a:srgbClr val="FBD4B5"/>
                    </a:solidFill>
                  </a:tcPr>
                </a:tc>
                <a:tc hMerge="1">
                  <a:txBody>
                    <a:bodyPr/>
                    <a:lstStyle/>
                    <a:p>
                      <a:endParaRPr/>
                    </a:p>
                  </a:txBody>
                  <a:tcPr marL="0" marR="0" marT="0" marB="0"/>
                </a:tc>
                <a:extLst>
                  <a:ext uri="{0D108BD9-81ED-4DB2-BD59-A6C34878D82A}">
                    <a16:rowId xmlns:a16="http://schemas.microsoft.com/office/drawing/2014/main" val="10000"/>
                  </a:ext>
                </a:extLst>
              </a:tr>
              <a:tr h="251760">
                <a:tc>
                  <a:txBody>
                    <a:bodyPr/>
                    <a:lstStyle/>
                    <a:p>
                      <a:pPr marL="91440">
                        <a:lnSpc>
                          <a:spcPct val="100000"/>
                        </a:lnSpc>
                        <a:spcBef>
                          <a:spcPts val="315"/>
                        </a:spcBef>
                      </a:pPr>
                      <a:r>
                        <a:rPr sz="1400" b="1" spc="-10" dirty="0">
                          <a:latin typeface="Arial"/>
                          <a:cs typeface="Arial"/>
                        </a:rPr>
                        <a:t>Scenario:</a:t>
                      </a:r>
                      <a:endParaRPr sz="1400">
                        <a:latin typeface="Arial"/>
                        <a:cs typeface="Arial"/>
                      </a:endParaRPr>
                    </a:p>
                  </a:txBody>
                  <a:tcPr marL="0" marR="0" marT="40005" marB="0">
                    <a:lnL w="9525">
                      <a:solidFill>
                        <a:schemeClr val="tx1"/>
                      </a:solidFill>
                      <a:prstDash val="solid"/>
                    </a:lnL>
                    <a:lnR w="9525">
                      <a:solidFill>
                        <a:schemeClr val="tx1"/>
                      </a:solidFill>
                      <a:prstDash val="solid"/>
                    </a:lnR>
                    <a:lnT w="9525">
                      <a:solidFill>
                        <a:schemeClr val="tx1"/>
                      </a:solidFill>
                      <a:prstDash val="solid"/>
                    </a:lnT>
                    <a:lnB w="9525">
                      <a:solidFill>
                        <a:schemeClr val="tx1"/>
                      </a:solidFill>
                      <a:prstDash val="solid"/>
                    </a:lnB>
                    <a:solidFill>
                      <a:srgbClr val="FBD4B5"/>
                    </a:solidFill>
                  </a:tcPr>
                </a:tc>
                <a:tc gridSpan="2">
                  <a:txBody>
                    <a:bodyPr/>
                    <a:lstStyle/>
                    <a:p>
                      <a:pPr lvl="0" algn="ctr">
                        <a:lnSpc>
                          <a:spcPct val="100000"/>
                        </a:lnSpc>
                        <a:buNone/>
                      </a:pPr>
                      <a:endParaRPr sz="1400" b="0" i="0" u="none" strike="noStrike" noProof="0" dirty="0"/>
                    </a:p>
                  </a:txBody>
                  <a:tcPr marL="0" marR="0" marT="0" marB="0">
                    <a:lnL w="9525">
                      <a:solidFill>
                        <a:schemeClr val="tx1"/>
                      </a:solidFill>
                      <a:prstDash val="solid"/>
                    </a:lnL>
                    <a:lnT w="9525">
                      <a:solidFill>
                        <a:schemeClr val="tx1"/>
                      </a:solidFill>
                      <a:prstDash val="solid"/>
                    </a:lnT>
                    <a:lnB w="9525">
                      <a:solidFill>
                        <a:schemeClr val="tx1"/>
                      </a:solidFill>
                      <a:prstDash val="solid"/>
                    </a:lnB>
                    <a:solidFill>
                      <a:srgbClr val="FBD4B5"/>
                    </a:solidFill>
                  </a:tcPr>
                </a:tc>
                <a:tc hMerge="1">
                  <a:txBody>
                    <a:bodyPr/>
                    <a:lstStyle/>
                    <a:p>
                      <a:endParaRPr/>
                    </a:p>
                  </a:txBody>
                  <a:tcPr marL="0" marR="0" marT="0" marB="0"/>
                </a:tc>
                <a:extLst>
                  <a:ext uri="{0D108BD9-81ED-4DB2-BD59-A6C34878D82A}">
                    <a16:rowId xmlns:a16="http://schemas.microsoft.com/office/drawing/2014/main" val="10001"/>
                  </a:ext>
                </a:extLst>
              </a:tr>
              <a:tr h="482542">
                <a:tc>
                  <a:txBody>
                    <a:bodyPr/>
                    <a:lstStyle/>
                    <a:p>
                      <a:pPr marL="91440">
                        <a:lnSpc>
                          <a:spcPct val="100000"/>
                        </a:lnSpc>
                        <a:spcBef>
                          <a:spcPts val="310"/>
                        </a:spcBef>
                      </a:pPr>
                      <a:r>
                        <a:rPr sz="1400" b="1" spc="-10" dirty="0">
                          <a:latin typeface="Arial"/>
                          <a:cs typeface="Arial"/>
                        </a:rPr>
                        <a:t>Triggering</a:t>
                      </a:r>
                      <a:r>
                        <a:rPr sz="1400" b="1" spc="-30" dirty="0">
                          <a:latin typeface="Arial"/>
                          <a:cs typeface="Arial"/>
                        </a:rPr>
                        <a:t> </a:t>
                      </a:r>
                      <a:r>
                        <a:rPr sz="1400" b="1" spc="-10" dirty="0">
                          <a:latin typeface="Arial"/>
                          <a:cs typeface="Arial"/>
                        </a:rPr>
                        <a:t>event:</a:t>
                      </a:r>
                      <a:endParaRPr sz="1400">
                        <a:latin typeface="Arial"/>
                        <a:cs typeface="Arial"/>
                      </a:endParaRPr>
                    </a:p>
                  </a:txBody>
                  <a:tcPr marL="0" marR="0" marT="39370" marB="0">
                    <a:lnL w="9525">
                      <a:solidFill>
                        <a:schemeClr val="tx1"/>
                      </a:solidFill>
                      <a:prstDash val="solid"/>
                    </a:lnL>
                    <a:lnR w="9525">
                      <a:solidFill>
                        <a:schemeClr val="tx1"/>
                      </a:solidFill>
                      <a:prstDash val="solid"/>
                    </a:lnR>
                    <a:lnT w="9525">
                      <a:solidFill>
                        <a:schemeClr val="tx1"/>
                      </a:solidFill>
                      <a:prstDash val="solid"/>
                    </a:lnT>
                    <a:lnB w="9525">
                      <a:solidFill>
                        <a:schemeClr val="tx1"/>
                      </a:solidFill>
                      <a:prstDash val="solid"/>
                    </a:lnB>
                    <a:solidFill>
                      <a:srgbClr val="FBD4B5"/>
                    </a:solidFill>
                  </a:tcPr>
                </a:tc>
                <a:tc gridSpan="2">
                  <a:txBody>
                    <a:bodyPr/>
                    <a:lstStyle/>
                    <a:p>
                      <a:pPr lvl="0" algn="ctr">
                        <a:lnSpc>
                          <a:spcPct val="100000"/>
                        </a:lnSpc>
                        <a:buNone/>
                      </a:pPr>
                      <a:endParaRPr lang="en-US" sz="1400" b="0" i="0" u="none" strike="noStrike" noProof="0" dirty="0"/>
                    </a:p>
                  </a:txBody>
                  <a:tcPr marL="0" marR="0" marT="0" marB="0">
                    <a:lnL w="9525">
                      <a:solidFill>
                        <a:schemeClr val="tx1"/>
                      </a:solidFill>
                      <a:prstDash val="solid"/>
                    </a:lnL>
                    <a:lnT w="9525">
                      <a:solidFill>
                        <a:schemeClr val="tx1"/>
                      </a:solidFill>
                      <a:prstDash val="solid"/>
                    </a:lnT>
                    <a:lnB w="9525">
                      <a:solidFill>
                        <a:schemeClr val="tx1"/>
                      </a:solidFill>
                      <a:prstDash val="solid"/>
                    </a:lnB>
                    <a:solidFill>
                      <a:srgbClr val="FBD4B5"/>
                    </a:solidFill>
                  </a:tcPr>
                </a:tc>
                <a:tc hMerge="1">
                  <a:txBody>
                    <a:bodyPr/>
                    <a:lstStyle/>
                    <a:p>
                      <a:endParaRPr/>
                    </a:p>
                  </a:txBody>
                  <a:tcPr marL="0" marR="0" marT="0" marB="0"/>
                </a:tc>
                <a:extLst>
                  <a:ext uri="{0D108BD9-81ED-4DB2-BD59-A6C34878D82A}">
                    <a16:rowId xmlns:a16="http://schemas.microsoft.com/office/drawing/2014/main" val="10002"/>
                  </a:ext>
                </a:extLst>
              </a:tr>
              <a:tr h="734302">
                <a:tc>
                  <a:txBody>
                    <a:bodyPr/>
                    <a:lstStyle/>
                    <a:p>
                      <a:pPr marL="91440">
                        <a:lnSpc>
                          <a:spcPct val="100000"/>
                        </a:lnSpc>
                        <a:spcBef>
                          <a:spcPts val="310"/>
                        </a:spcBef>
                      </a:pPr>
                      <a:r>
                        <a:rPr sz="1400" b="1" dirty="0">
                          <a:latin typeface="Arial"/>
                          <a:cs typeface="Arial"/>
                        </a:rPr>
                        <a:t>Brief</a:t>
                      </a:r>
                      <a:r>
                        <a:rPr sz="1400" b="1" spc="-20" dirty="0">
                          <a:latin typeface="Arial"/>
                          <a:cs typeface="Arial"/>
                        </a:rPr>
                        <a:t> </a:t>
                      </a:r>
                      <a:r>
                        <a:rPr sz="1400" b="1" spc="-10" dirty="0">
                          <a:latin typeface="Arial"/>
                          <a:cs typeface="Arial"/>
                        </a:rPr>
                        <a:t>description:</a:t>
                      </a:r>
                      <a:endParaRPr sz="1400">
                        <a:latin typeface="Arial"/>
                        <a:cs typeface="Arial"/>
                      </a:endParaRPr>
                    </a:p>
                  </a:txBody>
                  <a:tcPr marL="0" marR="0" marT="39370" marB="0">
                    <a:lnL w="9525">
                      <a:solidFill>
                        <a:schemeClr val="tx1"/>
                      </a:solidFill>
                      <a:prstDash val="solid"/>
                    </a:lnL>
                    <a:lnR w="9525">
                      <a:solidFill>
                        <a:schemeClr val="tx1"/>
                      </a:solidFill>
                      <a:prstDash val="solid"/>
                    </a:lnR>
                    <a:lnT w="9525">
                      <a:solidFill>
                        <a:schemeClr val="tx1"/>
                      </a:solidFill>
                      <a:prstDash val="solid"/>
                    </a:lnT>
                    <a:lnB w="9525">
                      <a:solidFill>
                        <a:schemeClr val="tx1"/>
                      </a:solidFill>
                      <a:prstDash val="solid"/>
                    </a:lnB>
                    <a:solidFill>
                      <a:srgbClr val="FBD4B5"/>
                    </a:solidFill>
                  </a:tcPr>
                </a:tc>
                <a:tc gridSpan="2">
                  <a:txBody>
                    <a:bodyPr/>
                    <a:lstStyle/>
                    <a:p>
                      <a:pPr lvl="0" algn="ctr">
                        <a:lnSpc>
                          <a:spcPct val="100000"/>
                        </a:lnSpc>
                        <a:buNone/>
                      </a:pPr>
                      <a:endParaRPr lang="en-US" sz="1400" b="0" i="0" u="none" strike="noStrike" noProof="0" dirty="0"/>
                    </a:p>
                  </a:txBody>
                  <a:tcPr marL="0" marR="0" marT="0" marB="0">
                    <a:lnL w="9525">
                      <a:solidFill>
                        <a:schemeClr val="tx1"/>
                      </a:solidFill>
                      <a:prstDash val="solid"/>
                    </a:lnL>
                    <a:lnT w="9525">
                      <a:solidFill>
                        <a:schemeClr val="tx1"/>
                      </a:solidFill>
                      <a:prstDash val="solid"/>
                    </a:lnT>
                    <a:lnB w="9525">
                      <a:solidFill>
                        <a:schemeClr val="tx1"/>
                      </a:solidFill>
                      <a:prstDash val="solid"/>
                    </a:lnB>
                    <a:solidFill>
                      <a:srgbClr val="FBD4B5"/>
                    </a:solidFill>
                  </a:tcPr>
                </a:tc>
                <a:tc hMerge="1">
                  <a:txBody>
                    <a:bodyPr/>
                    <a:lstStyle/>
                    <a:p>
                      <a:endParaRPr/>
                    </a:p>
                  </a:txBody>
                  <a:tcPr marL="0" marR="0" marT="0" marB="0"/>
                </a:tc>
                <a:extLst>
                  <a:ext uri="{0D108BD9-81ED-4DB2-BD59-A6C34878D82A}">
                    <a16:rowId xmlns:a16="http://schemas.microsoft.com/office/drawing/2014/main" val="10003"/>
                  </a:ext>
                </a:extLst>
              </a:tr>
              <a:tr h="251760">
                <a:tc>
                  <a:txBody>
                    <a:bodyPr/>
                    <a:lstStyle/>
                    <a:p>
                      <a:pPr marL="91440">
                        <a:lnSpc>
                          <a:spcPct val="100000"/>
                        </a:lnSpc>
                        <a:spcBef>
                          <a:spcPts val="335"/>
                        </a:spcBef>
                      </a:pPr>
                      <a:r>
                        <a:rPr sz="1400" b="1" spc="-10" dirty="0">
                          <a:latin typeface="Arial"/>
                          <a:cs typeface="Arial"/>
                        </a:rPr>
                        <a:t>Actors:</a:t>
                      </a:r>
                      <a:endParaRPr sz="1400">
                        <a:latin typeface="Arial"/>
                        <a:cs typeface="Arial"/>
                      </a:endParaRPr>
                    </a:p>
                  </a:txBody>
                  <a:tcPr marL="0" marR="0" marT="42545" marB="0">
                    <a:lnL w="9525">
                      <a:solidFill>
                        <a:schemeClr val="tx1"/>
                      </a:solidFill>
                      <a:prstDash val="solid"/>
                    </a:lnL>
                    <a:lnR w="9525">
                      <a:solidFill>
                        <a:schemeClr val="tx1"/>
                      </a:solidFill>
                      <a:prstDash val="solid"/>
                    </a:lnR>
                    <a:lnT w="9525">
                      <a:solidFill>
                        <a:schemeClr val="tx1"/>
                      </a:solidFill>
                      <a:prstDash val="solid"/>
                    </a:lnT>
                    <a:lnB w="9525">
                      <a:solidFill>
                        <a:schemeClr val="tx1"/>
                      </a:solidFill>
                      <a:prstDash val="solid"/>
                    </a:lnB>
                    <a:solidFill>
                      <a:srgbClr val="FBD4B5"/>
                    </a:solidFill>
                  </a:tcPr>
                </a:tc>
                <a:tc gridSpan="2">
                  <a:txBody>
                    <a:bodyPr/>
                    <a:lstStyle/>
                    <a:p>
                      <a:pPr lvl="0" algn="ctr">
                        <a:lnSpc>
                          <a:spcPct val="100000"/>
                        </a:lnSpc>
                        <a:buNone/>
                      </a:pPr>
                      <a:endParaRPr lang="en-US" sz="1400" b="0" i="0" u="none" strike="noStrike" noProof="0" dirty="0"/>
                    </a:p>
                  </a:txBody>
                  <a:tcPr marL="0" marR="0" marT="0" marB="0">
                    <a:lnL w="9525">
                      <a:solidFill>
                        <a:schemeClr val="tx1"/>
                      </a:solidFill>
                      <a:prstDash val="solid"/>
                    </a:lnL>
                    <a:lnT w="9525">
                      <a:solidFill>
                        <a:schemeClr val="tx1"/>
                      </a:solidFill>
                      <a:prstDash val="solid"/>
                    </a:lnT>
                    <a:lnB w="9525">
                      <a:solidFill>
                        <a:schemeClr val="tx1"/>
                      </a:solidFill>
                      <a:prstDash val="solid"/>
                    </a:lnB>
                    <a:solidFill>
                      <a:srgbClr val="FBD4B5"/>
                    </a:solidFill>
                  </a:tcPr>
                </a:tc>
                <a:tc hMerge="1">
                  <a:txBody>
                    <a:bodyPr/>
                    <a:lstStyle/>
                    <a:p>
                      <a:endParaRPr/>
                    </a:p>
                  </a:txBody>
                  <a:tcPr marL="0" marR="0" marT="0" marB="0"/>
                </a:tc>
                <a:extLst>
                  <a:ext uri="{0D108BD9-81ED-4DB2-BD59-A6C34878D82A}">
                    <a16:rowId xmlns:a16="http://schemas.microsoft.com/office/drawing/2014/main" val="10004"/>
                  </a:ext>
                </a:extLst>
              </a:tr>
              <a:tr h="482542">
                <a:tc>
                  <a:txBody>
                    <a:bodyPr/>
                    <a:lstStyle/>
                    <a:p>
                      <a:pPr marL="91440">
                        <a:lnSpc>
                          <a:spcPct val="100000"/>
                        </a:lnSpc>
                        <a:spcBef>
                          <a:spcPts val="310"/>
                        </a:spcBef>
                      </a:pPr>
                      <a:r>
                        <a:rPr sz="1400" b="1" dirty="0">
                          <a:latin typeface="Arial"/>
                          <a:cs typeface="Arial"/>
                        </a:rPr>
                        <a:t>Related</a:t>
                      </a:r>
                      <a:r>
                        <a:rPr sz="1400" b="1" spc="-30" dirty="0">
                          <a:latin typeface="Arial"/>
                          <a:cs typeface="Arial"/>
                        </a:rPr>
                        <a:t> </a:t>
                      </a:r>
                      <a:r>
                        <a:rPr sz="1400" b="1" dirty="0">
                          <a:latin typeface="Arial"/>
                          <a:cs typeface="Arial"/>
                        </a:rPr>
                        <a:t>use</a:t>
                      </a:r>
                      <a:r>
                        <a:rPr sz="1400" b="1" spc="-15" dirty="0">
                          <a:latin typeface="Arial"/>
                          <a:cs typeface="Arial"/>
                        </a:rPr>
                        <a:t> </a:t>
                      </a:r>
                      <a:r>
                        <a:rPr sz="1400" b="1" spc="-10" dirty="0">
                          <a:latin typeface="Arial"/>
                          <a:cs typeface="Arial"/>
                        </a:rPr>
                        <a:t>cases:</a:t>
                      </a:r>
                      <a:endParaRPr sz="1400">
                        <a:latin typeface="Arial"/>
                        <a:cs typeface="Arial"/>
                      </a:endParaRPr>
                    </a:p>
                  </a:txBody>
                  <a:tcPr marL="0" marR="0" marT="39370" marB="0">
                    <a:lnL w="9525">
                      <a:solidFill>
                        <a:schemeClr val="tx1"/>
                      </a:solidFill>
                      <a:prstDash val="solid"/>
                    </a:lnL>
                    <a:lnR w="9525">
                      <a:solidFill>
                        <a:schemeClr val="tx1"/>
                      </a:solidFill>
                      <a:prstDash val="solid"/>
                    </a:lnR>
                    <a:lnT w="9525">
                      <a:solidFill>
                        <a:schemeClr val="tx1"/>
                      </a:solidFill>
                      <a:prstDash val="solid"/>
                    </a:lnT>
                    <a:lnB w="9525">
                      <a:solidFill>
                        <a:schemeClr val="tx1"/>
                      </a:solidFill>
                      <a:prstDash val="solid"/>
                    </a:lnB>
                    <a:solidFill>
                      <a:srgbClr val="FBD4B5"/>
                    </a:solidFill>
                  </a:tcPr>
                </a:tc>
                <a:tc gridSpan="2">
                  <a:txBody>
                    <a:bodyPr/>
                    <a:lstStyle/>
                    <a:p>
                      <a:pPr lvl="0" algn="ctr">
                        <a:lnSpc>
                          <a:spcPct val="100000"/>
                        </a:lnSpc>
                        <a:buNone/>
                      </a:pPr>
                      <a:endParaRPr lang="en-US" sz="1400" b="0" i="0" u="none" strike="noStrike" noProof="0" dirty="0"/>
                    </a:p>
                  </a:txBody>
                  <a:tcPr marL="0" marR="0" marT="0" marB="0">
                    <a:lnL w="9525">
                      <a:solidFill>
                        <a:schemeClr val="tx1"/>
                      </a:solidFill>
                      <a:prstDash val="solid"/>
                    </a:lnL>
                    <a:lnT w="9525">
                      <a:solidFill>
                        <a:schemeClr val="tx1"/>
                      </a:solidFill>
                      <a:prstDash val="solid"/>
                    </a:lnT>
                    <a:lnB w="9525">
                      <a:solidFill>
                        <a:schemeClr val="tx1"/>
                      </a:solidFill>
                      <a:prstDash val="solid"/>
                    </a:lnB>
                    <a:solidFill>
                      <a:srgbClr val="FBD4B5"/>
                    </a:solidFill>
                  </a:tcPr>
                </a:tc>
                <a:tc hMerge="1">
                  <a:txBody>
                    <a:bodyPr/>
                    <a:lstStyle/>
                    <a:p>
                      <a:endParaRPr/>
                    </a:p>
                  </a:txBody>
                  <a:tcPr marL="0" marR="0" marT="0" marB="0"/>
                </a:tc>
                <a:extLst>
                  <a:ext uri="{0D108BD9-81ED-4DB2-BD59-A6C34878D82A}">
                    <a16:rowId xmlns:a16="http://schemas.microsoft.com/office/drawing/2014/main" val="10005"/>
                  </a:ext>
                </a:extLst>
              </a:tr>
              <a:tr h="723812">
                <a:tc>
                  <a:txBody>
                    <a:bodyPr/>
                    <a:lstStyle/>
                    <a:p>
                      <a:pPr marL="91440">
                        <a:lnSpc>
                          <a:spcPct val="100000"/>
                        </a:lnSpc>
                        <a:spcBef>
                          <a:spcPts val="310"/>
                        </a:spcBef>
                      </a:pPr>
                      <a:r>
                        <a:rPr sz="1400" b="1" spc="-10" dirty="0">
                          <a:latin typeface="Arial"/>
                          <a:cs typeface="Arial"/>
                        </a:rPr>
                        <a:t>Stakeholders:</a:t>
                      </a:r>
                      <a:endParaRPr sz="1400">
                        <a:latin typeface="Arial"/>
                        <a:cs typeface="Arial"/>
                      </a:endParaRPr>
                    </a:p>
                  </a:txBody>
                  <a:tcPr marL="0" marR="0" marT="39370" marB="0">
                    <a:lnL w="9525">
                      <a:solidFill>
                        <a:schemeClr val="tx1"/>
                      </a:solidFill>
                      <a:prstDash val="solid"/>
                    </a:lnL>
                    <a:lnR w="9525">
                      <a:solidFill>
                        <a:schemeClr val="tx1"/>
                      </a:solidFill>
                      <a:prstDash val="solid"/>
                    </a:lnR>
                    <a:lnT w="9525">
                      <a:solidFill>
                        <a:schemeClr val="tx1"/>
                      </a:solidFill>
                      <a:prstDash val="solid"/>
                    </a:lnT>
                    <a:lnB w="9525">
                      <a:solidFill>
                        <a:schemeClr val="tx1"/>
                      </a:solidFill>
                      <a:prstDash val="solid"/>
                    </a:lnB>
                    <a:solidFill>
                      <a:srgbClr val="FBD4B5"/>
                    </a:solidFill>
                  </a:tcPr>
                </a:tc>
                <a:tc gridSpan="2">
                  <a:txBody>
                    <a:bodyPr/>
                    <a:lstStyle/>
                    <a:p>
                      <a:pPr lvl="0" algn="ctr">
                        <a:lnSpc>
                          <a:spcPct val="100000"/>
                        </a:lnSpc>
                        <a:buNone/>
                      </a:pPr>
                      <a:endParaRPr lang="ar-SA" sz="1400" dirty="0">
                        <a:latin typeface="Times New Roman"/>
                        <a:cs typeface="Times New Roman"/>
                      </a:endParaRPr>
                    </a:p>
                  </a:txBody>
                  <a:tcPr marL="0" marR="0" marT="0" marB="0">
                    <a:lnL w="9525">
                      <a:solidFill>
                        <a:schemeClr val="tx1"/>
                      </a:solidFill>
                      <a:prstDash val="solid"/>
                    </a:lnL>
                    <a:lnT w="9525">
                      <a:solidFill>
                        <a:schemeClr val="tx1"/>
                      </a:solidFill>
                      <a:prstDash val="solid"/>
                    </a:lnT>
                    <a:lnB w="9525">
                      <a:solidFill>
                        <a:schemeClr val="tx1"/>
                      </a:solidFill>
                      <a:prstDash val="solid"/>
                    </a:lnB>
                    <a:solidFill>
                      <a:srgbClr val="FBD4B5"/>
                    </a:solidFill>
                  </a:tcPr>
                </a:tc>
                <a:tc hMerge="1">
                  <a:txBody>
                    <a:bodyPr/>
                    <a:lstStyle/>
                    <a:p>
                      <a:endParaRPr/>
                    </a:p>
                  </a:txBody>
                  <a:tcPr marL="0" marR="0" marT="0" marB="0"/>
                </a:tc>
                <a:extLst>
                  <a:ext uri="{0D108BD9-81ED-4DB2-BD59-A6C34878D82A}">
                    <a16:rowId xmlns:a16="http://schemas.microsoft.com/office/drawing/2014/main" val="10006"/>
                  </a:ext>
                </a:extLst>
              </a:tr>
              <a:tr h="965084">
                <a:tc>
                  <a:txBody>
                    <a:bodyPr/>
                    <a:lstStyle/>
                    <a:p>
                      <a:pPr marL="91440">
                        <a:lnSpc>
                          <a:spcPct val="100000"/>
                        </a:lnSpc>
                        <a:spcBef>
                          <a:spcPts val="310"/>
                        </a:spcBef>
                      </a:pPr>
                      <a:r>
                        <a:rPr sz="1400" b="1" spc="-10" dirty="0">
                          <a:latin typeface="Arial"/>
                          <a:cs typeface="Arial"/>
                        </a:rPr>
                        <a:t>Preconditions:</a:t>
                      </a:r>
                      <a:endParaRPr sz="1400">
                        <a:latin typeface="Arial"/>
                        <a:cs typeface="Arial"/>
                      </a:endParaRPr>
                    </a:p>
                  </a:txBody>
                  <a:tcPr marL="0" marR="0" marT="39370" marB="0">
                    <a:lnL w="9525">
                      <a:solidFill>
                        <a:schemeClr val="tx1"/>
                      </a:solidFill>
                      <a:prstDash val="solid"/>
                    </a:lnL>
                    <a:lnR w="9525">
                      <a:solidFill>
                        <a:schemeClr val="tx1"/>
                      </a:solidFill>
                      <a:prstDash val="solid"/>
                    </a:lnR>
                    <a:lnT w="9525">
                      <a:solidFill>
                        <a:schemeClr val="tx1"/>
                      </a:solidFill>
                      <a:prstDash val="solid"/>
                    </a:lnT>
                    <a:lnB w="9525">
                      <a:solidFill>
                        <a:schemeClr val="tx1"/>
                      </a:solidFill>
                      <a:prstDash val="solid"/>
                    </a:lnB>
                    <a:solidFill>
                      <a:srgbClr val="FBD4B5"/>
                    </a:solidFill>
                  </a:tcPr>
                </a:tc>
                <a:tc gridSpan="2">
                  <a:txBody>
                    <a:bodyPr/>
                    <a:lstStyle/>
                    <a:p>
                      <a:pPr lvl="0" algn="ctr">
                        <a:lnSpc>
                          <a:spcPct val="100000"/>
                        </a:lnSpc>
                        <a:buNone/>
                      </a:pPr>
                      <a:endParaRPr lang="ar-SA" sz="1400" dirty="0">
                        <a:latin typeface="Times New Roman"/>
                        <a:cs typeface="Times New Roman"/>
                      </a:endParaRPr>
                    </a:p>
                  </a:txBody>
                  <a:tcPr marL="0" marR="0" marT="0" marB="0">
                    <a:lnL w="9525">
                      <a:solidFill>
                        <a:schemeClr val="tx1"/>
                      </a:solidFill>
                      <a:prstDash val="solid"/>
                    </a:lnL>
                    <a:lnT w="9525">
                      <a:solidFill>
                        <a:schemeClr val="tx1"/>
                      </a:solidFill>
                      <a:prstDash val="solid"/>
                    </a:lnT>
                    <a:lnB w="9525">
                      <a:solidFill>
                        <a:schemeClr val="tx1"/>
                      </a:solidFill>
                      <a:prstDash val="solid"/>
                    </a:lnB>
                    <a:solidFill>
                      <a:srgbClr val="FBD4B5"/>
                    </a:solidFill>
                  </a:tcPr>
                </a:tc>
                <a:tc hMerge="1">
                  <a:txBody>
                    <a:bodyPr/>
                    <a:lstStyle/>
                    <a:p>
                      <a:endParaRPr/>
                    </a:p>
                  </a:txBody>
                  <a:tcPr marL="0" marR="0" marT="0" marB="0"/>
                </a:tc>
                <a:extLst>
                  <a:ext uri="{0D108BD9-81ED-4DB2-BD59-A6C34878D82A}">
                    <a16:rowId xmlns:a16="http://schemas.microsoft.com/office/drawing/2014/main" val="10007"/>
                  </a:ext>
                </a:extLst>
              </a:tr>
              <a:tr h="1206352">
                <a:tc>
                  <a:txBody>
                    <a:bodyPr/>
                    <a:lstStyle/>
                    <a:p>
                      <a:pPr marL="91440">
                        <a:lnSpc>
                          <a:spcPct val="100000"/>
                        </a:lnSpc>
                        <a:spcBef>
                          <a:spcPts val="310"/>
                        </a:spcBef>
                      </a:pPr>
                      <a:r>
                        <a:rPr sz="1400" b="1" spc="-10" dirty="0">
                          <a:latin typeface="Arial"/>
                          <a:cs typeface="Arial"/>
                        </a:rPr>
                        <a:t>Postconditions:</a:t>
                      </a:r>
                      <a:endParaRPr sz="1400">
                        <a:latin typeface="Arial"/>
                        <a:cs typeface="Arial"/>
                      </a:endParaRPr>
                    </a:p>
                  </a:txBody>
                  <a:tcPr marL="0" marR="0" marT="39370" marB="0">
                    <a:lnL w="9525">
                      <a:solidFill>
                        <a:schemeClr val="tx1"/>
                      </a:solidFill>
                      <a:prstDash val="solid"/>
                    </a:lnL>
                    <a:lnR w="9525">
                      <a:solidFill>
                        <a:schemeClr val="tx1"/>
                      </a:solidFill>
                      <a:prstDash val="solid"/>
                    </a:lnR>
                    <a:lnT w="9525">
                      <a:solidFill>
                        <a:schemeClr val="tx1"/>
                      </a:solidFill>
                      <a:prstDash val="solid"/>
                    </a:lnT>
                    <a:lnB w="9525">
                      <a:solidFill>
                        <a:schemeClr val="tx1"/>
                      </a:solidFill>
                      <a:prstDash val="solid"/>
                    </a:lnB>
                    <a:solidFill>
                      <a:srgbClr val="FBD4B5"/>
                    </a:solidFill>
                  </a:tcPr>
                </a:tc>
                <a:tc gridSpan="2">
                  <a:txBody>
                    <a:bodyPr/>
                    <a:lstStyle/>
                    <a:p>
                      <a:pPr lvl="0" algn="ctr">
                        <a:lnSpc>
                          <a:spcPct val="100000"/>
                        </a:lnSpc>
                        <a:buNone/>
                      </a:pPr>
                      <a:endParaRPr lang="ar-SA" sz="1400" dirty="0">
                        <a:latin typeface="Times New Roman"/>
                        <a:cs typeface="Times New Roman"/>
                      </a:endParaRPr>
                    </a:p>
                  </a:txBody>
                  <a:tcPr marL="0" marR="0" marT="0" marB="0">
                    <a:lnL w="9525">
                      <a:solidFill>
                        <a:schemeClr val="tx1"/>
                      </a:solidFill>
                      <a:prstDash val="solid"/>
                    </a:lnL>
                    <a:lnT w="9525">
                      <a:solidFill>
                        <a:schemeClr val="tx1"/>
                      </a:solidFill>
                      <a:prstDash val="solid"/>
                    </a:lnT>
                    <a:lnB w="9525">
                      <a:solidFill>
                        <a:schemeClr val="tx1"/>
                      </a:solidFill>
                      <a:prstDash val="solid"/>
                    </a:lnB>
                    <a:solidFill>
                      <a:srgbClr val="FBD4B5"/>
                    </a:solidFill>
                  </a:tcPr>
                </a:tc>
                <a:tc hMerge="1">
                  <a:txBody>
                    <a:bodyPr/>
                    <a:lstStyle/>
                    <a:p>
                      <a:endParaRPr/>
                    </a:p>
                  </a:txBody>
                  <a:tcPr marL="0" marR="0" marT="0" marB="0"/>
                </a:tc>
                <a:extLst>
                  <a:ext uri="{0D108BD9-81ED-4DB2-BD59-A6C34878D82A}">
                    <a16:rowId xmlns:a16="http://schemas.microsoft.com/office/drawing/2014/main" val="10008"/>
                  </a:ext>
                </a:extLst>
              </a:tr>
              <a:tr h="230780">
                <a:tc rowSpan="2">
                  <a:txBody>
                    <a:bodyPr/>
                    <a:lstStyle/>
                    <a:p>
                      <a:pPr marL="91440">
                        <a:lnSpc>
                          <a:spcPct val="100000"/>
                        </a:lnSpc>
                        <a:spcBef>
                          <a:spcPts val="310"/>
                        </a:spcBef>
                      </a:pPr>
                      <a:r>
                        <a:rPr sz="1400" b="1" dirty="0">
                          <a:latin typeface="Arial"/>
                          <a:cs typeface="Arial"/>
                        </a:rPr>
                        <a:t>Flow</a:t>
                      </a:r>
                      <a:r>
                        <a:rPr sz="1400" b="1" spc="-30" dirty="0">
                          <a:latin typeface="Arial"/>
                          <a:cs typeface="Arial"/>
                        </a:rPr>
                        <a:t> </a:t>
                      </a:r>
                      <a:r>
                        <a:rPr sz="1400" b="1" dirty="0">
                          <a:latin typeface="Arial"/>
                          <a:cs typeface="Arial"/>
                        </a:rPr>
                        <a:t>of</a:t>
                      </a:r>
                      <a:r>
                        <a:rPr sz="1400" b="1" spc="-5" dirty="0">
                          <a:latin typeface="Arial"/>
                          <a:cs typeface="Arial"/>
                        </a:rPr>
                        <a:t> </a:t>
                      </a:r>
                      <a:r>
                        <a:rPr sz="1400" b="1" spc="-10" dirty="0">
                          <a:latin typeface="Arial"/>
                          <a:cs typeface="Arial"/>
                        </a:rPr>
                        <a:t>activities:</a:t>
                      </a:r>
                      <a:endParaRPr sz="1400">
                        <a:latin typeface="Arial"/>
                        <a:cs typeface="Arial"/>
                      </a:endParaRPr>
                    </a:p>
                  </a:txBody>
                  <a:tcPr marL="0" marR="0" marT="39370" marB="0">
                    <a:lnL w="9525">
                      <a:solidFill>
                        <a:schemeClr val="tx1"/>
                      </a:solidFill>
                      <a:prstDash val="solid"/>
                    </a:lnL>
                    <a:lnR w="9525">
                      <a:solidFill>
                        <a:schemeClr val="tx1"/>
                      </a:solidFill>
                      <a:prstDash val="solid"/>
                    </a:lnR>
                    <a:lnT w="9525">
                      <a:solidFill>
                        <a:schemeClr val="tx1"/>
                      </a:solidFill>
                      <a:prstDash val="solid"/>
                    </a:lnT>
                    <a:lnB w="9525">
                      <a:solidFill>
                        <a:schemeClr val="tx1"/>
                      </a:solidFill>
                      <a:prstDash val="solid"/>
                    </a:lnB>
                    <a:solidFill>
                      <a:srgbClr val="FBD4B5"/>
                    </a:solidFill>
                  </a:tcPr>
                </a:tc>
                <a:tc>
                  <a:txBody>
                    <a:bodyPr/>
                    <a:lstStyle/>
                    <a:p>
                      <a:pPr marL="90805">
                        <a:lnSpc>
                          <a:spcPct val="100000"/>
                        </a:lnSpc>
                        <a:spcBef>
                          <a:spcPts val="310"/>
                        </a:spcBef>
                      </a:pPr>
                      <a:r>
                        <a:rPr sz="1400" b="1" spc="-10" dirty="0">
                          <a:latin typeface="Arial"/>
                          <a:cs typeface="Arial"/>
                        </a:rPr>
                        <a:t>Actor</a:t>
                      </a:r>
                      <a:endParaRPr sz="1400">
                        <a:latin typeface="Arial"/>
                        <a:cs typeface="Arial"/>
                      </a:endParaRPr>
                    </a:p>
                  </a:txBody>
                  <a:tcPr marL="0" marR="0" marT="39370" marB="0">
                    <a:lnL w="9525">
                      <a:solidFill>
                        <a:schemeClr val="tx1"/>
                      </a:solidFill>
                      <a:prstDash val="solid"/>
                    </a:lnL>
                    <a:lnR w="9525">
                      <a:solidFill>
                        <a:schemeClr val="tx1"/>
                      </a:solidFill>
                      <a:prstDash val="solid"/>
                    </a:lnR>
                    <a:lnT w="9525">
                      <a:solidFill>
                        <a:schemeClr val="tx1"/>
                      </a:solidFill>
                      <a:prstDash val="solid"/>
                    </a:lnT>
                    <a:lnB w="9525">
                      <a:solidFill>
                        <a:schemeClr val="tx1"/>
                      </a:solidFill>
                      <a:prstDash val="solid"/>
                    </a:lnB>
                    <a:solidFill>
                      <a:srgbClr val="FBD4B5"/>
                    </a:solidFill>
                  </a:tcPr>
                </a:tc>
                <a:tc>
                  <a:txBody>
                    <a:bodyPr/>
                    <a:lstStyle/>
                    <a:p>
                      <a:pPr marL="91440">
                        <a:lnSpc>
                          <a:spcPct val="100000"/>
                        </a:lnSpc>
                        <a:spcBef>
                          <a:spcPts val="310"/>
                        </a:spcBef>
                      </a:pPr>
                      <a:r>
                        <a:rPr sz="1400" b="1" spc="-10" dirty="0">
                          <a:latin typeface="Arial"/>
                          <a:cs typeface="Arial"/>
                        </a:rPr>
                        <a:t>System</a:t>
                      </a:r>
                      <a:endParaRPr sz="1400">
                        <a:latin typeface="Arial"/>
                        <a:cs typeface="Arial"/>
                      </a:endParaRPr>
                    </a:p>
                  </a:txBody>
                  <a:tcPr marL="0" marR="0" marT="39370" marB="0">
                    <a:lnL w="9525">
                      <a:solidFill>
                        <a:schemeClr val="tx1"/>
                      </a:solidFill>
                      <a:prstDash val="solid"/>
                    </a:lnL>
                    <a:lnT w="9525">
                      <a:solidFill>
                        <a:schemeClr val="tx1"/>
                      </a:solidFill>
                      <a:prstDash val="solid"/>
                    </a:lnT>
                    <a:lnB w="9525">
                      <a:solidFill>
                        <a:schemeClr val="tx1"/>
                      </a:solidFill>
                      <a:prstDash val="solid"/>
                    </a:lnB>
                    <a:solidFill>
                      <a:srgbClr val="FBD4B5"/>
                    </a:solidFill>
                  </a:tcPr>
                </a:tc>
                <a:extLst>
                  <a:ext uri="{0D108BD9-81ED-4DB2-BD59-A6C34878D82A}">
                    <a16:rowId xmlns:a16="http://schemas.microsoft.com/office/drawing/2014/main" val="10009"/>
                  </a:ext>
                </a:extLst>
              </a:tr>
              <a:tr h="3084069">
                <a:tc vMerge="1">
                  <a:txBody>
                    <a:bodyPr/>
                    <a:lstStyle/>
                    <a:p>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BD4B5"/>
                    </a:solidFill>
                  </a:tcPr>
                </a:tc>
                <a:tc>
                  <a:txBody>
                    <a:bodyPr/>
                    <a:lstStyle/>
                    <a:p>
                      <a:pPr lvl="0" algn="ctr">
                        <a:lnSpc>
                          <a:spcPct val="100000"/>
                        </a:lnSpc>
                        <a:spcBef>
                          <a:spcPts val="0"/>
                        </a:spcBef>
                        <a:spcAft>
                          <a:spcPts val="0"/>
                        </a:spcAft>
                        <a:buNone/>
                      </a:pPr>
                      <a:endParaRPr lang="en-US" sz="1400" b="0" i="0" u="none" strike="noStrike" noProof="0" dirty="0"/>
                    </a:p>
                  </a:txBody>
                  <a:tcPr marL="0" marR="0" marT="0" marB="0">
                    <a:lnL w="9525">
                      <a:solidFill>
                        <a:schemeClr val="tx1"/>
                      </a:solidFill>
                      <a:prstDash val="solid"/>
                    </a:lnL>
                    <a:lnR w="9525">
                      <a:solidFill>
                        <a:schemeClr val="tx1"/>
                      </a:solidFill>
                      <a:prstDash val="solid"/>
                    </a:lnR>
                    <a:lnT w="9525">
                      <a:solidFill>
                        <a:schemeClr val="tx1"/>
                      </a:solidFill>
                      <a:prstDash val="solid"/>
                    </a:lnT>
                    <a:lnB w="9525">
                      <a:solidFill>
                        <a:schemeClr val="tx1"/>
                      </a:solidFill>
                      <a:prstDash val="solid"/>
                    </a:lnB>
                    <a:solidFill>
                      <a:srgbClr val="FBD4B5"/>
                    </a:solidFill>
                  </a:tcPr>
                </a:tc>
                <a:tc>
                  <a:txBody>
                    <a:bodyPr/>
                    <a:lstStyle/>
                    <a:p>
                      <a:pPr lvl="0" algn="ctr">
                        <a:lnSpc>
                          <a:spcPct val="100000"/>
                        </a:lnSpc>
                        <a:spcBef>
                          <a:spcPts val="0"/>
                        </a:spcBef>
                        <a:spcAft>
                          <a:spcPts val="0"/>
                        </a:spcAft>
                        <a:buNone/>
                      </a:pPr>
                      <a:endParaRPr lang="en-US" sz="1400" b="0" i="0" u="none" strike="noStrike" noProof="0" dirty="0"/>
                    </a:p>
                  </a:txBody>
                  <a:tcPr marL="0" marR="0" marT="0" marB="0">
                    <a:lnL w="9525">
                      <a:solidFill>
                        <a:schemeClr val="tx1"/>
                      </a:solidFill>
                      <a:prstDash val="solid"/>
                    </a:lnL>
                    <a:lnT w="9525">
                      <a:solidFill>
                        <a:schemeClr val="tx1"/>
                      </a:solidFill>
                      <a:prstDash val="solid"/>
                    </a:lnT>
                    <a:lnB w="9525">
                      <a:solidFill>
                        <a:schemeClr val="tx1"/>
                      </a:solidFill>
                      <a:prstDash val="solid"/>
                    </a:lnB>
                    <a:solidFill>
                      <a:srgbClr val="FBD4B5"/>
                    </a:solidFill>
                  </a:tcPr>
                </a:tc>
                <a:extLst>
                  <a:ext uri="{0D108BD9-81ED-4DB2-BD59-A6C34878D82A}">
                    <a16:rowId xmlns:a16="http://schemas.microsoft.com/office/drawing/2014/main" val="10010"/>
                  </a:ext>
                </a:extLst>
              </a:tr>
              <a:tr h="1206352">
                <a:tc>
                  <a:txBody>
                    <a:bodyPr/>
                    <a:lstStyle/>
                    <a:p>
                      <a:pPr marL="91440">
                        <a:lnSpc>
                          <a:spcPct val="100000"/>
                        </a:lnSpc>
                        <a:spcBef>
                          <a:spcPts val="335"/>
                        </a:spcBef>
                      </a:pPr>
                      <a:r>
                        <a:rPr sz="1400" b="1" dirty="0">
                          <a:latin typeface="Arial"/>
                          <a:cs typeface="Arial"/>
                        </a:rPr>
                        <a:t>Exception</a:t>
                      </a:r>
                      <a:r>
                        <a:rPr sz="1400" b="1" spc="-70" dirty="0">
                          <a:latin typeface="Arial"/>
                          <a:cs typeface="Arial"/>
                        </a:rPr>
                        <a:t> </a:t>
                      </a:r>
                      <a:r>
                        <a:rPr sz="1400" b="1" spc="-10" dirty="0">
                          <a:latin typeface="Arial"/>
                          <a:cs typeface="Arial"/>
                        </a:rPr>
                        <a:t>conditions:</a:t>
                      </a:r>
                      <a:endParaRPr sz="1400">
                        <a:latin typeface="Arial"/>
                        <a:cs typeface="Arial"/>
                      </a:endParaRPr>
                    </a:p>
                  </a:txBody>
                  <a:tcPr marL="0" marR="0" marT="42545" marB="0">
                    <a:lnL w="9525">
                      <a:solidFill>
                        <a:schemeClr val="tx1"/>
                      </a:solidFill>
                      <a:prstDash val="solid"/>
                    </a:lnL>
                    <a:lnR w="9525">
                      <a:solidFill>
                        <a:schemeClr val="tx1"/>
                      </a:solidFill>
                      <a:prstDash val="solid"/>
                    </a:lnR>
                    <a:lnT w="9525">
                      <a:solidFill>
                        <a:schemeClr val="tx1"/>
                      </a:solidFill>
                      <a:prstDash val="solid"/>
                    </a:lnT>
                    <a:lnB w="9525">
                      <a:solidFill>
                        <a:schemeClr val="tx1"/>
                      </a:solidFill>
                      <a:prstDash val="solid"/>
                    </a:lnB>
                    <a:solidFill>
                      <a:srgbClr val="FBD4B5"/>
                    </a:solidFill>
                  </a:tcPr>
                </a:tc>
                <a:tc gridSpan="2">
                  <a:txBody>
                    <a:bodyPr/>
                    <a:lstStyle/>
                    <a:p>
                      <a:pPr lvl="0" algn="ctr">
                        <a:lnSpc>
                          <a:spcPct val="100000"/>
                        </a:lnSpc>
                        <a:spcBef>
                          <a:spcPts val="0"/>
                        </a:spcBef>
                        <a:spcAft>
                          <a:spcPts val="0"/>
                        </a:spcAft>
                        <a:buNone/>
                      </a:pPr>
                      <a:endParaRPr lang="en-US" sz="1400" b="0" i="0" u="none" strike="noStrike" noProof="0" dirty="0"/>
                    </a:p>
                  </a:txBody>
                  <a:tcPr marL="0" marR="0" marT="0" marB="0">
                    <a:lnL w="9525">
                      <a:solidFill>
                        <a:schemeClr val="tx1"/>
                      </a:solidFill>
                      <a:prstDash val="solid"/>
                    </a:lnL>
                    <a:lnT w="9525">
                      <a:solidFill>
                        <a:schemeClr val="tx1"/>
                      </a:solidFill>
                      <a:prstDash val="solid"/>
                    </a:lnT>
                    <a:lnB w="9525">
                      <a:solidFill>
                        <a:schemeClr val="tx1"/>
                      </a:solidFill>
                      <a:prstDash val="solid"/>
                    </a:lnB>
                    <a:solidFill>
                      <a:srgbClr val="FBD4B5"/>
                    </a:solidFill>
                  </a:tcPr>
                </a:tc>
                <a:tc hMerge="1">
                  <a:txBody>
                    <a:bodyPr/>
                    <a:lstStyle/>
                    <a:p>
                      <a:endParaRPr/>
                    </a:p>
                  </a:txBody>
                  <a:tcPr marL="0" marR="0" marT="0" marB="0"/>
                </a:tc>
                <a:extLst>
                  <a:ext uri="{0D108BD9-81ED-4DB2-BD59-A6C34878D82A}">
                    <a16:rowId xmlns:a16="http://schemas.microsoft.com/office/drawing/2014/main" val="1001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772400" cy="100583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0" name="Rectangle 9">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353" y="487445"/>
            <a:ext cx="6703695" cy="908350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3" name="جدول 2">
            <a:extLst>
              <a:ext uri="{FF2B5EF4-FFF2-40B4-BE49-F238E27FC236}">
                <a16:creationId xmlns:a16="http://schemas.microsoft.com/office/drawing/2014/main" id="{1EADB7B9-014D-50ED-63E6-6F17A81B34AF}"/>
              </a:ext>
            </a:extLst>
          </p:cNvPr>
          <p:cNvGraphicFramePr>
            <a:graphicFrameLocks noGrp="1"/>
          </p:cNvGraphicFramePr>
          <p:nvPr/>
        </p:nvGraphicFramePr>
        <p:xfrm>
          <a:off x="1004341" y="653366"/>
          <a:ext cx="5778677" cy="8751671"/>
        </p:xfrm>
        <a:graphic>
          <a:graphicData uri="http://schemas.openxmlformats.org/drawingml/2006/table">
            <a:tbl>
              <a:tblPr bandRow="1">
                <a:noFill/>
                <a:tableStyleId>{5C22544A-7EE6-4342-B048-85BDC9FD1C3A}</a:tableStyleId>
              </a:tblPr>
              <a:tblGrid>
                <a:gridCol w="2272689">
                  <a:extLst>
                    <a:ext uri="{9D8B030D-6E8A-4147-A177-3AD203B41FA5}">
                      <a16:colId xmlns:a16="http://schemas.microsoft.com/office/drawing/2014/main" val="1437647036"/>
                    </a:ext>
                  </a:extLst>
                </a:gridCol>
                <a:gridCol w="3505988">
                  <a:extLst>
                    <a:ext uri="{9D8B030D-6E8A-4147-A177-3AD203B41FA5}">
                      <a16:colId xmlns:a16="http://schemas.microsoft.com/office/drawing/2014/main" val="1608988942"/>
                    </a:ext>
                  </a:extLst>
                </a:gridCol>
              </a:tblGrid>
              <a:tr h="201878">
                <a:tc>
                  <a:txBody>
                    <a:bodyPr/>
                    <a:lstStyle/>
                    <a:p>
                      <a:pPr rtl="0">
                        <a:buNone/>
                      </a:pPr>
                      <a:r>
                        <a:rPr lang="af-ZA" sz="700" b="1" cap="none" spc="0">
                          <a:solidFill>
                            <a:schemeClr val="tx1"/>
                          </a:solidFill>
                          <a:effectLst/>
                        </a:rPr>
                        <a:t>Field</a:t>
                      </a:r>
                      <a:endParaRPr lang="af-ZA" sz="700" cap="none" spc="0">
                        <a:solidFill>
                          <a:schemeClr val="tx1"/>
                        </a:solidFill>
                        <a:effectLst/>
                      </a:endParaRPr>
                    </a:p>
                  </a:txBody>
                  <a:tcPr marL="0" marR="68202" marT="16368" marB="54562" anchor="ctr">
                    <a:lnL w="12700" cmpd="sng">
                      <a:noFill/>
                      <a:prstDash val="solid"/>
                    </a:lnL>
                    <a:lnR w="12700" cmpd="sng">
                      <a:noFill/>
                      <a:prstDash val="solid"/>
                    </a:lnR>
                    <a:lnT w="9525" cap="flat" cmpd="sng" algn="ctr">
                      <a:solidFill>
                        <a:schemeClr val="tx1"/>
                      </a:solidFill>
                      <a:prstDash val="solid"/>
                    </a:lnT>
                    <a:lnB w="9525" cap="flat" cmpd="sng" algn="ctr">
                      <a:solidFill>
                        <a:schemeClr val="tx1"/>
                      </a:solidFill>
                      <a:prstDash val="solid"/>
                    </a:lnB>
                    <a:noFill/>
                  </a:tcPr>
                </a:tc>
                <a:tc>
                  <a:txBody>
                    <a:bodyPr/>
                    <a:lstStyle/>
                    <a:p>
                      <a:pPr rtl="0">
                        <a:buNone/>
                      </a:pPr>
                      <a:r>
                        <a:rPr lang="af-ZA" sz="700" b="1" cap="none" spc="0">
                          <a:solidFill>
                            <a:schemeClr val="tx1"/>
                          </a:solidFill>
                          <a:effectLst/>
                        </a:rPr>
                        <a:t>Description</a:t>
                      </a:r>
                      <a:endParaRPr lang="af-ZA" sz="700" cap="none" spc="0">
                        <a:solidFill>
                          <a:schemeClr val="tx1"/>
                        </a:solidFill>
                        <a:effectLst/>
                      </a:endParaRPr>
                    </a:p>
                  </a:txBody>
                  <a:tcPr marL="0" marR="68202" marT="16368" marB="54562" anchor="ctr">
                    <a:lnL w="12700" cmpd="sng">
                      <a:noFill/>
                      <a:prstDash val="solid"/>
                    </a:lnL>
                    <a:lnR w="12700" cmpd="sng">
                      <a:noFill/>
                      <a:prstDash val="solid"/>
                    </a:lnR>
                    <a:lnT w="9525" cap="flat" cmpd="sng" algn="ctr">
                      <a:solidFill>
                        <a:schemeClr val="tx1"/>
                      </a:solidFill>
                      <a:prstDash val="solid"/>
                    </a:lnT>
                    <a:lnB w="9525" cap="flat" cmpd="sng" algn="ctr">
                      <a:solidFill>
                        <a:schemeClr val="tx1"/>
                      </a:solidFill>
                      <a:prstDash val="solid"/>
                    </a:lnB>
                    <a:noFill/>
                  </a:tcPr>
                </a:tc>
                <a:extLst>
                  <a:ext uri="{0D108BD9-81ED-4DB2-BD59-A6C34878D82A}">
                    <a16:rowId xmlns:a16="http://schemas.microsoft.com/office/drawing/2014/main" val="1008521088"/>
                  </a:ext>
                </a:extLst>
              </a:tr>
              <a:tr h="201878">
                <a:tc>
                  <a:txBody>
                    <a:bodyPr/>
                    <a:lstStyle/>
                    <a:p>
                      <a:pPr rtl="0">
                        <a:buNone/>
                      </a:pPr>
                      <a:r>
                        <a:rPr lang="af-ZA" sz="700" b="1" cap="none" spc="0">
                          <a:solidFill>
                            <a:schemeClr val="tx1"/>
                          </a:solidFill>
                          <a:effectLst/>
                        </a:rPr>
                        <a:t>Use case name</a:t>
                      </a:r>
                      <a:endParaRPr lang="af-ZA" sz="700" cap="none" spc="0">
                        <a:solidFill>
                          <a:schemeClr val="tx1"/>
                        </a:solidFill>
                        <a:effectLst/>
                      </a:endParaRPr>
                    </a:p>
                  </a:txBody>
                  <a:tcPr marL="0" marR="68202" marT="16368" marB="54562"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Register Account</a:t>
                      </a:r>
                    </a:p>
                  </a:txBody>
                  <a:tcPr marL="0" marR="68202" marT="16368" marB="54562"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005422114"/>
                  </a:ext>
                </a:extLst>
              </a:tr>
              <a:tr h="201878">
                <a:tc>
                  <a:txBody>
                    <a:bodyPr/>
                    <a:lstStyle/>
                    <a:p>
                      <a:pPr rtl="0">
                        <a:buNone/>
                      </a:pPr>
                      <a:r>
                        <a:rPr lang="af-ZA" sz="700" b="1" cap="none" spc="0">
                          <a:solidFill>
                            <a:schemeClr val="tx1"/>
                          </a:solidFill>
                          <a:effectLst/>
                        </a:rPr>
                        <a:t>Scenario</a:t>
                      </a:r>
                      <a:endParaRPr lang="af-ZA" sz="700" cap="none" spc="0">
                        <a:solidFill>
                          <a:schemeClr val="tx1"/>
                        </a:solidFill>
                        <a:effectLst/>
                      </a:endParaRPr>
                    </a:p>
                  </a:txBody>
                  <a:tcPr marL="0" marR="68202" marT="16368" marB="54562"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rtl="0">
                        <a:buNone/>
                      </a:pPr>
                      <a:r>
                        <a:rPr lang="af-ZA" sz="700" cap="none" spc="0">
                          <a:solidFill>
                            <a:schemeClr val="tx1"/>
                          </a:solidFill>
                          <a:effectLst/>
                        </a:rPr>
                        <a:t>Create a new profile for a Freelancer or Client.</a:t>
                      </a:r>
                    </a:p>
                  </a:txBody>
                  <a:tcPr marL="0" marR="68202" marT="16368" marB="54562"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295261311"/>
                  </a:ext>
                </a:extLst>
              </a:tr>
              <a:tr h="201878">
                <a:tc>
                  <a:txBody>
                    <a:bodyPr/>
                    <a:lstStyle/>
                    <a:p>
                      <a:pPr rtl="0">
                        <a:buNone/>
                      </a:pPr>
                      <a:r>
                        <a:rPr lang="af-ZA" sz="700" b="1" cap="none" spc="0">
                          <a:solidFill>
                            <a:schemeClr val="tx1"/>
                          </a:solidFill>
                          <a:effectLst/>
                        </a:rPr>
                        <a:t>Triggering event</a:t>
                      </a:r>
                      <a:endParaRPr lang="af-ZA" sz="700" cap="none" spc="0">
                        <a:solidFill>
                          <a:schemeClr val="tx1"/>
                        </a:solidFill>
                        <a:effectLst/>
                      </a:endParaRPr>
                    </a:p>
                  </a:txBody>
                  <a:tcPr marL="0" marR="68202" marT="16368" marB="54562"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A visitor (Student or Business Owner) wants to join Sho8la to post jobs or find work.</a:t>
                      </a:r>
                    </a:p>
                  </a:txBody>
                  <a:tcPr marL="0" marR="68202" marT="16368" marB="54562"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039365111"/>
                  </a:ext>
                </a:extLst>
              </a:tr>
              <a:tr h="420124">
                <a:tc>
                  <a:txBody>
                    <a:bodyPr/>
                    <a:lstStyle/>
                    <a:p>
                      <a:pPr rtl="0">
                        <a:buNone/>
                      </a:pPr>
                      <a:r>
                        <a:rPr lang="af-ZA" sz="700" b="1" cap="none" spc="0">
                          <a:solidFill>
                            <a:schemeClr val="tx1"/>
                          </a:solidFill>
                          <a:effectLst/>
                        </a:rPr>
                        <a:t>Brief description</a:t>
                      </a:r>
                      <a:endParaRPr lang="af-ZA" sz="700" cap="none" spc="0">
                        <a:solidFill>
                          <a:schemeClr val="tx1"/>
                        </a:solidFill>
                        <a:effectLst/>
                      </a:endParaRPr>
                    </a:p>
                  </a:txBody>
                  <a:tcPr marL="0" marR="68202" marT="16368" marB="54562"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rtl="0">
                        <a:buNone/>
                      </a:pPr>
                      <a:r>
                        <a:rPr lang="af-ZA" sz="700" cap="none" spc="0">
                          <a:solidFill>
                            <a:schemeClr val="tx1"/>
                          </a:solidFill>
                          <a:effectLst/>
                        </a:rPr>
                        <a:t>The user provides their basic personal information (Name, Email, Phone Number), selects their role (Client or Freelancer), and sets a password to create a secure account.</a:t>
                      </a:r>
                    </a:p>
                  </a:txBody>
                  <a:tcPr marL="0" marR="68202" marT="16368" marB="54562"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210715187"/>
                  </a:ext>
                </a:extLst>
              </a:tr>
              <a:tr h="201878">
                <a:tc>
                  <a:txBody>
                    <a:bodyPr/>
                    <a:lstStyle/>
                    <a:p>
                      <a:pPr rtl="0">
                        <a:buNone/>
                      </a:pPr>
                      <a:r>
                        <a:rPr lang="af-ZA" sz="700" b="1" cap="none" spc="0">
                          <a:solidFill>
                            <a:schemeClr val="tx1"/>
                          </a:solidFill>
                          <a:effectLst/>
                        </a:rPr>
                        <a:t>Actors</a:t>
                      </a:r>
                      <a:endParaRPr lang="af-ZA" sz="700" cap="none" spc="0">
                        <a:solidFill>
                          <a:schemeClr val="tx1"/>
                        </a:solidFill>
                        <a:effectLst/>
                      </a:endParaRPr>
                    </a:p>
                  </a:txBody>
                  <a:tcPr marL="0" marR="68202" marT="16368" marB="54562"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Client, Freelancer (Student).</a:t>
                      </a:r>
                    </a:p>
                  </a:txBody>
                  <a:tcPr marL="0" marR="68202" marT="16368" marB="54562"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002381817"/>
                  </a:ext>
                </a:extLst>
              </a:tr>
              <a:tr h="201878">
                <a:tc>
                  <a:txBody>
                    <a:bodyPr/>
                    <a:lstStyle/>
                    <a:p>
                      <a:pPr rtl="0">
                        <a:buNone/>
                      </a:pPr>
                      <a:r>
                        <a:rPr lang="af-ZA" sz="700" b="1" cap="none" spc="0">
                          <a:solidFill>
                            <a:schemeClr val="tx1"/>
                          </a:solidFill>
                          <a:effectLst/>
                        </a:rPr>
                        <a:t>Related use cases</a:t>
                      </a:r>
                      <a:endParaRPr lang="af-ZA" sz="700" cap="none" spc="0">
                        <a:solidFill>
                          <a:schemeClr val="tx1"/>
                        </a:solidFill>
                        <a:effectLst/>
                      </a:endParaRPr>
                    </a:p>
                  </a:txBody>
                  <a:tcPr marL="0" marR="68202" marT="16368" marB="54562"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rtl="0">
                        <a:buNone/>
                      </a:pPr>
                      <a:r>
                        <a:rPr lang="af-ZA" sz="700" i="1" cap="none" spc="0">
                          <a:solidFill>
                            <a:schemeClr val="tx1"/>
                          </a:solidFill>
                          <a:effectLst/>
                        </a:rPr>
                        <a:t>Upload University ID</a:t>
                      </a:r>
                      <a:r>
                        <a:rPr lang="af-ZA" sz="700" cap="none" spc="0">
                          <a:solidFill>
                            <a:schemeClr val="tx1"/>
                          </a:solidFill>
                          <a:effectLst/>
                        </a:rPr>
                        <a:t> (Specific to Freelancer, usually follows this).</a:t>
                      </a:r>
                    </a:p>
                  </a:txBody>
                  <a:tcPr marL="0" marR="68202" marT="16368" marB="54562"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1719540418"/>
                  </a:ext>
                </a:extLst>
              </a:tr>
              <a:tr h="529247">
                <a:tc>
                  <a:txBody>
                    <a:bodyPr/>
                    <a:lstStyle/>
                    <a:p>
                      <a:pPr rtl="0">
                        <a:buNone/>
                      </a:pPr>
                      <a:r>
                        <a:rPr lang="af-ZA" sz="700" b="1" cap="none" spc="0">
                          <a:solidFill>
                            <a:schemeClr val="tx1"/>
                          </a:solidFill>
                          <a:effectLst/>
                        </a:rPr>
                        <a:t>Stakeholders</a:t>
                      </a:r>
                      <a:endParaRPr lang="af-ZA" sz="700" cap="none" spc="0">
                        <a:solidFill>
                          <a:schemeClr val="tx1"/>
                        </a:solidFill>
                        <a:effectLst/>
                      </a:endParaRPr>
                    </a:p>
                  </a:txBody>
                  <a:tcPr marL="0" marR="68202" marT="16368" marB="54562"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700" b="1" cap="none" spc="0">
                          <a:solidFill>
                            <a:schemeClr val="tx1"/>
                          </a:solidFill>
                          <a:effectLst/>
                        </a:rPr>
                        <a:t>Admin:</a:t>
                      </a:r>
                      <a:r>
                        <a:rPr lang="af-ZA" sz="700" cap="none" spc="0">
                          <a:solidFill>
                            <a:schemeClr val="tx1"/>
                          </a:solidFill>
                          <a:effectLst/>
                        </a:rPr>
                        <a:t> Wants verified, real users to prevent spam.</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b="1" cap="none" spc="0">
                          <a:solidFill>
                            <a:schemeClr val="tx1"/>
                          </a:solidFill>
                          <a:effectLst/>
                        </a:rPr>
                        <a:t>Marketing:</a:t>
                      </a:r>
                      <a:r>
                        <a:rPr lang="af-ZA" sz="700" cap="none" spc="0">
                          <a:solidFill>
                            <a:schemeClr val="tx1"/>
                          </a:solidFill>
                          <a:effectLst/>
                        </a:rPr>
                        <a:t> Wants user contact info for engagement.</a:t>
                      </a:r>
                    </a:p>
                  </a:txBody>
                  <a:tcPr marL="0" marR="68202" marT="16368" marB="54562"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904173560"/>
                  </a:ext>
                </a:extLst>
              </a:tr>
              <a:tr h="529247">
                <a:tc>
                  <a:txBody>
                    <a:bodyPr/>
                    <a:lstStyle/>
                    <a:p>
                      <a:pPr rtl="0">
                        <a:buNone/>
                      </a:pPr>
                      <a:r>
                        <a:rPr lang="af-ZA" sz="700" b="1" cap="none" spc="0">
                          <a:solidFill>
                            <a:schemeClr val="tx1"/>
                          </a:solidFill>
                          <a:effectLst/>
                        </a:rPr>
                        <a:t>Preconditions</a:t>
                      </a:r>
                      <a:endParaRPr lang="af-ZA" sz="700" cap="none" spc="0">
                        <a:solidFill>
                          <a:schemeClr val="tx1"/>
                        </a:solidFill>
                        <a:effectLst/>
                      </a:endParaRPr>
                    </a:p>
                  </a:txBody>
                  <a:tcPr marL="0" marR="68202" marT="16368" marB="54562"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rtl="0">
                        <a:buNone/>
                      </a:pPr>
                      <a:r>
                        <a:rPr lang="af-ZA" sz="700" cap="none" spc="0">
                          <a:solidFill>
                            <a:schemeClr val="tx1"/>
                          </a:solidFill>
                          <a:effectLst/>
                        </a:rPr>
                        <a:t>1. The user must have a valid email address and Egyptian phone number.</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The user is not currently logged in.</a:t>
                      </a:r>
                    </a:p>
                  </a:txBody>
                  <a:tcPr marL="0" marR="68202" marT="16368" marB="54562"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217204526"/>
                  </a:ext>
                </a:extLst>
              </a:tr>
              <a:tr h="856616">
                <a:tc>
                  <a:txBody>
                    <a:bodyPr/>
                    <a:lstStyle/>
                    <a:p>
                      <a:pPr rtl="0">
                        <a:buNone/>
                      </a:pPr>
                      <a:r>
                        <a:rPr lang="af-ZA" sz="700" b="1" cap="none" spc="0">
                          <a:solidFill>
                            <a:schemeClr val="tx1"/>
                          </a:solidFill>
                          <a:effectLst/>
                        </a:rPr>
                        <a:t>Postconditions</a:t>
                      </a:r>
                      <a:endParaRPr lang="af-ZA" sz="700" cap="none" spc="0">
                        <a:solidFill>
                          <a:schemeClr val="tx1"/>
                        </a:solidFill>
                        <a:effectLst/>
                      </a:endParaRPr>
                    </a:p>
                  </a:txBody>
                  <a:tcPr marL="0" marR="68202" marT="16368" marB="54562"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1. A new User record is created in the database.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The user is assigned their selected role (Client/Freelancer).</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The user is redirected to the Login page or Dashboard.</a:t>
                      </a:r>
                    </a:p>
                  </a:txBody>
                  <a:tcPr marL="0" marR="68202" marT="16368" marB="54562"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732551605"/>
                  </a:ext>
                </a:extLst>
              </a:tr>
              <a:tr h="4239430">
                <a:tc>
                  <a:txBody>
                    <a:bodyPr/>
                    <a:lstStyle/>
                    <a:p>
                      <a:pPr rtl="0">
                        <a:buNone/>
                      </a:pPr>
                      <a:r>
                        <a:rPr lang="af-ZA" sz="700" b="1" cap="none" spc="0">
                          <a:solidFill>
                            <a:schemeClr val="tx1"/>
                          </a:solidFill>
                          <a:effectLst/>
                        </a:rPr>
                        <a:t>Flow of activities</a:t>
                      </a:r>
                      <a:endParaRPr lang="af-ZA" sz="700" cap="none" spc="0">
                        <a:solidFill>
                          <a:schemeClr val="tx1"/>
                        </a:solidFill>
                        <a:effectLst/>
                      </a:endParaRPr>
                    </a:p>
                  </a:txBody>
                  <a:tcPr marL="0" marR="68202" marT="16368" marB="54562"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rtl="0">
                        <a:buNone/>
                      </a:pPr>
                      <a:r>
                        <a:rPr lang="af-ZA" sz="700" b="1" cap="none" spc="0">
                          <a:solidFill>
                            <a:schemeClr val="tx1"/>
                          </a:solidFill>
                          <a:effectLst/>
                        </a:rPr>
                        <a:t>Actor (User)</a:t>
                      </a:r>
                      <a:endParaRPr lang="af-ZA" sz="700" cap="none" spc="0">
                        <a:solidFill>
                          <a:schemeClr val="tx1"/>
                        </a:solidFill>
                        <a:effectLst/>
                      </a:endParaRP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1. User clicks "Sign Up" on the homepage.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User enters full name, email address, and Egyptian phone number.</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User selects their role: "I am a Student (Freelancer)" or "I am a Client".</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4. User creates a password and confirms it.</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5. User clicks "Create Account".</a:t>
                      </a:r>
                    </a:p>
                    <a:p>
                      <a:pPr rtl="0">
                        <a:buNone/>
                      </a:pPr>
                      <a:br>
                        <a:rPr lang="af-ZA" sz="700" cap="none" spc="0">
                          <a:solidFill>
                            <a:schemeClr val="tx1"/>
                          </a:solidFill>
                          <a:effectLst/>
                        </a:rPr>
                      </a:br>
                      <a:br>
                        <a:rPr lang="af-ZA" sz="700" cap="none" spc="0">
                          <a:solidFill>
                            <a:schemeClr val="tx1"/>
                          </a:solidFill>
                          <a:effectLst/>
                        </a:rPr>
                      </a:br>
                      <a:endParaRPr lang="af-ZA" sz="700" cap="none" spc="0">
                        <a:solidFill>
                          <a:schemeClr val="tx1"/>
                        </a:solidFill>
                        <a:effectLst/>
                      </a:endParaRPr>
                    </a:p>
                    <a:p>
                      <a:pPr rtl="0">
                        <a:buNone/>
                      </a:pPr>
                      <a:r>
                        <a:rPr lang="af-ZA" sz="700" b="1" cap="none" spc="0">
                          <a:solidFill>
                            <a:schemeClr val="tx1"/>
                          </a:solidFill>
                          <a:effectLst/>
                        </a:rPr>
                        <a:t>System</a:t>
                      </a:r>
                      <a:endParaRPr lang="af-ZA" sz="700" cap="none" spc="0">
                        <a:solidFill>
                          <a:schemeClr val="tx1"/>
                        </a:solidFill>
                        <a:effectLst/>
                      </a:endParaRP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1. System displays the registration form.</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System validates the email format and checks if it already exists.</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System validates the phone number format (must start with 010, 011, 012, 015).</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4. System validates password strength (min 8 chars).</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5. System creates the account in the database.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6. System displays a success message and redirects user.</a:t>
                      </a:r>
                    </a:p>
                  </a:txBody>
                  <a:tcPr marL="0" marR="68202" marT="16368" marB="54562"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3254728123"/>
                  </a:ext>
                </a:extLst>
              </a:tr>
              <a:tr h="965739">
                <a:tc>
                  <a:txBody>
                    <a:bodyPr/>
                    <a:lstStyle/>
                    <a:p>
                      <a:pPr rtl="0">
                        <a:buNone/>
                      </a:pPr>
                      <a:r>
                        <a:rPr lang="af-ZA" sz="700" b="1" cap="none" spc="0">
                          <a:solidFill>
                            <a:schemeClr val="tx1"/>
                          </a:solidFill>
                          <a:effectLst/>
                        </a:rPr>
                        <a:t>Exception conditions</a:t>
                      </a:r>
                      <a:endParaRPr lang="af-ZA" sz="700" cap="none" spc="0">
                        <a:solidFill>
                          <a:schemeClr val="tx1"/>
                        </a:solidFill>
                        <a:effectLst/>
                      </a:endParaRPr>
                    </a:p>
                  </a:txBody>
                  <a:tcPr marL="0" marR="68202" marT="16368" marB="54562"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1. </a:t>
                      </a:r>
                      <a:r>
                        <a:rPr lang="af-ZA" sz="700" b="1" cap="none" spc="0">
                          <a:solidFill>
                            <a:schemeClr val="tx1"/>
                          </a:solidFill>
                          <a:effectLst/>
                        </a:rPr>
                        <a:t>Email already exists:</a:t>
                      </a:r>
                      <a:r>
                        <a:rPr lang="af-ZA" sz="700" cap="none" spc="0">
                          <a:solidFill>
                            <a:schemeClr val="tx1"/>
                          </a:solidFill>
                          <a:effectLst/>
                        </a:rPr>
                        <a:t> System shows error "Email already in use" and asks user to Login.</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a:t>
                      </a:r>
                      <a:r>
                        <a:rPr lang="af-ZA" sz="700" b="1" cap="none" spc="0">
                          <a:solidFill>
                            <a:schemeClr val="tx1"/>
                          </a:solidFill>
                          <a:effectLst/>
                        </a:rPr>
                        <a:t>Weak Password:</a:t>
                      </a:r>
                      <a:r>
                        <a:rPr lang="af-ZA" sz="700" cap="none" spc="0">
                          <a:solidFill>
                            <a:schemeClr val="tx1"/>
                          </a:solidFill>
                          <a:effectLst/>
                        </a:rPr>
                        <a:t> System prompts user to use a stronger password.</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a:t>
                      </a:r>
                      <a:r>
                        <a:rPr lang="af-ZA" sz="700" b="1" cap="none" spc="0">
                          <a:solidFill>
                            <a:schemeClr val="tx1"/>
                          </a:solidFill>
                          <a:effectLst/>
                        </a:rPr>
                        <a:t>Invalid Phone:</a:t>
                      </a:r>
                      <a:r>
                        <a:rPr lang="af-ZA" sz="700" cap="none" spc="0">
                          <a:solidFill>
                            <a:schemeClr val="tx1"/>
                          </a:solidFill>
                          <a:effectLst/>
                        </a:rPr>
                        <a:t> System rejects non-Egyptian numbers.</a:t>
                      </a:r>
                    </a:p>
                  </a:txBody>
                  <a:tcPr marL="0" marR="68202" marT="16368" marB="54562"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399875763"/>
                  </a:ext>
                </a:extLst>
              </a:tr>
            </a:tbl>
          </a:graphicData>
        </a:graphic>
      </p:graphicFrame>
    </p:spTree>
    <p:extLst>
      <p:ext uri="{BB962C8B-B14F-4D97-AF65-F5344CB8AC3E}">
        <p14:creationId xmlns:p14="http://schemas.microsoft.com/office/powerpoint/2010/main" val="3429575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772400" cy="100583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0" name="Rectangle 9">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353" y="487445"/>
            <a:ext cx="6703695" cy="908350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3" name="جدول 2">
            <a:extLst>
              <a:ext uri="{FF2B5EF4-FFF2-40B4-BE49-F238E27FC236}">
                <a16:creationId xmlns:a16="http://schemas.microsoft.com/office/drawing/2014/main" id="{75DB4080-691F-1D17-35A9-B2EAD8418C4C}"/>
              </a:ext>
            </a:extLst>
          </p:cNvPr>
          <p:cNvGraphicFramePr>
            <a:graphicFrameLocks noGrp="1"/>
          </p:cNvGraphicFramePr>
          <p:nvPr/>
        </p:nvGraphicFramePr>
        <p:xfrm>
          <a:off x="896506" y="653366"/>
          <a:ext cx="5994345" cy="8846135"/>
        </p:xfrm>
        <a:graphic>
          <a:graphicData uri="http://schemas.openxmlformats.org/drawingml/2006/table">
            <a:tbl>
              <a:tblPr bandRow="1">
                <a:noFill/>
                <a:tableStyleId>{5C22544A-7EE6-4342-B048-85BDC9FD1C3A}</a:tableStyleId>
              </a:tblPr>
              <a:tblGrid>
                <a:gridCol w="2053523">
                  <a:extLst>
                    <a:ext uri="{9D8B030D-6E8A-4147-A177-3AD203B41FA5}">
                      <a16:colId xmlns:a16="http://schemas.microsoft.com/office/drawing/2014/main" val="3209362537"/>
                    </a:ext>
                  </a:extLst>
                </a:gridCol>
                <a:gridCol w="3940822">
                  <a:extLst>
                    <a:ext uri="{9D8B030D-6E8A-4147-A177-3AD203B41FA5}">
                      <a16:colId xmlns:a16="http://schemas.microsoft.com/office/drawing/2014/main" val="178525824"/>
                    </a:ext>
                  </a:extLst>
                </a:gridCol>
              </a:tblGrid>
              <a:tr h="259837">
                <a:tc>
                  <a:txBody>
                    <a:bodyPr/>
                    <a:lstStyle/>
                    <a:p>
                      <a:pPr rtl="0">
                        <a:buNone/>
                      </a:pPr>
                      <a:r>
                        <a:rPr lang="af-ZA" sz="800" b="1" cap="none" spc="0">
                          <a:solidFill>
                            <a:schemeClr val="tx1"/>
                          </a:solidFill>
                          <a:effectLst/>
                        </a:rPr>
                        <a:t>Field</a:t>
                      </a:r>
                      <a:endParaRPr lang="af-ZA" sz="800" cap="none" spc="0">
                        <a:solidFill>
                          <a:schemeClr val="tx1"/>
                        </a:solidFill>
                        <a:effectLst/>
                      </a:endParaRPr>
                    </a:p>
                  </a:txBody>
                  <a:tcPr marL="0" marR="34492" marT="13797" marB="10347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rtl="0">
                        <a:buNone/>
                      </a:pPr>
                      <a:r>
                        <a:rPr lang="af-ZA" sz="800" b="1" cap="none" spc="0">
                          <a:solidFill>
                            <a:schemeClr val="tx1"/>
                          </a:solidFill>
                          <a:effectLst/>
                        </a:rPr>
                        <a:t>Description</a:t>
                      </a:r>
                      <a:endParaRPr lang="af-ZA" sz="800" cap="none" spc="0">
                        <a:solidFill>
                          <a:schemeClr val="tx1"/>
                        </a:solidFill>
                        <a:effectLst/>
                      </a:endParaRPr>
                    </a:p>
                  </a:txBody>
                  <a:tcPr marL="0" marR="34492" marT="13797" marB="10347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052890401"/>
                  </a:ext>
                </a:extLst>
              </a:tr>
              <a:tr h="259837">
                <a:tc>
                  <a:txBody>
                    <a:bodyPr/>
                    <a:lstStyle/>
                    <a:p>
                      <a:pPr rtl="0">
                        <a:buNone/>
                      </a:pPr>
                      <a:r>
                        <a:rPr lang="af-ZA" sz="800" b="1" cap="none" spc="0">
                          <a:solidFill>
                            <a:schemeClr val="tx1"/>
                          </a:solidFill>
                          <a:effectLst/>
                        </a:rPr>
                        <a:t>Use case name</a:t>
                      </a:r>
                      <a:endParaRPr lang="af-ZA" sz="800" cap="none" spc="0">
                        <a:solidFill>
                          <a:schemeClr val="tx1"/>
                        </a:solidFill>
                        <a:effectLst/>
                      </a:endParaRPr>
                    </a:p>
                  </a:txBody>
                  <a:tcPr marL="0" marR="34492" marT="13797" marB="103475"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Login</a:t>
                      </a:r>
                    </a:p>
                  </a:txBody>
                  <a:tcPr marL="0" marR="34492" marT="13797" marB="103475"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738373626"/>
                  </a:ext>
                </a:extLst>
              </a:tr>
              <a:tr h="259837">
                <a:tc>
                  <a:txBody>
                    <a:bodyPr/>
                    <a:lstStyle/>
                    <a:p>
                      <a:pPr rtl="0">
                        <a:buNone/>
                      </a:pPr>
                      <a:r>
                        <a:rPr lang="af-ZA" sz="800" b="1" cap="none" spc="0">
                          <a:solidFill>
                            <a:schemeClr val="tx1"/>
                          </a:solidFill>
                          <a:effectLst/>
                        </a:rPr>
                        <a:t>Scenario</a:t>
                      </a:r>
                      <a:endParaRPr lang="af-ZA" sz="800" cap="none" spc="0">
                        <a:solidFill>
                          <a:schemeClr val="tx1"/>
                        </a:solidFill>
                        <a:effectLst/>
                      </a:endParaRPr>
                    </a:p>
                  </a:txBody>
                  <a:tcPr marL="0" marR="34492" marT="13797" marB="103475"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rtl="0">
                        <a:buNone/>
                      </a:pPr>
                      <a:r>
                        <a:rPr lang="af-ZA" sz="800" cap="none" spc="0">
                          <a:solidFill>
                            <a:schemeClr val="tx1"/>
                          </a:solidFill>
                          <a:effectLst/>
                        </a:rPr>
                        <a:t>Access the system using registered credentials.</a:t>
                      </a:r>
                    </a:p>
                  </a:txBody>
                  <a:tcPr marL="0" marR="34492" marT="13797" marB="103475"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45636994"/>
                  </a:ext>
                </a:extLst>
              </a:tr>
              <a:tr h="374809">
                <a:tc>
                  <a:txBody>
                    <a:bodyPr/>
                    <a:lstStyle/>
                    <a:p>
                      <a:pPr rtl="0">
                        <a:buNone/>
                      </a:pPr>
                      <a:r>
                        <a:rPr lang="af-ZA" sz="800" b="1" cap="none" spc="0">
                          <a:solidFill>
                            <a:schemeClr val="tx1"/>
                          </a:solidFill>
                          <a:effectLst/>
                        </a:rPr>
                        <a:t>Triggering event</a:t>
                      </a:r>
                      <a:endParaRPr lang="af-ZA" sz="800" cap="none" spc="0">
                        <a:solidFill>
                          <a:schemeClr val="tx1"/>
                        </a:solidFill>
                        <a:effectLst/>
                      </a:endParaRPr>
                    </a:p>
                  </a:txBody>
                  <a:tcPr marL="0" marR="34492" marT="13797" marB="103475"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User (Client, Freelancer, or Admin) opens the application and wants to access their personalized dashboard or perform restricted actions.</a:t>
                      </a:r>
                    </a:p>
                  </a:txBody>
                  <a:tcPr marL="0" marR="34492" marT="13797" marB="103475"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708722306"/>
                  </a:ext>
                </a:extLst>
              </a:tr>
              <a:tr h="489781">
                <a:tc>
                  <a:txBody>
                    <a:bodyPr/>
                    <a:lstStyle/>
                    <a:p>
                      <a:pPr rtl="0">
                        <a:buNone/>
                      </a:pPr>
                      <a:r>
                        <a:rPr lang="af-ZA" sz="800" b="1" cap="none" spc="0">
                          <a:solidFill>
                            <a:schemeClr val="tx1"/>
                          </a:solidFill>
                          <a:effectLst/>
                        </a:rPr>
                        <a:t>Brief description</a:t>
                      </a:r>
                      <a:endParaRPr lang="af-ZA" sz="800" cap="none" spc="0">
                        <a:solidFill>
                          <a:schemeClr val="tx1"/>
                        </a:solidFill>
                        <a:effectLst/>
                      </a:endParaRPr>
                    </a:p>
                  </a:txBody>
                  <a:tcPr marL="0" marR="34492" marT="13797" marB="103475"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rtl="0">
                        <a:buNone/>
                      </a:pPr>
                      <a:r>
                        <a:rPr lang="af-ZA" sz="800" cap="none" spc="0">
                          <a:solidFill>
                            <a:schemeClr val="tx1"/>
                          </a:solidFill>
                          <a:effectLst/>
                        </a:rPr>
                        <a:t>The user authenticates their identity by entering their registered email and password. The system verifies the credentials and redirects them to the appropriate home page based on their role.</a:t>
                      </a:r>
                    </a:p>
                  </a:txBody>
                  <a:tcPr marL="0" marR="34492" marT="13797" marB="103475"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3906269252"/>
                  </a:ext>
                </a:extLst>
              </a:tr>
              <a:tr h="259837">
                <a:tc>
                  <a:txBody>
                    <a:bodyPr/>
                    <a:lstStyle/>
                    <a:p>
                      <a:pPr rtl="0">
                        <a:buNone/>
                      </a:pPr>
                      <a:r>
                        <a:rPr lang="af-ZA" sz="800" b="1" cap="none" spc="0">
                          <a:solidFill>
                            <a:schemeClr val="tx1"/>
                          </a:solidFill>
                          <a:effectLst/>
                        </a:rPr>
                        <a:t>Actors</a:t>
                      </a:r>
                      <a:endParaRPr lang="af-ZA" sz="800" cap="none" spc="0">
                        <a:solidFill>
                          <a:schemeClr val="tx1"/>
                        </a:solidFill>
                        <a:effectLst/>
                      </a:endParaRPr>
                    </a:p>
                  </a:txBody>
                  <a:tcPr marL="0" marR="34492" marT="13797" marB="103475"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Client, Freelancer (Student), Admin.</a:t>
                      </a:r>
                    </a:p>
                  </a:txBody>
                  <a:tcPr marL="0" marR="34492" marT="13797" marB="103475"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112997658"/>
                  </a:ext>
                </a:extLst>
              </a:tr>
              <a:tr h="259837">
                <a:tc>
                  <a:txBody>
                    <a:bodyPr/>
                    <a:lstStyle/>
                    <a:p>
                      <a:pPr rtl="0">
                        <a:buNone/>
                      </a:pPr>
                      <a:r>
                        <a:rPr lang="af-ZA" sz="800" b="1" cap="none" spc="0">
                          <a:solidFill>
                            <a:schemeClr val="tx1"/>
                          </a:solidFill>
                          <a:effectLst/>
                        </a:rPr>
                        <a:t>Related use cases</a:t>
                      </a:r>
                      <a:endParaRPr lang="af-ZA" sz="800" cap="none" spc="0">
                        <a:solidFill>
                          <a:schemeClr val="tx1"/>
                        </a:solidFill>
                        <a:effectLst/>
                      </a:endParaRPr>
                    </a:p>
                  </a:txBody>
                  <a:tcPr marL="0" marR="34492" marT="13797" marB="103475"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rtl="0">
                        <a:buNone/>
                      </a:pPr>
                      <a:r>
                        <a:rPr lang="af-ZA" sz="800" i="1" cap="none" spc="0">
                          <a:solidFill>
                            <a:schemeClr val="tx1"/>
                          </a:solidFill>
                          <a:effectLst/>
                        </a:rPr>
                        <a:t>Register Account</a:t>
                      </a:r>
                      <a:r>
                        <a:rPr lang="af-ZA" sz="800" cap="none" spc="0">
                          <a:solidFill>
                            <a:schemeClr val="tx1"/>
                          </a:solidFill>
                          <a:effectLst/>
                        </a:rPr>
                        <a:t> (Must happen before Login).</a:t>
                      </a:r>
                    </a:p>
                  </a:txBody>
                  <a:tcPr marL="0" marR="34492" marT="13797" marB="103475"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3165126480"/>
                  </a:ext>
                </a:extLst>
              </a:tr>
              <a:tr h="604753">
                <a:tc>
                  <a:txBody>
                    <a:bodyPr/>
                    <a:lstStyle/>
                    <a:p>
                      <a:pPr rtl="0">
                        <a:buNone/>
                      </a:pPr>
                      <a:r>
                        <a:rPr lang="af-ZA" sz="800" b="1" cap="none" spc="0">
                          <a:solidFill>
                            <a:schemeClr val="tx1"/>
                          </a:solidFill>
                          <a:effectLst/>
                        </a:rPr>
                        <a:t>Stakeholders</a:t>
                      </a:r>
                      <a:endParaRPr lang="af-ZA" sz="800" cap="none" spc="0">
                        <a:solidFill>
                          <a:schemeClr val="tx1"/>
                        </a:solidFill>
                        <a:effectLst/>
                      </a:endParaRPr>
                    </a:p>
                  </a:txBody>
                  <a:tcPr marL="0" marR="34492" marT="13797" marB="103475"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b="1" cap="none" spc="0">
                          <a:solidFill>
                            <a:schemeClr val="tx1"/>
                          </a:solidFill>
                          <a:effectLst/>
                        </a:rPr>
                        <a:t>Security Team:</a:t>
                      </a:r>
                      <a:r>
                        <a:rPr lang="af-ZA" sz="800" cap="none" spc="0">
                          <a:solidFill>
                            <a:schemeClr val="tx1"/>
                          </a:solidFill>
                          <a:effectLst/>
                        </a:rPr>
                        <a:t> Ensures unauthorized users cannot access private data.</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b="1" cap="none" spc="0">
                          <a:solidFill>
                            <a:schemeClr val="tx1"/>
                          </a:solidFill>
                          <a:effectLst/>
                        </a:rPr>
                        <a:t>Admin:</a:t>
                      </a:r>
                      <a:r>
                        <a:rPr lang="af-ZA" sz="800" cap="none" spc="0">
                          <a:solidFill>
                            <a:schemeClr val="tx1"/>
                          </a:solidFill>
                          <a:effectLst/>
                        </a:rPr>
                        <a:t> Needs to ensure banned users cannot log in.</a:t>
                      </a:r>
                    </a:p>
                  </a:txBody>
                  <a:tcPr marL="0" marR="34492" marT="13797" marB="103475"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901160602"/>
                  </a:ext>
                </a:extLst>
              </a:tr>
              <a:tr h="604753">
                <a:tc>
                  <a:txBody>
                    <a:bodyPr/>
                    <a:lstStyle/>
                    <a:p>
                      <a:pPr rtl="0">
                        <a:buNone/>
                      </a:pPr>
                      <a:r>
                        <a:rPr lang="af-ZA" sz="800" b="1" cap="none" spc="0">
                          <a:solidFill>
                            <a:schemeClr val="tx1"/>
                          </a:solidFill>
                          <a:effectLst/>
                        </a:rPr>
                        <a:t>Preconditions</a:t>
                      </a:r>
                      <a:endParaRPr lang="af-ZA" sz="800" cap="none" spc="0">
                        <a:solidFill>
                          <a:schemeClr val="tx1"/>
                        </a:solidFill>
                        <a:effectLst/>
                      </a:endParaRPr>
                    </a:p>
                  </a:txBody>
                  <a:tcPr marL="0" marR="34492" marT="13797" marB="103475"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rtl="0">
                        <a:buNone/>
                      </a:pPr>
                      <a:r>
                        <a:rPr lang="af-ZA" sz="800" cap="none" spc="0">
                          <a:solidFill>
                            <a:schemeClr val="tx1"/>
                          </a:solidFill>
                          <a:effectLst/>
                        </a:rPr>
                        <a:t>1. The user must have a registered and active account.</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The application is running and connected to the database.</a:t>
                      </a:r>
                    </a:p>
                  </a:txBody>
                  <a:tcPr marL="0" marR="34492" marT="13797" marB="103475"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439039525"/>
                  </a:ext>
                </a:extLst>
              </a:tr>
              <a:tr h="719725">
                <a:tc>
                  <a:txBody>
                    <a:bodyPr/>
                    <a:lstStyle/>
                    <a:p>
                      <a:pPr rtl="0">
                        <a:buNone/>
                      </a:pPr>
                      <a:r>
                        <a:rPr lang="af-ZA" sz="800" b="1" cap="none" spc="0">
                          <a:solidFill>
                            <a:schemeClr val="tx1"/>
                          </a:solidFill>
                          <a:effectLst/>
                        </a:rPr>
                        <a:t>Postconditions</a:t>
                      </a:r>
                      <a:endParaRPr lang="af-ZA" sz="800" cap="none" spc="0">
                        <a:solidFill>
                          <a:schemeClr val="tx1"/>
                        </a:solidFill>
                        <a:effectLst/>
                      </a:endParaRPr>
                    </a:p>
                  </a:txBody>
                  <a:tcPr marL="0" marR="34492" marT="13797" marB="103475"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1. The user is authenticated and a session token (e.g., JWT) is created.</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The user is redirected to their specific dashboard (Client Dashboard, Freelancer Feed, or Admin Panel).</a:t>
                      </a:r>
                    </a:p>
                  </a:txBody>
                  <a:tcPr marL="0" marR="34492" marT="13797" marB="103475"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523650766"/>
                  </a:ext>
                </a:extLst>
              </a:tr>
              <a:tr h="3938940">
                <a:tc>
                  <a:txBody>
                    <a:bodyPr/>
                    <a:lstStyle/>
                    <a:p>
                      <a:pPr rtl="0">
                        <a:buNone/>
                      </a:pPr>
                      <a:r>
                        <a:rPr lang="af-ZA" sz="800" b="1" cap="none" spc="0">
                          <a:solidFill>
                            <a:schemeClr val="tx1"/>
                          </a:solidFill>
                          <a:effectLst/>
                        </a:rPr>
                        <a:t>Flow of activities</a:t>
                      </a:r>
                      <a:endParaRPr lang="af-ZA" sz="800" cap="none" spc="0">
                        <a:solidFill>
                          <a:schemeClr val="tx1"/>
                        </a:solidFill>
                        <a:effectLst/>
                      </a:endParaRPr>
                    </a:p>
                  </a:txBody>
                  <a:tcPr marL="0" marR="34492" marT="13797" marB="103475"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rtl="0">
                        <a:buNone/>
                      </a:pPr>
                      <a:r>
                        <a:rPr lang="af-ZA" sz="800" b="1" cap="none" spc="0">
                          <a:solidFill>
                            <a:schemeClr val="tx1"/>
                          </a:solidFill>
                          <a:effectLst/>
                        </a:rPr>
                        <a:t>Actor (User)</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User clicks the "Login" button.</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User enters their registered email address.</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User enters their password.</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4. User clicks "Sign In".</a:t>
                      </a:r>
                    </a:p>
                    <a:p>
                      <a:pPr rtl="0">
                        <a:buNone/>
                      </a:pPr>
                      <a:br>
                        <a:rPr lang="af-ZA" sz="800" cap="none" spc="0">
                          <a:solidFill>
                            <a:schemeClr val="tx1"/>
                          </a:solidFill>
                          <a:effectLst/>
                        </a:rPr>
                      </a:br>
                      <a:br>
                        <a:rPr lang="af-ZA" sz="800" cap="none" spc="0">
                          <a:solidFill>
                            <a:schemeClr val="tx1"/>
                          </a:solidFill>
                          <a:effectLst/>
                        </a:rPr>
                      </a:br>
                      <a:endParaRPr lang="af-ZA" sz="800" cap="none" spc="0">
                        <a:solidFill>
                          <a:schemeClr val="tx1"/>
                        </a:solidFill>
                        <a:effectLst/>
                      </a:endParaRPr>
                    </a:p>
                    <a:p>
                      <a:pPr rtl="0">
                        <a:buNone/>
                      </a:pPr>
                      <a:r>
                        <a:rPr lang="af-ZA" sz="800" b="1" cap="none" spc="0">
                          <a:solidFill>
                            <a:schemeClr val="tx1"/>
                          </a:solidFill>
                          <a:effectLst/>
                        </a:rPr>
                        <a:t>System</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System validates that inputs are not empty.</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System hashes the entered password and compares it with the stored hash in the database.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System checks the user's role (Client vs. Freelancer vs. Admin).</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4. System creates a secure session.</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5. System redirects the user to the correct landing page.</a:t>
                      </a:r>
                    </a:p>
                  </a:txBody>
                  <a:tcPr marL="0" marR="34492" marT="13797" marB="103475"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54687272"/>
                  </a:ext>
                </a:extLst>
              </a:tr>
              <a:tr h="719725">
                <a:tc>
                  <a:txBody>
                    <a:bodyPr/>
                    <a:lstStyle/>
                    <a:p>
                      <a:pPr rtl="0">
                        <a:buNone/>
                      </a:pPr>
                      <a:r>
                        <a:rPr lang="af-ZA" sz="800" b="1" cap="none" spc="0">
                          <a:solidFill>
                            <a:schemeClr val="tx1"/>
                          </a:solidFill>
                          <a:effectLst/>
                        </a:rPr>
                        <a:t>Exception conditions</a:t>
                      </a:r>
                      <a:endParaRPr lang="af-ZA" sz="800" cap="none" spc="0">
                        <a:solidFill>
                          <a:schemeClr val="tx1"/>
                        </a:solidFill>
                        <a:effectLst/>
                      </a:endParaRPr>
                    </a:p>
                  </a:txBody>
                  <a:tcPr marL="0" marR="34492" marT="13797" marB="103475"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1. </a:t>
                      </a:r>
                      <a:r>
                        <a:rPr lang="af-ZA" sz="800" b="1" cap="none" spc="0">
                          <a:solidFill>
                            <a:schemeClr val="tx1"/>
                          </a:solidFill>
                          <a:effectLst/>
                        </a:rPr>
                        <a:t>Invalid Email/Password:</a:t>
                      </a:r>
                      <a:r>
                        <a:rPr lang="af-ZA" sz="800" cap="none" spc="0">
                          <a:solidFill>
                            <a:schemeClr val="tx1"/>
                          </a:solidFill>
                          <a:effectLst/>
                        </a:rPr>
                        <a:t> System displays "Incorrect credentials" error message.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a:t>
                      </a:r>
                      <a:r>
                        <a:rPr lang="af-ZA" sz="800" b="1" cap="none" spc="0">
                          <a:solidFill>
                            <a:schemeClr val="tx1"/>
                          </a:solidFill>
                          <a:effectLst/>
                        </a:rPr>
                        <a:t>Account Suspended:</a:t>
                      </a:r>
                      <a:r>
                        <a:rPr lang="af-ZA" sz="800" cap="none" spc="0">
                          <a:solidFill>
                            <a:schemeClr val="tx1"/>
                          </a:solidFill>
                          <a:effectLst/>
                        </a:rPr>
                        <a:t> If the Admin has banned the user, the system denies access and shows "Your account has been suspended."</a:t>
                      </a:r>
                    </a:p>
                  </a:txBody>
                  <a:tcPr marL="0" marR="34492" marT="13797" marB="103475"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377811271"/>
                  </a:ext>
                </a:extLst>
              </a:tr>
            </a:tbl>
          </a:graphicData>
        </a:graphic>
      </p:graphicFrame>
    </p:spTree>
    <p:extLst>
      <p:ext uri="{BB962C8B-B14F-4D97-AF65-F5344CB8AC3E}">
        <p14:creationId xmlns:p14="http://schemas.microsoft.com/office/powerpoint/2010/main" val="1778734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772400" cy="100583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2" name="Rectangle 11">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353" y="487445"/>
            <a:ext cx="6703695" cy="908350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5" name="جدول 4">
            <a:extLst>
              <a:ext uri="{FF2B5EF4-FFF2-40B4-BE49-F238E27FC236}">
                <a16:creationId xmlns:a16="http://schemas.microsoft.com/office/drawing/2014/main" id="{10664F53-CBDC-09EF-A887-A8FF00A5337C}"/>
              </a:ext>
            </a:extLst>
          </p:cNvPr>
          <p:cNvGraphicFramePr>
            <a:graphicFrameLocks noGrp="1"/>
          </p:cNvGraphicFramePr>
          <p:nvPr/>
        </p:nvGraphicFramePr>
        <p:xfrm>
          <a:off x="999680" y="653366"/>
          <a:ext cx="5787998" cy="8751672"/>
        </p:xfrm>
        <a:graphic>
          <a:graphicData uri="http://schemas.openxmlformats.org/drawingml/2006/table">
            <a:tbl>
              <a:tblPr bandRow="1">
                <a:noFill/>
                <a:tableStyleId>{5C22544A-7EE6-4342-B048-85BDC9FD1C3A}</a:tableStyleId>
              </a:tblPr>
              <a:tblGrid>
                <a:gridCol w="2271877">
                  <a:extLst>
                    <a:ext uri="{9D8B030D-6E8A-4147-A177-3AD203B41FA5}">
                      <a16:colId xmlns:a16="http://schemas.microsoft.com/office/drawing/2014/main" val="1013187316"/>
                    </a:ext>
                  </a:extLst>
                </a:gridCol>
                <a:gridCol w="3516121">
                  <a:extLst>
                    <a:ext uri="{9D8B030D-6E8A-4147-A177-3AD203B41FA5}">
                      <a16:colId xmlns:a16="http://schemas.microsoft.com/office/drawing/2014/main" val="3539442087"/>
                    </a:ext>
                  </a:extLst>
                </a:gridCol>
              </a:tblGrid>
              <a:tr h="233305">
                <a:tc>
                  <a:txBody>
                    <a:bodyPr/>
                    <a:lstStyle/>
                    <a:p>
                      <a:pPr rtl="0">
                        <a:buNone/>
                      </a:pPr>
                      <a:r>
                        <a:rPr lang="af-ZA" sz="700" b="1" cap="none" spc="0">
                          <a:solidFill>
                            <a:schemeClr val="tx1"/>
                          </a:solidFill>
                          <a:effectLst/>
                        </a:rPr>
                        <a:t>Field</a:t>
                      </a:r>
                      <a:endParaRPr lang="af-ZA" sz="700" cap="none" spc="0">
                        <a:solidFill>
                          <a:schemeClr val="tx1"/>
                        </a:solidFill>
                        <a:effectLst/>
                      </a:endParaRPr>
                    </a:p>
                  </a:txBody>
                  <a:tcPr marL="38578" marR="27556" marT="45926" marB="55111" anchor="ctr">
                    <a:lnL w="12700" cmpd="sng">
                      <a:noFill/>
                      <a:prstDash val="solid"/>
                    </a:lnL>
                    <a:lnR w="12700" cmpd="sng">
                      <a:no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rtl="0">
                        <a:buNone/>
                      </a:pPr>
                      <a:r>
                        <a:rPr lang="af-ZA" sz="700" b="1" cap="none" spc="0">
                          <a:solidFill>
                            <a:schemeClr val="tx1"/>
                          </a:solidFill>
                          <a:effectLst/>
                        </a:rPr>
                        <a:t>Description</a:t>
                      </a:r>
                      <a:endParaRPr lang="af-ZA" sz="700" cap="none" spc="0">
                        <a:solidFill>
                          <a:schemeClr val="tx1"/>
                        </a:solidFill>
                        <a:effectLst/>
                      </a:endParaRPr>
                    </a:p>
                  </a:txBody>
                  <a:tcPr marL="38578" marR="27556" marT="45926" marB="55111" anchor="ctr">
                    <a:lnL w="12700" cmpd="sng">
                      <a:noFill/>
                      <a:prstDash val="solid"/>
                    </a:lnL>
                    <a:lnR w="12700" cmpd="sng">
                      <a:no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418710778"/>
                  </a:ext>
                </a:extLst>
              </a:tr>
              <a:tr h="233305">
                <a:tc>
                  <a:txBody>
                    <a:bodyPr/>
                    <a:lstStyle/>
                    <a:p>
                      <a:pPr rtl="0">
                        <a:buNone/>
                      </a:pPr>
                      <a:r>
                        <a:rPr lang="af-ZA" sz="700" b="1" cap="none" spc="0">
                          <a:solidFill>
                            <a:schemeClr val="tx1"/>
                          </a:solidFill>
                          <a:effectLst/>
                        </a:rPr>
                        <a:t>Use case name</a:t>
                      </a:r>
                      <a:endParaRPr lang="af-ZA" sz="700" cap="none" spc="0">
                        <a:solidFill>
                          <a:schemeClr val="tx1"/>
                        </a:solidFill>
                        <a:effectLst/>
                      </a:endParaRPr>
                    </a:p>
                  </a:txBody>
                  <a:tcPr marL="38578" marR="27556" marT="45926" marB="55111"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Post New Job</a:t>
                      </a:r>
                    </a:p>
                  </a:txBody>
                  <a:tcPr marL="38578" marR="27556" marT="45926" marB="55111"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4238373894"/>
                  </a:ext>
                </a:extLst>
              </a:tr>
              <a:tr h="233305">
                <a:tc>
                  <a:txBody>
                    <a:bodyPr/>
                    <a:lstStyle/>
                    <a:p>
                      <a:pPr rtl="0">
                        <a:buNone/>
                      </a:pPr>
                      <a:r>
                        <a:rPr lang="af-ZA" sz="700" b="1" cap="none" spc="0">
                          <a:solidFill>
                            <a:schemeClr val="tx1"/>
                          </a:solidFill>
                          <a:effectLst/>
                        </a:rPr>
                        <a:t>Scenario</a:t>
                      </a:r>
                      <a:endParaRPr lang="af-ZA" sz="700" cap="none" spc="0">
                        <a:solidFill>
                          <a:schemeClr val="tx1"/>
                        </a:solidFill>
                        <a:effectLst/>
                      </a:endParaRPr>
                    </a:p>
                  </a:txBody>
                  <a:tcPr marL="38578" marR="27556" marT="45926" marB="55111"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rtl="0">
                        <a:buNone/>
                      </a:pPr>
                      <a:r>
                        <a:rPr lang="af-ZA" sz="700" cap="none" spc="0">
                          <a:solidFill>
                            <a:schemeClr val="tx1"/>
                          </a:solidFill>
                          <a:effectLst/>
                        </a:rPr>
                        <a:t>Client creates a new job listing for freelancers to bid on.</a:t>
                      </a:r>
                    </a:p>
                  </a:txBody>
                  <a:tcPr marL="38578" marR="27556" marT="45926" marB="55111"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1434861548"/>
                  </a:ext>
                </a:extLst>
              </a:tr>
              <a:tr h="343527">
                <a:tc>
                  <a:txBody>
                    <a:bodyPr/>
                    <a:lstStyle/>
                    <a:p>
                      <a:pPr rtl="0">
                        <a:buNone/>
                      </a:pPr>
                      <a:r>
                        <a:rPr lang="af-ZA" sz="700" b="1" cap="none" spc="0">
                          <a:solidFill>
                            <a:schemeClr val="tx1"/>
                          </a:solidFill>
                          <a:effectLst/>
                        </a:rPr>
                        <a:t>Triggering event</a:t>
                      </a:r>
                      <a:endParaRPr lang="af-ZA" sz="700" cap="none" spc="0">
                        <a:solidFill>
                          <a:schemeClr val="tx1"/>
                        </a:solidFill>
                        <a:effectLst/>
                      </a:endParaRPr>
                    </a:p>
                  </a:txBody>
                  <a:tcPr marL="38578" marR="27556" marT="45926" marB="55111"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A Client has a specific task (e.g., "Build a website", "Design a logo") and needs to find a student developer.</a:t>
                      </a:r>
                    </a:p>
                  </a:txBody>
                  <a:tcPr marL="38578" marR="27556" marT="45926" marB="55111"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033519952"/>
                  </a:ext>
                </a:extLst>
              </a:tr>
              <a:tr h="453750">
                <a:tc>
                  <a:txBody>
                    <a:bodyPr/>
                    <a:lstStyle/>
                    <a:p>
                      <a:pPr rtl="0">
                        <a:buNone/>
                      </a:pPr>
                      <a:r>
                        <a:rPr lang="af-ZA" sz="700" b="1" cap="none" spc="0">
                          <a:solidFill>
                            <a:schemeClr val="tx1"/>
                          </a:solidFill>
                          <a:effectLst/>
                        </a:rPr>
                        <a:t>Brief description</a:t>
                      </a:r>
                      <a:endParaRPr lang="af-ZA" sz="700" cap="none" spc="0">
                        <a:solidFill>
                          <a:schemeClr val="tx1"/>
                        </a:solidFill>
                        <a:effectLst/>
                      </a:endParaRPr>
                    </a:p>
                  </a:txBody>
                  <a:tcPr marL="38578" marR="27556" marT="45926" marB="55111"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rtl="0">
                        <a:buNone/>
                      </a:pPr>
                      <a:r>
                        <a:rPr lang="af-ZA" sz="700" cap="none" spc="0">
                          <a:solidFill>
                            <a:schemeClr val="tx1"/>
                          </a:solidFill>
                          <a:effectLst/>
                        </a:rPr>
                        <a:t>The Client fills out a job form specifying the title, detailed description, expected budget, deadline, and category. Once submitted, the job becomes visible to all verified Freelancers.</a:t>
                      </a:r>
                    </a:p>
                  </a:txBody>
                  <a:tcPr marL="38578" marR="27556" marT="45926" marB="55111"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1230070070"/>
                  </a:ext>
                </a:extLst>
              </a:tr>
              <a:tr h="233305">
                <a:tc>
                  <a:txBody>
                    <a:bodyPr/>
                    <a:lstStyle/>
                    <a:p>
                      <a:pPr rtl="0">
                        <a:buNone/>
                      </a:pPr>
                      <a:r>
                        <a:rPr lang="af-ZA" sz="700" b="1" cap="none" spc="0">
                          <a:solidFill>
                            <a:schemeClr val="tx1"/>
                          </a:solidFill>
                          <a:effectLst/>
                        </a:rPr>
                        <a:t>Actors</a:t>
                      </a:r>
                      <a:endParaRPr lang="af-ZA" sz="700" cap="none" spc="0">
                        <a:solidFill>
                          <a:schemeClr val="tx1"/>
                        </a:solidFill>
                        <a:effectLst/>
                      </a:endParaRPr>
                    </a:p>
                  </a:txBody>
                  <a:tcPr marL="38578" marR="27556" marT="45926" marB="55111"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Client.</a:t>
                      </a:r>
                    </a:p>
                  </a:txBody>
                  <a:tcPr marL="38578" marR="27556" marT="45926" marB="55111"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627691263"/>
                  </a:ext>
                </a:extLst>
              </a:tr>
              <a:tr h="233305">
                <a:tc>
                  <a:txBody>
                    <a:bodyPr/>
                    <a:lstStyle/>
                    <a:p>
                      <a:pPr rtl="0">
                        <a:buNone/>
                      </a:pPr>
                      <a:r>
                        <a:rPr lang="af-ZA" sz="700" b="1" cap="none" spc="0">
                          <a:solidFill>
                            <a:schemeClr val="tx1"/>
                          </a:solidFill>
                          <a:effectLst/>
                        </a:rPr>
                        <a:t>Related use cases</a:t>
                      </a:r>
                      <a:endParaRPr lang="af-ZA" sz="700" cap="none" spc="0">
                        <a:solidFill>
                          <a:schemeClr val="tx1"/>
                        </a:solidFill>
                        <a:effectLst/>
                      </a:endParaRPr>
                    </a:p>
                  </a:txBody>
                  <a:tcPr marL="38578" marR="27556" marT="45926" marB="55111"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rtl="0">
                        <a:buNone/>
                      </a:pPr>
                      <a:r>
                        <a:rPr lang="af-ZA" sz="700" i="1" cap="none" spc="0">
                          <a:solidFill>
                            <a:schemeClr val="tx1"/>
                          </a:solidFill>
                          <a:effectLst/>
                        </a:rPr>
                        <a:t>Login</a:t>
                      </a:r>
                      <a:r>
                        <a:rPr lang="af-ZA" sz="700" cap="none" spc="0">
                          <a:solidFill>
                            <a:schemeClr val="tx1"/>
                          </a:solidFill>
                          <a:effectLst/>
                        </a:rPr>
                        <a:t> (Pre-condition), </a:t>
                      </a:r>
                      <a:r>
                        <a:rPr lang="af-ZA" sz="700" i="1" cap="none" spc="0">
                          <a:solidFill>
                            <a:schemeClr val="tx1"/>
                          </a:solidFill>
                          <a:effectLst/>
                        </a:rPr>
                        <a:t>Review Proposals</a:t>
                      </a:r>
                      <a:r>
                        <a:rPr lang="af-ZA" sz="700" cap="none" spc="0">
                          <a:solidFill>
                            <a:schemeClr val="tx1"/>
                          </a:solidFill>
                          <a:effectLst/>
                        </a:rPr>
                        <a:t> (Follow-up).</a:t>
                      </a:r>
                    </a:p>
                  </a:txBody>
                  <a:tcPr marL="38578" marR="27556" marT="45926" marB="55111"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3661217902"/>
                  </a:ext>
                </a:extLst>
              </a:tr>
              <a:tr h="563972">
                <a:tc>
                  <a:txBody>
                    <a:bodyPr/>
                    <a:lstStyle/>
                    <a:p>
                      <a:pPr rtl="0">
                        <a:buNone/>
                      </a:pPr>
                      <a:r>
                        <a:rPr lang="af-ZA" sz="700" b="1" cap="none" spc="0">
                          <a:solidFill>
                            <a:schemeClr val="tx1"/>
                          </a:solidFill>
                          <a:effectLst/>
                        </a:rPr>
                        <a:t>Stakeholders</a:t>
                      </a:r>
                      <a:endParaRPr lang="af-ZA" sz="700" cap="none" spc="0">
                        <a:solidFill>
                          <a:schemeClr val="tx1"/>
                        </a:solidFill>
                        <a:effectLst/>
                      </a:endParaRPr>
                    </a:p>
                  </a:txBody>
                  <a:tcPr marL="38578" marR="27556" marT="45926" marB="55111"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700" b="1" cap="none" spc="0">
                          <a:solidFill>
                            <a:schemeClr val="tx1"/>
                          </a:solidFill>
                          <a:effectLst/>
                        </a:rPr>
                        <a:t>Freelancers:</a:t>
                      </a:r>
                      <a:r>
                        <a:rPr lang="af-ZA" sz="700" cap="none" spc="0">
                          <a:solidFill>
                            <a:schemeClr val="tx1"/>
                          </a:solidFill>
                          <a:effectLst/>
                        </a:rPr>
                        <a:t> Need clear requirements to submit accurate proposals.</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b="1" cap="none" spc="0">
                          <a:solidFill>
                            <a:schemeClr val="tx1"/>
                          </a:solidFill>
                          <a:effectLst/>
                        </a:rPr>
                        <a:t>Admin:</a:t>
                      </a:r>
                      <a:r>
                        <a:rPr lang="af-ZA" sz="700" cap="none" spc="0">
                          <a:solidFill>
                            <a:schemeClr val="tx1"/>
                          </a:solidFill>
                          <a:effectLst/>
                        </a:rPr>
                        <a:t> Needs to ensure no illegal or inappropriate content is posted.</a:t>
                      </a:r>
                    </a:p>
                  </a:txBody>
                  <a:tcPr marL="38578" marR="27556" marT="45926" marB="55111"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268928906"/>
                  </a:ext>
                </a:extLst>
              </a:tr>
              <a:tr h="563972">
                <a:tc>
                  <a:txBody>
                    <a:bodyPr/>
                    <a:lstStyle/>
                    <a:p>
                      <a:pPr rtl="0">
                        <a:buNone/>
                      </a:pPr>
                      <a:r>
                        <a:rPr lang="af-ZA" sz="700" b="1" cap="none" spc="0">
                          <a:solidFill>
                            <a:schemeClr val="tx1"/>
                          </a:solidFill>
                          <a:effectLst/>
                        </a:rPr>
                        <a:t>Preconditions</a:t>
                      </a:r>
                      <a:endParaRPr lang="af-ZA" sz="700" cap="none" spc="0">
                        <a:solidFill>
                          <a:schemeClr val="tx1"/>
                        </a:solidFill>
                        <a:effectLst/>
                      </a:endParaRPr>
                    </a:p>
                  </a:txBody>
                  <a:tcPr marL="38578" marR="27556" marT="45926" marB="55111"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rtl="0">
                        <a:buNone/>
                      </a:pPr>
                      <a:r>
                        <a:rPr lang="af-ZA" sz="700" cap="none" spc="0">
                          <a:solidFill>
                            <a:schemeClr val="tx1"/>
                          </a:solidFill>
                          <a:effectLst/>
                        </a:rPr>
                        <a:t>1. The Client must be logged in.</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The Client's account must be active (not suspended).</a:t>
                      </a:r>
                    </a:p>
                  </a:txBody>
                  <a:tcPr marL="38578" marR="27556" marT="45926" marB="55111"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2281600185"/>
                  </a:ext>
                </a:extLst>
              </a:tr>
              <a:tr h="563972">
                <a:tc>
                  <a:txBody>
                    <a:bodyPr/>
                    <a:lstStyle/>
                    <a:p>
                      <a:pPr rtl="0">
                        <a:buNone/>
                      </a:pPr>
                      <a:r>
                        <a:rPr lang="af-ZA" sz="700" b="1" cap="none" spc="0">
                          <a:solidFill>
                            <a:schemeClr val="tx1"/>
                          </a:solidFill>
                          <a:effectLst/>
                        </a:rPr>
                        <a:t>Postconditions</a:t>
                      </a:r>
                      <a:endParaRPr lang="af-ZA" sz="700" cap="none" spc="0">
                        <a:solidFill>
                          <a:schemeClr val="tx1"/>
                        </a:solidFill>
                        <a:effectLst/>
                      </a:endParaRPr>
                    </a:p>
                  </a:txBody>
                  <a:tcPr marL="38578" marR="27556" marT="45926" marB="55111"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1. A new "Job" record is created in the database with status "Open".</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The job appears in the "Browse Jobs" feed for Freelancers.</a:t>
                      </a:r>
                    </a:p>
                  </a:txBody>
                  <a:tcPr marL="38578" marR="27556" marT="45926" marB="55111"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4268729400"/>
                  </a:ext>
                </a:extLst>
              </a:tr>
              <a:tr h="4311537">
                <a:tc>
                  <a:txBody>
                    <a:bodyPr/>
                    <a:lstStyle/>
                    <a:p>
                      <a:pPr rtl="0">
                        <a:buNone/>
                      </a:pPr>
                      <a:r>
                        <a:rPr lang="af-ZA" sz="700" b="1" cap="none" spc="0">
                          <a:solidFill>
                            <a:schemeClr val="tx1"/>
                          </a:solidFill>
                          <a:effectLst/>
                        </a:rPr>
                        <a:t>Flow of activities</a:t>
                      </a:r>
                      <a:endParaRPr lang="af-ZA" sz="700" cap="none" spc="0">
                        <a:solidFill>
                          <a:schemeClr val="tx1"/>
                        </a:solidFill>
                        <a:effectLst/>
                      </a:endParaRPr>
                    </a:p>
                  </a:txBody>
                  <a:tcPr marL="38578" marR="27556" marT="45926" marB="55111"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rtl="0">
                        <a:buNone/>
                      </a:pPr>
                      <a:r>
                        <a:rPr lang="af-ZA" sz="700" b="1" cap="none" spc="0">
                          <a:solidFill>
                            <a:schemeClr val="tx1"/>
                          </a:solidFill>
                          <a:effectLst/>
                        </a:rPr>
                        <a:t>Actor (Client)</a:t>
                      </a:r>
                      <a:endParaRPr lang="af-ZA" sz="700" cap="none" spc="0">
                        <a:solidFill>
                          <a:schemeClr val="tx1"/>
                        </a:solidFill>
                        <a:effectLst/>
                      </a:endParaRP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1. Client navigates to the "Post Job" page.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Client enters a descriptive Title (e.g., "Fix Python Bug").</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Client writes a detailed Description of the requirements.</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4. Client selects a Category (e.g., Web Development, Graphic Design).</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5. Client sets a Budget Range (e.g., 500 - 1000 EGP) and Deadline.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6. Client clicks "Publish Job".</a:t>
                      </a:r>
                    </a:p>
                    <a:p>
                      <a:pPr rtl="0">
                        <a:buNone/>
                      </a:pPr>
                      <a:br>
                        <a:rPr lang="af-ZA" sz="700" cap="none" spc="0">
                          <a:solidFill>
                            <a:schemeClr val="tx1"/>
                          </a:solidFill>
                          <a:effectLst/>
                        </a:rPr>
                      </a:br>
                      <a:br>
                        <a:rPr lang="af-ZA" sz="700" cap="none" spc="0">
                          <a:solidFill>
                            <a:schemeClr val="tx1"/>
                          </a:solidFill>
                          <a:effectLst/>
                        </a:rPr>
                      </a:br>
                      <a:endParaRPr lang="af-ZA" sz="700" cap="none" spc="0">
                        <a:solidFill>
                          <a:schemeClr val="tx1"/>
                        </a:solidFill>
                        <a:effectLst/>
                      </a:endParaRPr>
                    </a:p>
                    <a:p>
                      <a:pPr rtl="0">
                        <a:buNone/>
                      </a:pPr>
                      <a:r>
                        <a:rPr lang="af-ZA" sz="700" b="1" cap="none" spc="0">
                          <a:solidFill>
                            <a:schemeClr val="tx1"/>
                          </a:solidFill>
                          <a:effectLst/>
                        </a:rPr>
                        <a:t>System</a:t>
                      </a:r>
                      <a:endParaRPr lang="af-ZA" sz="700" cap="none" spc="0">
                        <a:solidFill>
                          <a:schemeClr val="tx1"/>
                        </a:solidFill>
                        <a:effectLst/>
                      </a:endParaRP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1. System validates that all required fields are filled.</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System checks that the budget is a valid positive number.</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System saves the job details to the database.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4. System updates the public job feed.</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5. System displays a success message "Job Posted Successfully".</a:t>
                      </a:r>
                    </a:p>
                  </a:txBody>
                  <a:tcPr marL="38578" marR="27556" marT="45926" marB="55111"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1158403750"/>
                  </a:ext>
                </a:extLst>
              </a:tr>
              <a:tr h="784417">
                <a:tc>
                  <a:txBody>
                    <a:bodyPr/>
                    <a:lstStyle/>
                    <a:p>
                      <a:pPr rtl="0">
                        <a:buNone/>
                      </a:pPr>
                      <a:r>
                        <a:rPr lang="af-ZA" sz="700" b="1" cap="none" spc="0">
                          <a:solidFill>
                            <a:schemeClr val="tx1"/>
                          </a:solidFill>
                          <a:effectLst/>
                        </a:rPr>
                        <a:t>Exception conditions</a:t>
                      </a:r>
                      <a:endParaRPr lang="af-ZA" sz="700" cap="none" spc="0">
                        <a:solidFill>
                          <a:schemeClr val="tx1"/>
                        </a:solidFill>
                        <a:effectLst/>
                      </a:endParaRPr>
                    </a:p>
                  </a:txBody>
                  <a:tcPr marL="38578" marR="27556" marT="45926" marB="55111"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1. </a:t>
                      </a:r>
                      <a:r>
                        <a:rPr lang="af-ZA" sz="700" b="1" cap="none" spc="0">
                          <a:solidFill>
                            <a:schemeClr val="tx1"/>
                          </a:solidFill>
                          <a:effectLst/>
                        </a:rPr>
                        <a:t>Missing Information:</a:t>
                      </a:r>
                      <a:r>
                        <a:rPr lang="af-ZA" sz="700" cap="none" spc="0">
                          <a:solidFill>
                            <a:schemeClr val="tx1"/>
                          </a:solidFill>
                          <a:effectLst/>
                        </a:rPr>
                        <a:t> If the Client leaves the description blank, the system highlights the error.</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a:t>
                      </a:r>
                      <a:r>
                        <a:rPr lang="af-ZA" sz="700" b="1" cap="none" spc="0">
                          <a:solidFill>
                            <a:schemeClr val="tx1"/>
                          </a:solidFill>
                          <a:effectLst/>
                        </a:rPr>
                        <a:t>Inappropriate Content:</a:t>
                      </a:r>
                      <a:r>
                        <a:rPr lang="af-ZA" sz="700" cap="none" spc="0">
                          <a:solidFill>
                            <a:schemeClr val="tx1"/>
                          </a:solidFill>
                          <a:effectLst/>
                        </a:rPr>
                        <a:t> If the system detects banned keywords (e.g., "homework cheating"), it rejects the post and flags it for Admin review.</a:t>
                      </a:r>
                    </a:p>
                  </a:txBody>
                  <a:tcPr marL="38578" marR="27556" marT="45926" marB="55111"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348766209"/>
                  </a:ext>
                </a:extLst>
              </a:tr>
            </a:tbl>
          </a:graphicData>
        </a:graphic>
      </p:graphicFrame>
    </p:spTree>
    <p:extLst>
      <p:ext uri="{BB962C8B-B14F-4D97-AF65-F5344CB8AC3E}">
        <p14:creationId xmlns:p14="http://schemas.microsoft.com/office/powerpoint/2010/main" val="1800087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772400" cy="100583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4" name="Rectangle 13">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353" y="487445"/>
            <a:ext cx="6703695" cy="908350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7" name="جدول 6">
            <a:extLst>
              <a:ext uri="{FF2B5EF4-FFF2-40B4-BE49-F238E27FC236}">
                <a16:creationId xmlns:a16="http://schemas.microsoft.com/office/drawing/2014/main" id="{4605A12F-D2D5-4E94-1550-6B00FE512C76}"/>
              </a:ext>
            </a:extLst>
          </p:cNvPr>
          <p:cNvGraphicFramePr>
            <a:graphicFrameLocks noGrp="1"/>
          </p:cNvGraphicFramePr>
          <p:nvPr/>
        </p:nvGraphicFramePr>
        <p:xfrm>
          <a:off x="951861" y="653366"/>
          <a:ext cx="5883636" cy="8910244"/>
        </p:xfrm>
        <a:graphic>
          <a:graphicData uri="http://schemas.openxmlformats.org/drawingml/2006/table">
            <a:tbl>
              <a:tblPr bandRow="1">
                <a:solidFill>
                  <a:srgbClr val="F2F2F2">
                    <a:alpha val="30196"/>
                  </a:srgbClr>
                </a:solidFill>
                <a:tableStyleId>{5C22544A-7EE6-4342-B048-85BDC9FD1C3A}</a:tableStyleId>
              </a:tblPr>
              <a:tblGrid>
                <a:gridCol w="2597178">
                  <a:extLst>
                    <a:ext uri="{9D8B030D-6E8A-4147-A177-3AD203B41FA5}">
                      <a16:colId xmlns:a16="http://schemas.microsoft.com/office/drawing/2014/main" val="4285062261"/>
                    </a:ext>
                  </a:extLst>
                </a:gridCol>
                <a:gridCol w="3286458">
                  <a:extLst>
                    <a:ext uri="{9D8B030D-6E8A-4147-A177-3AD203B41FA5}">
                      <a16:colId xmlns:a16="http://schemas.microsoft.com/office/drawing/2014/main" val="3926197971"/>
                    </a:ext>
                  </a:extLst>
                </a:gridCol>
              </a:tblGrid>
              <a:tr h="232549">
                <a:tc>
                  <a:txBody>
                    <a:bodyPr/>
                    <a:lstStyle/>
                    <a:p>
                      <a:pPr rtl="0">
                        <a:buNone/>
                      </a:pPr>
                      <a:r>
                        <a:rPr lang="af-ZA" sz="800" b="1" cap="none" spc="0">
                          <a:solidFill>
                            <a:schemeClr val="tx1"/>
                          </a:solidFill>
                          <a:effectLst/>
                        </a:rPr>
                        <a:t>Field</a:t>
                      </a:r>
                      <a:endParaRPr lang="af-ZA" sz="800" cap="none" spc="0">
                        <a:solidFill>
                          <a:schemeClr val="tx1"/>
                        </a:solidFill>
                        <a:effectLst/>
                      </a:endParaRPr>
                    </a:p>
                  </a:txBody>
                  <a:tcPr marL="63869" marR="61412" marT="49130" marB="49130" anchor="ctr">
                    <a:lnL w="38100" cap="flat" cmpd="sng" algn="ctr">
                      <a:noFill/>
                      <a:prstDash val="solid"/>
                    </a:lnL>
                    <a:lnR w="6350" cap="flat" cmpd="sng" algn="ctr">
                      <a:solidFill>
                        <a:schemeClr val="tx1">
                          <a:lumMod val="75000"/>
                          <a:lumOff val="25000"/>
                        </a:schemeClr>
                      </a:solidFill>
                      <a:prstDash val="solid"/>
                    </a:lnR>
                    <a:lnT w="38100" cap="flat" cmpd="sng" algn="ctr">
                      <a:noFill/>
                      <a:prstDash val="solid"/>
                    </a:lnT>
                    <a:lnB w="6350" cap="flat" cmpd="sng" algn="ctr">
                      <a:noFill/>
                      <a:prstDash val="solid"/>
                    </a:lnB>
                    <a:solidFill>
                      <a:srgbClr val="F2F2F2">
                        <a:alpha val="30196"/>
                      </a:srgbClr>
                    </a:solidFill>
                  </a:tcPr>
                </a:tc>
                <a:tc>
                  <a:txBody>
                    <a:bodyPr/>
                    <a:lstStyle/>
                    <a:p>
                      <a:pPr rtl="0">
                        <a:buNone/>
                      </a:pPr>
                      <a:r>
                        <a:rPr lang="af-ZA" sz="800" b="1" cap="none" spc="0">
                          <a:solidFill>
                            <a:schemeClr val="tx1"/>
                          </a:solidFill>
                          <a:effectLst/>
                        </a:rPr>
                        <a:t>Description</a:t>
                      </a:r>
                      <a:endParaRPr lang="af-ZA" sz="800" cap="none" spc="0">
                        <a:solidFill>
                          <a:schemeClr val="tx1"/>
                        </a:solidFill>
                        <a:effectLst/>
                      </a:endParaRPr>
                    </a:p>
                  </a:txBody>
                  <a:tcPr marL="63869" marR="61412" marT="49130" marB="49130" anchor="ctr">
                    <a:lnL w="6350" cap="flat" cmpd="sng" algn="ctr">
                      <a:solidFill>
                        <a:schemeClr val="tx1">
                          <a:lumMod val="75000"/>
                          <a:lumOff val="25000"/>
                        </a:schemeClr>
                      </a:solidFill>
                      <a:prstDash val="solid"/>
                    </a:lnL>
                    <a:lnR w="38100" cap="flat" cmpd="sng" algn="ctr">
                      <a:noFill/>
                      <a:prstDash val="solid"/>
                    </a:lnR>
                    <a:lnT w="38100" cap="flat" cmpd="sng" algn="ctr">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610893284"/>
                  </a:ext>
                </a:extLst>
              </a:tr>
              <a:tr h="232549">
                <a:tc>
                  <a:txBody>
                    <a:bodyPr/>
                    <a:lstStyle/>
                    <a:p>
                      <a:pPr rtl="0">
                        <a:buNone/>
                      </a:pPr>
                      <a:r>
                        <a:rPr lang="af-ZA" sz="800" b="1" cap="none" spc="0">
                          <a:solidFill>
                            <a:schemeClr val="tx1"/>
                          </a:solidFill>
                          <a:effectLst/>
                        </a:rPr>
                        <a:t>Use case name</a:t>
                      </a:r>
                      <a:endParaRPr lang="af-ZA" sz="800" cap="none" spc="0">
                        <a:solidFill>
                          <a:schemeClr val="tx1"/>
                        </a:solidFill>
                        <a:effectLst/>
                      </a:endParaRPr>
                    </a:p>
                  </a:txBody>
                  <a:tcPr marL="63869" marR="61412" marT="49130" marB="49130"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Review Proposals</a:t>
                      </a:r>
                    </a:p>
                  </a:txBody>
                  <a:tcPr marL="63869" marR="61412" marT="49130" marB="49130"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632255524"/>
                  </a:ext>
                </a:extLst>
              </a:tr>
              <a:tr h="232549">
                <a:tc>
                  <a:txBody>
                    <a:bodyPr/>
                    <a:lstStyle/>
                    <a:p>
                      <a:pPr rtl="0">
                        <a:buNone/>
                      </a:pPr>
                      <a:r>
                        <a:rPr lang="af-ZA" sz="800" b="1" cap="none" spc="0">
                          <a:solidFill>
                            <a:schemeClr val="tx1"/>
                          </a:solidFill>
                          <a:effectLst/>
                        </a:rPr>
                        <a:t>Scenario</a:t>
                      </a:r>
                      <a:endParaRPr lang="af-ZA" sz="800" cap="none" spc="0">
                        <a:solidFill>
                          <a:schemeClr val="tx1"/>
                        </a:solidFill>
                        <a:effectLst/>
                      </a:endParaRPr>
                    </a:p>
                  </a:txBody>
                  <a:tcPr marL="63869" marR="61412" marT="49130" marB="49130"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rtl="0">
                        <a:buNone/>
                      </a:pPr>
                      <a:r>
                        <a:rPr lang="af-ZA" sz="800" cap="none" spc="0">
                          <a:solidFill>
                            <a:schemeClr val="tx1"/>
                          </a:solidFill>
                          <a:effectLst/>
                        </a:rPr>
                        <a:t>Client evaluates bids submitted by freelancers for a specific job.</a:t>
                      </a:r>
                    </a:p>
                  </a:txBody>
                  <a:tcPr marL="63869" marR="61412" marT="49130" marB="49130"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3435709217"/>
                  </a:ext>
                </a:extLst>
              </a:tr>
              <a:tr h="347185">
                <a:tc>
                  <a:txBody>
                    <a:bodyPr/>
                    <a:lstStyle/>
                    <a:p>
                      <a:pPr rtl="0">
                        <a:buNone/>
                      </a:pPr>
                      <a:r>
                        <a:rPr lang="af-ZA" sz="800" b="1" cap="none" spc="0">
                          <a:solidFill>
                            <a:schemeClr val="tx1"/>
                          </a:solidFill>
                          <a:effectLst/>
                        </a:rPr>
                        <a:t>Triggering event</a:t>
                      </a:r>
                      <a:endParaRPr lang="af-ZA" sz="800" cap="none" spc="0">
                        <a:solidFill>
                          <a:schemeClr val="tx1"/>
                        </a:solidFill>
                        <a:effectLst/>
                      </a:endParaRPr>
                    </a:p>
                  </a:txBody>
                  <a:tcPr marL="63869" marR="61412" marT="49130" marB="49130"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One or more Freelancers have submitted proposals to a job the Client posted, and the Client wants to select a candidate.</a:t>
                      </a:r>
                    </a:p>
                  </a:txBody>
                  <a:tcPr marL="63869" marR="61412" marT="49130" marB="49130"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9803445"/>
                  </a:ext>
                </a:extLst>
              </a:tr>
              <a:tr h="576458">
                <a:tc>
                  <a:txBody>
                    <a:bodyPr/>
                    <a:lstStyle/>
                    <a:p>
                      <a:pPr rtl="0">
                        <a:buNone/>
                      </a:pPr>
                      <a:r>
                        <a:rPr lang="af-ZA" sz="800" b="1" cap="none" spc="0">
                          <a:solidFill>
                            <a:schemeClr val="tx1"/>
                          </a:solidFill>
                          <a:effectLst/>
                        </a:rPr>
                        <a:t>Brief description</a:t>
                      </a:r>
                      <a:endParaRPr lang="af-ZA" sz="800" cap="none" spc="0">
                        <a:solidFill>
                          <a:schemeClr val="tx1"/>
                        </a:solidFill>
                        <a:effectLst/>
                      </a:endParaRPr>
                    </a:p>
                  </a:txBody>
                  <a:tcPr marL="63869" marR="61412" marT="49130" marB="49130"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rtl="0">
                        <a:buNone/>
                      </a:pPr>
                      <a:r>
                        <a:rPr lang="af-ZA" sz="800" cap="none" spc="0">
                          <a:solidFill>
                            <a:schemeClr val="tx1"/>
                          </a:solidFill>
                          <a:effectLst/>
                        </a:rPr>
                        <a:t>The Client views a list of all proposals for their job. They can see the Freelancer's name, price quote, estimated timeline, and university verification status. The Client can then choose to accept a proposal or ignore it.</a:t>
                      </a:r>
                    </a:p>
                  </a:txBody>
                  <a:tcPr marL="63869" marR="61412" marT="49130" marB="49130"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2237942039"/>
                  </a:ext>
                </a:extLst>
              </a:tr>
              <a:tr h="232549">
                <a:tc>
                  <a:txBody>
                    <a:bodyPr/>
                    <a:lstStyle/>
                    <a:p>
                      <a:pPr rtl="0">
                        <a:buNone/>
                      </a:pPr>
                      <a:r>
                        <a:rPr lang="af-ZA" sz="800" b="1" cap="none" spc="0">
                          <a:solidFill>
                            <a:schemeClr val="tx1"/>
                          </a:solidFill>
                          <a:effectLst/>
                        </a:rPr>
                        <a:t>Actors</a:t>
                      </a:r>
                      <a:endParaRPr lang="af-ZA" sz="800" cap="none" spc="0">
                        <a:solidFill>
                          <a:schemeClr val="tx1"/>
                        </a:solidFill>
                        <a:effectLst/>
                      </a:endParaRPr>
                    </a:p>
                  </a:txBody>
                  <a:tcPr marL="63869" marR="61412" marT="49130" marB="49130"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Client.</a:t>
                      </a:r>
                    </a:p>
                  </a:txBody>
                  <a:tcPr marL="63869" marR="61412" marT="49130" marB="49130"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401601645"/>
                  </a:ext>
                </a:extLst>
              </a:tr>
              <a:tr h="232549">
                <a:tc>
                  <a:txBody>
                    <a:bodyPr/>
                    <a:lstStyle/>
                    <a:p>
                      <a:pPr rtl="0">
                        <a:buNone/>
                      </a:pPr>
                      <a:r>
                        <a:rPr lang="af-ZA" sz="800" b="1" cap="none" spc="0">
                          <a:solidFill>
                            <a:schemeClr val="tx1"/>
                          </a:solidFill>
                          <a:effectLst/>
                        </a:rPr>
                        <a:t>Related use cases</a:t>
                      </a:r>
                      <a:endParaRPr lang="af-ZA" sz="800" cap="none" spc="0">
                        <a:solidFill>
                          <a:schemeClr val="tx1"/>
                        </a:solidFill>
                        <a:effectLst/>
                      </a:endParaRPr>
                    </a:p>
                  </a:txBody>
                  <a:tcPr marL="63869" marR="61412" marT="49130" marB="49130"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rtl="0">
                        <a:buNone/>
                      </a:pPr>
                      <a:r>
                        <a:rPr lang="af-ZA" sz="800" i="1" cap="none" spc="0">
                          <a:solidFill>
                            <a:schemeClr val="tx1"/>
                          </a:solidFill>
                          <a:effectLst/>
                        </a:rPr>
                        <a:t>Post New Job</a:t>
                      </a:r>
                      <a:r>
                        <a:rPr lang="af-ZA" sz="800" cap="none" spc="0">
                          <a:solidFill>
                            <a:schemeClr val="tx1"/>
                          </a:solidFill>
                          <a:effectLst/>
                        </a:rPr>
                        <a:t> (Predecessor), </a:t>
                      </a:r>
                      <a:r>
                        <a:rPr lang="af-ZA" sz="800" i="1" cap="none" spc="0">
                          <a:solidFill>
                            <a:schemeClr val="tx1"/>
                          </a:solidFill>
                          <a:effectLst/>
                        </a:rPr>
                        <a:t>Pay Deposit</a:t>
                      </a:r>
                      <a:r>
                        <a:rPr lang="af-ZA" sz="800" cap="none" spc="0">
                          <a:solidFill>
                            <a:schemeClr val="tx1"/>
                          </a:solidFill>
                          <a:effectLst/>
                        </a:rPr>
                        <a:t> (Successor).</a:t>
                      </a:r>
                    </a:p>
                  </a:txBody>
                  <a:tcPr marL="63869" marR="61412" marT="49130" marB="49130"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2632213960"/>
                  </a:ext>
                </a:extLst>
              </a:tr>
              <a:tr h="691094">
                <a:tc>
                  <a:txBody>
                    <a:bodyPr/>
                    <a:lstStyle/>
                    <a:p>
                      <a:pPr rtl="0">
                        <a:buNone/>
                      </a:pPr>
                      <a:r>
                        <a:rPr lang="af-ZA" sz="800" b="1" cap="none" spc="0">
                          <a:solidFill>
                            <a:schemeClr val="tx1"/>
                          </a:solidFill>
                          <a:effectLst/>
                        </a:rPr>
                        <a:t>Stakeholders</a:t>
                      </a:r>
                      <a:endParaRPr lang="af-ZA" sz="800" cap="none" spc="0">
                        <a:solidFill>
                          <a:schemeClr val="tx1"/>
                        </a:solidFill>
                        <a:effectLst/>
                      </a:endParaRPr>
                    </a:p>
                  </a:txBody>
                  <a:tcPr marL="63869" marR="61412" marT="49130" marB="49130"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rtl="0">
                        <a:buNone/>
                      </a:pPr>
                      <a:r>
                        <a:rPr lang="af-ZA" sz="800" b="1" cap="none" spc="0">
                          <a:solidFill>
                            <a:schemeClr val="tx1"/>
                          </a:solidFill>
                          <a:effectLst/>
                        </a:rPr>
                        <a:t>Freelancers:</a:t>
                      </a:r>
                      <a:r>
                        <a:rPr lang="af-ZA" sz="800" cap="none" spc="0">
                          <a:solidFill>
                            <a:schemeClr val="tx1"/>
                          </a:solidFill>
                          <a:effectLst/>
                        </a:rPr>
                        <a:t> Waiting for a response to start work.</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b="1" cap="none" spc="0">
                          <a:solidFill>
                            <a:schemeClr val="tx1"/>
                          </a:solidFill>
                          <a:effectLst/>
                        </a:rPr>
                        <a:t>Platform Admin:</a:t>
                      </a:r>
                      <a:r>
                        <a:rPr lang="af-ZA" sz="800" cap="none" spc="0">
                          <a:solidFill>
                            <a:schemeClr val="tx1"/>
                          </a:solidFill>
                          <a:effectLst/>
                        </a:rPr>
                        <a:t> Wants matches to occur so transaction fees are generated.</a:t>
                      </a:r>
                    </a:p>
                  </a:txBody>
                  <a:tcPr marL="63869" marR="61412" marT="49130" marB="49130"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871513343"/>
                  </a:ext>
                </a:extLst>
              </a:tr>
              <a:tr h="576458">
                <a:tc>
                  <a:txBody>
                    <a:bodyPr/>
                    <a:lstStyle/>
                    <a:p>
                      <a:pPr rtl="0">
                        <a:buNone/>
                      </a:pPr>
                      <a:r>
                        <a:rPr lang="af-ZA" sz="800" b="1" cap="none" spc="0">
                          <a:solidFill>
                            <a:schemeClr val="tx1"/>
                          </a:solidFill>
                          <a:effectLst/>
                        </a:rPr>
                        <a:t>Preconditions</a:t>
                      </a:r>
                      <a:endParaRPr lang="af-ZA" sz="800" cap="none" spc="0">
                        <a:solidFill>
                          <a:schemeClr val="tx1"/>
                        </a:solidFill>
                        <a:effectLst/>
                      </a:endParaRPr>
                    </a:p>
                  </a:txBody>
                  <a:tcPr marL="63869" marR="61412" marT="49130" marB="49130"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rtl="0">
                        <a:buNone/>
                      </a:pPr>
                      <a:r>
                        <a:rPr lang="af-ZA" sz="800" cap="none" spc="0">
                          <a:solidFill>
                            <a:schemeClr val="tx1"/>
                          </a:solidFill>
                          <a:effectLst/>
                        </a:rPr>
                        <a:t>1. The Client must have at least one active job posted.</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At least one Freelancer must have submitted a proposal.</a:t>
                      </a:r>
                    </a:p>
                  </a:txBody>
                  <a:tcPr marL="63869" marR="61412" marT="49130" marB="49130"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288286168"/>
                  </a:ext>
                </a:extLst>
              </a:tr>
              <a:tr h="805730">
                <a:tc>
                  <a:txBody>
                    <a:bodyPr/>
                    <a:lstStyle/>
                    <a:p>
                      <a:pPr rtl="0">
                        <a:buNone/>
                      </a:pPr>
                      <a:r>
                        <a:rPr lang="af-ZA" sz="800" b="1" cap="none" spc="0">
                          <a:solidFill>
                            <a:schemeClr val="tx1"/>
                          </a:solidFill>
                          <a:effectLst/>
                        </a:rPr>
                        <a:t>Postconditions</a:t>
                      </a:r>
                      <a:endParaRPr lang="af-ZA" sz="800" cap="none" spc="0">
                        <a:solidFill>
                          <a:schemeClr val="tx1"/>
                        </a:solidFill>
                        <a:effectLst/>
                      </a:endParaRPr>
                    </a:p>
                  </a:txBody>
                  <a:tcPr marL="63869" marR="61412" marT="49130" marB="49130"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1. If accepted: The Proposal status updates to "Accepted" and the Client is taken to the Payment screen.</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If rejected/ignored: The Proposal remains pending or is marked as "Rejected".</a:t>
                      </a:r>
                    </a:p>
                  </a:txBody>
                  <a:tcPr marL="63869" marR="61412" marT="49130" marB="49130"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672946606"/>
                  </a:ext>
                </a:extLst>
              </a:tr>
              <a:tr h="3900911">
                <a:tc>
                  <a:txBody>
                    <a:bodyPr/>
                    <a:lstStyle/>
                    <a:p>
                      <a:pPr rtl="0">
                        <a:buNone/>
                      </a:pPr>
                      <a:r>
                        <a:rPr lang="af-ZA" sz="800" b="1" cap="none" spc="0">
                          <a:solidFill>
                            <a:schemeClr val="tx1"/>
                          </a:solidFill>
                          <a:effectLst/>
                        </a:rPr>
                        <a:t>Flow of activities</a:t>
                      </a:r>
                      <a:endParaRPr lang="af-ZA" sz="800" cap="none" spc="0">
                        <a:solidFill>
                          <a:schemeClr val="tx1"/>
                        </a:solidFill>
                        <a:effectLst/>
                      </a:endParaRPr>
                    </a:p>
                  </a:txBody>
                  <a:tcPr marL="63869" marR="61412" marT="49130" marB="49130"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rtl="0">
                        <a:buNone/>
                      </a:pPr>
                      <a:r>
                        <a:rPr lang="af-ZA" sz="800" b="1" cap="none" spc="0">
                          <a:solidFill>
                            <a:schemeClr val="tx1"/>
                          </a:solidFill>
                          <a:effectLst/>
                        </a:rPr>
                        <a:t>Actor (Client)</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Client navigates to their "My Jobs" dashboard.</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Client clicks on a specific job title.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Client scrolls through the list of received proposals.</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4. Client reviews the details (Price, Message, Student Profile).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5. Client clicks "Accept Proposal" on the chosen candidate.</a:t>
                      </a:r>
                    </a:p>
                    <a:p>
                      <a:pPr rtl="0">
                        <a:buNone/>
                      </a:pPr>
                      <a:br>
                        <a:rPr lang="af-ZA" sz="800" cap="none" spc="0">
                          <a:solidFill>
                            <a:schemeClr val="tx1"/>
                          </a:solidFill>
                          <a:effectLst/>
                        </a:rPr>
                      </a:br>
                      <a:br>
                        <a:rPr lang="af-ZA" sz="800" cap="none" spc="0">
                          <a:solidFill>
                            <a:schemeClr val="tx1"/>
                          </a:solidFill>
                          <a:effectLst/>
                        </a:rPr>
                      </a:br>
                      <a:endParaRPr lang="af-ZA" sz="800" cap="none" spc="0">
                        <a:solidFill>
                          <a:schemeClr val="tx1"/>
                        </a:solidFill>
                        <a:effectLst/>
                      </a:endParaRPr>
                    </a:p>
                    <a:p>
                      <a:pPr rtl="0">
                        <a:buNone/>
                      </a:pPr>
                      <a:r>
                        <a:rPr lang="af-ZA" sz="800" b="1" cap="none" spc="0">
                          <a:solidFill>
                            <a:schemeClr val="tx1"/>
                          </a:solidFill>
                          <a:effectLst/>
                        </a:rPr>
                        <a:t>System</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System retrieves all proposals linked to that Job ID from the database.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System displays proposals in a list.</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When "Accept" is clicked, system locks the proposal.</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4. System redirects the Client to the "Pay Deposit" page to fund the escrow.</a:t>
                      </a:r>
                    </a:p>
                  </a:txBody>
                  <a:tcPr marL="63869" marR="61412" marT="49130" marB="49130"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3238902603"/>
                  </a:ext>
                </a:extLst>
              </a:tr>
              <a:tr h="691094">
                <a:tc>
                  <a:txBody>
                    <a:bodyPr/>
                    <a:lstStyle/>
                    <a:p>
                      <a:pPr rtl="0">
                        <a:buNone/>
                      </a:pPr>
                      <a:r>
                        <a:rPr lang="af-ZA" sz="800" b="1" cap="none" spc="0">
                          <a:solidFill>
                            <a:schemeClr val="tx1"/>
                          </a:solidFill>
                          <a:effectLst/>
                        </a:rPr>
                        <a:t>Exception conditions</a:t>
                      </a:r>
                      <a:endParaRPr lang="af-ZA" sz="800" cap="none" spc="0">
                        <a:solidFill>
                          <a:schemeClr val="tx1"/>
                        </a:solidFill>
                        <a:effectLst/>
                      </a:endParaRPr>
                    </a:p>
                  </a:txBody>
                  <a:tcPr marL="63869" marR="61412" marT="49130" marB="49130"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1. </a:t>
                      </a:r>
                      <a:r>
                        <a:rPr lang="af-ZA" sz="800" b="1" cap="none" spc="0">
                          <a:solidFill>
                            <a:schemeClr val="tx1"/>
                          </a:solidFill>
                          <a:effectLst/>
                        </a:rPr>
                        <a:t>No Proposals:</a:t>
                      </a:r>
                      <a:r>
                        <a:rPr lang="af-ZA" sz="800" cap="none" spc="0">
                          <a:solidFill>
                            <a:schemeClr val="tx1"/>
                          </a:solidFill>
                          <a:effectLst/>
                        </a:rPr>
                        <a:t> System displays "No proposals yet" message.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a:t>
                      </a:r>
                      <a:r>
                        <a:rPr lang="af-ZA" sz="800" b="1" cap="none" spc="0">
                          <a:solidFill>
                            <a:schemeClr val="tx1"/>
                          </a:solidFill>
                          <a:effectLst/>
                        </a:rPr>
                        <a:t>Job Closed:</a:t>
                      </a:r>
                      <a:r>
                        <a:rPr lang="af-ZA" sz="800" cap="none" spc="0">
                          <a:solidFill>
                            <a:schemeClr val="tx1"/>
                          </a:solidFill>
                          <a:effectLst/>
                        </a:rPr>
                        <a:t> If the job was already cancelled or completed, the system prevents reviewing new proposals.</a:t>
                      </a:r>
                    </a:p>
                  </a:txBody>
                  <a:tcPr marL="63869" marR="61412" marT="49130" marB="49130"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41401050"/>
                  </a:ext>
                </a:extLst>
              </a:tr>
            </a:tbl>
          </a:graphicData>
        </a:graphic>
      </p:graphicFrame>
    </p:spTree>
    <p:extLst>
      <p:ext uri="{BB962C8B-B14F-4D97-AF65-F5344CB8AC3E}">
        <p14:creationId xmlns:p14="http://schemas.microsoft.com/office/powerpoint/2010/main" val="1949557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772400" cy="100583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2" name="Rectangle 11">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353" y="487445"/>
            <a:ext cx="6703695" cy="908350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5" name="جدول 4">
            <a:extLst>
              <a:ext uri="{FF2B5EF4-FFF2-40B4-BE49-F238E27FC236}">
                <a16:creationId xmlns:a16="http://schemas.microsoft.com/office/drawing/2014/main" id="{EA93D651-4CFA-C71D-375F-91A9F8A28D2B}"/>
              </a:ext>
            </a:extLst>
          </p:cNvPr>
          <p:cNvGraphicFramePr>
            <a:graphicFrameLocks noGrp="1"/>
          </p:cNvGraphicFramePr>
          <p:nvPr/>
        </p:nvGraphicFramePr>
        <p:xfrm>
          <a:off x="843935" y="653366"/>
          <a:ext cx="6099488" cy="8855214"/>
        </p:xfrm>
        <a:graphic>
          <a:graphicData uri="http://schemas.openxmlformats.org/drawingml/2006/table">
            <a:tbl>
              <a:tblPr bandRow="1">
                <a:noFill/>
                <a:tableStyleId>{5C22544A-7EE6-4342-B048-85BDC9FD1C3A}</a:tableStyleId>
              </a:tblPr>
              <a:tblGrid>
                <a:gridCol w="2399238">
                  <a:extLst>
                    <a:ext uri="{9D8B030D-6E8A-4147-A177-3AD203B41FA5}">
                      <a16:colId xmlns:a16="http://schemas.microsoft.com/office/drawing/2014/main" val="656338553"/>
                    </a:ext>
                  </a:extLst>
                </a:gridCol>
                <a:gridCol w="3700250">
                  <a:extLst>
                    <a:ext uri="{9D8B030D-6E8A-4147-A177-3AD203B41FA5}">
                      <a16:colId xmlns:a16="http://schemas.microsoft.com/office/drawing/2014/main" val="2326266504"/>
                    </a:ext>
                  </a:extLst>
                </a:gridCol>
              </a:tblGrid>
              <a:tr h="218202">
                <a:tc>
                  <a:txBody>
                    <a:bodyPr/>
                    <a:lstStyle/>
                    <a:p>
                      <a:pPr rtl="0">
                        <a:buNone/>
                      </a:pPr>
                      <a:r>
                        <a:rPr lang="af-ZA" sz="800" b="1" cap="none" spc="0">
                          <a:solidFill>
                            <a:schemeClr val="tx1"/>
                          </a:solidFill>
                          <a:effectLst/>
                        </a:rPr>
                        <a:t>Field</a:t>
                      </a:r>
                      <a:endParaRPr lang="af-ZA" sz="800" cap="none" spc="0">
                        <a:solidFill>
                          <a:schemeClr val="tx1"/>
                        </a:solidFill>
                        <a:effectLst/>
                      </a:endParaRPr>
                    </a:p>
                  </a:txBody>
                  <a:tcPr marL="0" marR="73717" marT="17692" marB="58973" anchor="ctr">
                    <a:lnL w="12700" cmpd="sng">
                      <a:noFill/>
                      <a:prstDash val="solid"/>
                    </a:lnL>
                    <a:lnR w="12700" cmpd="sng">
                      <a:noFill/>
                      <a:prstDash val="solid"/>
                    </a:lnR>
                    <a:lnT w="9525" cap="flat" cmpd="sng" algn="ctr">
                      <a:solidFill>
                        <a:schemeClr val="tx1"/>
                      </a:solidFill>
                      <a:prstDash val="solid"/>
                    </a:lnT>
                    <a:lnB w="9525" cap="flat" cmpd="sng" algn="ctr">
                      <a:solidFill>
                        <a:schemeClr val="tx1"/>
                      </a:solidFill>
                      <a:prstDash val="solid"/>
                    </a:lnB>
                    <a:noFill/>
                  </a:tcPr>
                </a:tc>
                <a:tc>
                  <a:txBody>
                    <a:bodyPr/>
                    <a:lstStyle/>
                    <a:p>
                      <a:pPr rtl="0">
                        <a:buNone/>
                      </a:pPr>
                      <a:r>
                        <a:rPr lang="af-ZA" sz="800" b="1" cap="none" spc="0">
                          <a:solidFill>
                            <a:schemeClr val="tx1"/>
                          </a:solidFill>
                          <a:effectLst/>
                        </a:rPr>
                        <a:t>Description</a:t>
                      </a:r>
                      <a:endParaRPr lang="af-ZA" sz="800" cap="none" spc="0">
                        <a:solidFill>
                          <a:schemeClr val="tx1"/>
                        </a:solidFill>
                        <a:effectLst/>
                      </a:endParaRPr>
                    </a:p>
                  </a:txBody>
                  <a:tcPr marL="0" marR="73717" marT="17692" marB="58973" anchor="ctr">
                    <a:lnL w="12700" cmpd="sng">
                      <a:noFill/>
                      <a:prstDash val="solid"/>
                    </a:lnL>
                    <a:lnR w="12700" cmpd="sng">
                      <a:noFill/>
                      <a:prstDash val="solid"/>
                    </a:lnR>
                    <a:lnT w="9525" cap="flat" cmpd="sng" algn="ctr">
                      <a:solidFill>
                        <a:schemeClr val="tx1"/>
                      </a:solidFill>
                      <a:prstDash val="solid"/>
                    </a:lnT>
                    <a:lnB w="9525" cap="flat" cmpd="sng" algn="ctr">
                      <a:solidFill>
                        <a:schemeClr val="tx1"/>
                      </a:solidFill>
                      <a:prstDash val="solid"/>
                    </a:lnB>
                    <a:noFill/>
                  </a:tcPr>
                </a:tc>
                <a:extLst>
                  <a:ext uri="{0D108BD9-81ED-4DB2-BD59-A6C34878D82A}">
                    <a16:rowId xmlns:a16="http://schemas.microsoft.com/office/drawing/2014/main" val="129877561"/>
                  </a:ext>
                </a:extLst>
              </a:tr>
              <a:tr h="218202">
                <a:tc>
                  <a:txBody>
                    <a:bodyPr/>
                    <a:lstStyle/>
                    <a:p>
                      <a:pPr rtl="0">
                        <a:buNone/>
                      </a:pPr>
                      <a:r>
                        <a:rPr lang="af-ZA" sz="800" b="1" cap="none" spc="0">
                          <a:solidFill>
                            <a:schemeClr val="tx1"/>
                          </a:solidFill>
                          <a:effectLst/>
                        </a:rPr>
                        <a:t>Use case name</a:t>
                      </a:r>
                      <a:endParaRPr lang="af-ZA" sz="800" cap="none" spc="0">
                        <a:solidFill>
                          <a:schemeClr val="tx1"/>
                        </a:solidFill>
                        <a:effectLst/>
                      </a:endParaRPr>
                    </a:p>
                  </a:txBody>
                  <a:tcPr marL="0" marR="73717" marT="17692" marB="5897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Pay Deposit (Escrow)</a:t>
                      </a:r>
                    </a:p>
                  </a:txBody>
                  <a:tcPr marL="0" marR="73717" marT="17692" marB="5897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453605185"/>
                  </a:ext>
                </a:extLst>
              </a:tr>
              <a:tr h="218202">
                <a:tc>
                  <a:txBody>
                    <a:bodyPr/>
                    <a:lstStyle/>
                    <a:p>
                      <a:pPr rtl="0">
                        <a:buNone/>
                      </a:pPr>
                      <a:r>
                        <a:rPr lang="af-ZA" sz="800" b="1" cap="none" spc="0">
                          <a:solidFill>
                            <a:schemeClr val="tx1"/>
                          </a:solidFill>
                          <a:effectLst/>
                        </a:rPr>
                        <a:t>Scenario</a:t>
                      </a:r>
                      <a:endParaRPr lang="af-ZA" sz="800" cap="none" spc="0">
                        <a:solidFill>
                          <a:schemeClr val="tx1"/>
                        </a:solidFill>
                        <a:effectLst/>
                      </a:endParaRPr>
                    </a:p>
                  </a:txBody>
                  <a:tcPr marL="0" marR="73717" marT="17692" marB="5897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rtl="0">
                        <a:buNone/>
                      </a:pPr>
                      <a:r>
                        <a:rPr lang="af-ZA" sz="800" cap="none" spc="0">
                          <a:solidFill>
                            <a:schemeClr val="tx1"/>
                          </a:solidFill>
                          <a:effectLst/>
                        </a:rPr>
                        <a:t>Client transfers funds to the secure system holding account to start the project.</a:t>
                      </a:r>
                    </a:p>
                  </a:txBody>
                  <a:tcPr marL="0" marR="73717" marT="17692" marB="5897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3793042198"/>
                  </a:ext>
                </a:extLst>
              </a:tr>
              <a:tr h="336149">
                <a:tc>
                  <a:txBody>
                    <a:bodyPr/>
                    <a:lstStyle/>
                    <a:p>
                      <a:pPr rtl="0">
                        <a:buNone/>
                      </a:pPr>
                      <a:r>
                        <a:rPr lang="af-ZA" sz="800" b="1" cap="none" spc="0">
                          <a:solidFill>
                            <a:schemeClr val="tx1"/>
                          </a:solidFill>
                          <a:effectLst/>
                        </a:rPr>
                        <a:t>Triggering event</a:t>
                      </a:r>
                      <a:endParaRPr lang="af-ZA" sz="800" cap="none" spc="0">
                        <a:solidFill>
                          <a:schemeClr val="tx1"/>
                        </a:solidFill>
                        <a:effectLst/>
                      </a:endParaRPr>
                    </a:p>
                  </a:txBody>
                  <a:tcPr marL="0" marR="73717" marT="17692" marB="5897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Client has clicked "Accept Proposal" and must fund the project before the Freelancer can begin work.</a:t>
                      </a:r>
                    </a:p>
                  </a:txBody>
                  <a:tcPr marL="0" marR="73717" marT="17692" marB="5897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911116838"/>
                  </a:ext>
                </a:extLst>
              </a:tr>
              <a:tr h="454096">
                <a:tc>
                  <a:txBody>
                    <a:bodyPr/>
                    <a:lstStyle/>
                    <a:p>
                      <a:pPr rtl="0">
                        <a:buNone/>
                      </a:pPr>
                      <a:r>
                        <a:rPr lang="af-ZA" sz="800" b="1" cap="none" spc="0">
                          <a:solidFill>
                            <a:schemeClr val="tx1"/>
                          </a:solidFill>
                          <a:effectLst/>
                        </a:rPr>
                        <a:t>Brief description</a:t>
                      </a:r>
                      <a:endParaRPr lang="af-ZA" sz="800" cap="none" spc="0">
                        <a:solidFill>
                          <a:schemeClr val="tx1"/>
                        </a:solidFill>
                        <a:effectLst/>
                      </a:endParaRPr>
                    </a:p>
                  </a:txBody>
                  <a:tcPr marL="0" marR="73717" marT="17692" marB="5897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rtl="0">
                        <a:buNone/>
                      </a:pPr>
                      <a:r>
                        <a:rPr lang="af-ZA" sz="800" cap="none" spc="0">
                          <a:solidFill>
                            <a:schemeClr val="tx1"/>
                          </a:solidFill>
                          <a:effectLst/>
                        </a:rPr>
                        <a:t>The Client is redirected to the payment gateway (Paymob integration). They choose a payment method (InstaPay, Wallet, or Card) and transfer the agreed amount. The system holds this money (Escrow) and notifies the Freelancer to start.</a:t>
                      </a:r>
                    </a:p>
                  </a:txBody>
                  <a:tcPr marL="0" marR="73717" marT="17692" marB="5897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1688044492"/>
                  </a:ext>
                </a:extLst>
              </a:tr>
              <a:tr h="218202">
                <a:tc>
                  <a:txBody>
                    <a:bodyPr/>
                    <a:lstStyle/>
                    <a:p>
                      <a:pPr rtl="0">
                        <a:buNone/>
                      </a:pPr>
                      <a:r>
                        <a:rPr lang="af-ZA" sz="800" b="1" cap="none" spc="0">
                          <a:solidFill>
                            <a:schemeClr val="tx1"/>
                          </a:solidFill>
                          <a:effectLst/>
                        </a:rPr>
                        <a:t>Actors</a:t>
                      </a:r>
                      <a:endParaRPr lang="af-ZA" sz="800" cap="none" spc="0">
                        <a:solidFill>
                          <a:schemeClr val="tx1"/>
                        </a:solidFill>
                        <a:effectLst/>
                      </a:endParaRPr>
                    </a:p>
                  </a:txBody>
                  <a:tcPr marL="0" marR="73717" marT="17692" marB="5897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Client, External Payment Gateway (Paymob).</a:t>
                      </a:r>
                    </a:p>
                  </a:txBody>
                  <a:tcPr marL="0" marR="73717" marT="17692" marB="5897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469525952"/>
                  </a:ext>
                </a:extLst>
              </a:tr>
              <a:tr h="218202">
                <a:tc>
                  <a:txBody>
                    <a:bodyPr/>
                    <a:lstStyle/>
                    <a:p>
                      <a:pPr rtl="0">
                        <a:buNone/>
                      </a:pPr>
                      <a:r>
                        <a:rPr lang="af-ZA" sz="800" b="1" cap="none" spc="0">
                          <a:solidFill>
                            <a:schemeClr val="tx1"/>
                          </a:solidFill>
                          <a:effectLst/>
                        </a:rPr>
                        <a:t>Related use cases</a:t>
                      </a:r>
                      <a:endParaRPr lang="af-ZA" sz="800" cap="none" spc="0">
                        <a:solidFill>
                          <a:schemeClr val="tx1"/>
                        </a:solidFill>
                        <a:effectLst/>
                      </a:endParaRPr>
                    </a:p>
                  </a:txBody>
                  <a:tcPr marL="0" marR="73717" marT="17692" marB="5897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rtl="0">
                        <a:buNone/>
                      </a:pPr>
                      <a:r>
                        <a:rPr lang="af-ZA" sz="800" i="1" cap="none" spc="0">
                          <a:solidFill>
                            <a:schemeClr val="tx1"/>
                          </a:solidFill>
                          <a:effectLst/>
                        </a:rPr>
                        <a:t>Review Proposals</a:t>
                      </a:r>
                      <a:r>
                        <a:rPr lang="af-ZA" sz="800" cap="none" spc="0">
                          <a:solidFill>
                            <a:schemeClr val="tx1"/>
                          </a:solidFill>
                          <a:effectLst/>
                        </a:rPr>
                        <a:t> (Predecessor), </a:t>
                      </a:r>
                      <a:r>
                        <a:rPr lang="af-ZA" sz="800" i="1" cap="none" spc="0">
                          <a:solidFill>
                            <a:schemeClr val="tx1"/>
                          </a:solidFill>
                          <a:effectLst/>
                        </a:rPr>
                        <a:t>Process Payments</a:t>
                      </a:r>
                      <a:r>
                        <a:rPr lang="af-ZA" sz="800" cap="none" spc="0">
                          <a:solidFill>
                            <a:schemeClr val="tx1"/>
                          </a:solidFill>
                          <a:effectLst/>
                        </a:rPr>
                        <a:t> (System internal).</a:t>
                      </a:r>
                    </a:p>
                  </a:txBody>
                  <a:tcPr marL="0" marR="73717" marT="17692" marB="5897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1250628935"/>
                  </a:ext>
                </a:extLst>
              </a:tr>
              <a:tr h="572043">
                <a:tc>
                  <a:txBody>
                    <a:bodyPr/>
                    <a:lstStyle/>
                    <a:p>
                      <a:pPr rtl="0">
                        <a:buNone/>
                      </a:pPr>
                      <a:r>
                        <a:rPr lang="af-ZA" sz="800" b="1" cap="none" spc="0">
                          <a:solidFill>
                            <a:schemeClr val="tx1"/>
                          </a:solidFill>
                          <a:effectLst/>
                        </a:rPr>
                        <a:t>Stakeholders</a:t>
                      </a:r>
                      <a:endParaRPr lang="af-ZA" sz="800" cap="none" spc="0">
                        <a:solidFill>
                          <a:schemeClr val="tx1"/>
                        </a:solidFill>
                        <a:effectLst/>
                      </a:endParaRPr>
                    </a:p>
                  </a:txBody>
                  <a:tcPr marL="0" marR="73717" marT="17692" marB="5897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b="1" cap="none" spc="0">
                          <a:solidFill>
                            <a:schemeClr val="tx1"/>
                          </a:solidFill>
                          <a:effectLst/>
                        </a:rPr>
                        <a:t>Freelancer:</a:t>
                      </a:r>
                      <a:r>
                        <a:rPr lang="af-ZA" sz="800" cap="none" spc="0">
                          <a:solidFill>
                            <a:schemeClr val="tx1"/>
                          </a:solidFill>
                          <a:effectLst/>
                        </a:rPr>
                        <a:t> Needs assurance that the money exists before working.</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b="1" cap="none" spc="0">
                          <a:solidFill>
                            <a:schemeClr val="tx1"/>
                          </a:solidFill>
                          <a:effectLst/>
                        </a:rPr>
                        <a:t>Sho8la (Platform):</a:t>
                      </a:r>
                      <a:r>
                        <a:rPr lang="af-ZA" sz="800" cap="none" spc="0">
                          <a:solidFill>
                            <a:schemeClr val="tx1"/>
                          </a:solidFill>
                          <a:effectLst/>
                        </a:rPr>
                        <a:t> Holds the money to ensure safety and takes a commission fee.</a:t>
                      </a:r>
                    </a:p>
                  </a:txBody>
                  <a:tcPr marL="0" marR="73717" marT="17692" marB="5897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965002474"/>
                  </a:ext>
                </a:extLst>
              </a:tr>
              <a:tr h="572043">
                <a:tc>
                  <a:txBody>
                    <a:bodyPr/>
                    <a:lstStyle/>
                    <a:p>
                      <a:pPr rtl="0">
                        <a:buNone/>
                      </a:pPr>
                      <a:r>
                        <a:rPr lang="af-ZA" sz="800" b="1" cap="none" spc="0">
                          <a:solidFill>
                            <a:schemeClr val="tx1"/>
                          </a:solidFill>
                          <a:effectLst/>
                        </a:rPr>
                        <a:t>Preconditions</a:t>
                      </a:r>
                      <a:endParaRPr lang="af-ZA" sz="800" cap="none" spc="0">
                        <a:solidFill>
                          <a:schemeClr val="tx1"/>
                        </a:solidFill>
                        <a:effectLst/>
                      </a:endParaRPr>
                    </a:p>
                  </a:txBody>
                  <a:tcPr marL="0" marR="73717" marT="17692" marB="5897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rtl="0">
                        <a:buNone/>
                      </a:pPr>
                      <a:r>
                        <a:rPr lang="af-ZA" sz="800" cap="none" spc="0">
                          <a:solidFill>
                            <a:schemeClr val="tx1"/>
                          </a:solidFill>
                          <a:effectLst/>
                        </a:rPr>
                        <a:t>1. A proposal has been accepted by the Client.</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The Client has sufficient funds in their external wallet/bank.</a:t>
                      </a:r>
                    </a:p>
                  </a:txBody>
                  <a:tcPr marL="0" marR="73717" marT="17692" marB="5897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220632193"/>
                  </a:ext>
                </a:extLst>
              </a:tr>
              <a:tr h="1043831">
                <a:tc>
                  <a:txBody>
                    <a:bodyPr/>
                    <a:lstStyle/>
                    <a:p>
                      <a:pPr rtl="0">
                        <a:buNone/>
                      </a:pPr>
                      <a:r>
                        <a:rPr lang="af-ZA" sz="800" b="1" cap="none" spc="0">
                          <a:solidFill>
                            <a:schemeClr val="tx1"/>
                          </a:solidFill>
                          <a:effectLst/>
                        </a:rPr>
                        <a:t>Postconditions</a:t>
                      </a:r>
                      <a:endParaRPr lang="af-ZA" sz="800" cap="none" spc="0">
                        <a:solidFill>
                          <a:schemeClr val="tx1"/>
                        </a:solidFill>
                        <a:effectLst/>
                      </a:endParaRPr>
                    </a:p>
                  </a:txBody>
                  <a:tcPr marL="0" marR="73717" marT="17692" marB="5897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1. The transaction is recorded in the database.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The Job Status updates from "Open" to "In Progress".</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The funds are added to the system's "Escrow Wallet" (not directly to the freelancer).</a:t>
                      </a:r>
                    </a:p>
                  </a:txBody>
                  <a:tcPr marL="0" marR="73717" marT="17692" marB="5897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660671450"/>
                  </a:ext>
                </a:extLst>
              </a:tr>
              <a:tr h="3874559">
                <a:tc>
                  <a:txBody>
                    <a:bodyPr/>
                    <a:lstStyle/>
                    <a:p>
                      <a:pPr rtl="0">
                        <a:buNone/>
                      </a:pPr>
                      <a:r>
                        <a:rPr lang="af-ZA" sz="800" b="1" cap="none" spc="0">
                          <a:solidFill>
                            <a:schemeClr val="tx1"/>
                          </a:solidFill>
                          <a:effectLst/>
                        </a:rPr>
                        <a:t>Flow of activities</a:t>
                      </a:r>
                      <a:endParaRPr lang="af-ZA" sz="800" cap="none" spc="0">
                        <a:solidFill>
                          <a:schemeClr val="tx1"/>
                        </a:solidFill>
                        <a:effectLst/>
                      </a:endParaRPr>
                    </a:p>
                  </a:txBody>
                  <a:tcPr marL="0" marR="73717" marT="17692" marB="5897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rtl="0">
                        <a:buNone/>
                      </a:pPr>
                      <a:r>
                        <a:rPr lang="af-ZA" sz="800" b="1" cap="none" spc="0">
                          <a:solidFill>
                            <a:schemeClr val="tx1"/>
                          </a:solidFill>
                          <a:effectLst/>
                        </a:rPr>
                        <a:t>Actor (Client)</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Client reviews the total amount (Project Price + Service Fee).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Client selects payment method (e.g., "Mobile Wallet").</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Client enters their wallet number.</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4. Client confirms the transaction via OTP or PIN (External step).</a:t>
                      </a:r>
                    </a:p>
                    <a:p>
                      <a:pPr rtl="0">
                        <a:buNone/>
                      </a:pPr>
                      <a:br>
                        <a:rPr lang="af-ZA" sz="800" cap="none" spc="0">
                          <a:solidFill>
                            <a:schemeClr val="tx1"/>
                          </a:solidFill>
                          <a:effectLst/>
                        </a:rPr>
                      </a:br>
                      <a:br>
                        <a:rPr lang="af-ZA" sz="800" cap="none" spc="0">
                          <a:solidFill>
                            <a:schemeClr val="tx1"/>
                          </a:solidFill>
                          <a:effectLst/>
                        </a:rPr>
                      </a:br>
                      <a:endParaRPr lang="af-ZA" sz="800" cap="none" spc="0">
                        <a:solidFill>
                          <a:schemeClr val="tx1"/>
                        </a:solidFill>
                        <a:effectLst/>
                      </a:endParaRPr>
                    </a:p>
                    <a:p>
                      <a:pPr rtl="0">
                        <a:buNone/>
                      </a:pPr>
                      <a:r>
                        <a:rPr lang="af-ZA" sz="800" b="1" cap="none" spc="0">
                          <a:solidFill>
                            <a:schemeClr val="tx1"/>
                          </a:solidFill>
                          <a:effectLst/>
                        </a:rPr>
                        <a:t>System</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System calculates the total fee.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System initiates a secure session with Paymob API.</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System receives "Success" signal from Paymob.</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4. System marks the money as "Held in Escrow".</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5. System notifies the Freelancer: "Project Funded! You can start working now."</a:t>
                      </a:r>
                    </a:p>
                  </a:txBody>
                  <a:tcPr marL="0" marR="73717" marT="17692" marB="58973" anchor="ctr">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3929860168"/>
                  </a:ext>
                </a:extLst>
              </a:tr>
              <a:tr h="807937">
                <a:tc>
                  <a:txBody>
                    <a:bodyPr/>
                    <a:lstStyle/>
                    <a:p>
                      <a:pPr rtl="0">
                        <a:buNone/>
                      </a:pPr>
                      <a:r>
                        <a:rPr lang="af-ZA" sz="800" b="1" cap="none" spc="0">
                          <a:solidFill>
                            <a:schemeClr val="tx1"/>
                          </a:solidFill>
                          <a:effectLst/>
                        </a:rPr>
                        <a:t>Exception conditions</a:t>
                      </a:r>
                      <a:endParaRPr lang="af-ZA" sz="800" cap="none" spc="0">
                        <a:solidFill>
                          <a:schemeClr val="tx1"/>
                        </a:solidFill>
                        <a:effectLst/>
                      </a:endParaRPr>
                    </a:p>
                  </a:txBody>
                  <a:tcPr marL="0" marR="73717" marT="17692" marB="5897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1. </a:t>
                      </a:r>
                      <a:r>
                        <a:rPr lang="af-ZA" sz="800" b="1" cap="none" spc="0">
                          <a:solidFill>
                            <a:schemeClr val="tx1"/>
                          </a:solidFill>
                          <a:effectLst/>
                        </a:rPr>
                        <a:t>Payment Failed:</a:t>
                      </a:r>
                      <a:r>
                        <a:rPr lang="af-ZA" sz="800" cap="none" spc="0">
                          <a:solidFill>
                            <a:schemeClr val="tx1"/>
                          </a:solidFill>
                          <a:effectLst/>
                        </a:rPr>
                        <a:t> If Paymob returns "Insufficient Funds," the system shows an error and does not start the job.</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a:t>
                      </a:r>
                      <a:r>
                        <a:rPr lang="af-ZA" sz="800" b="1" cap="none" spc="0">
                          <a:solidFill>
                            <a:schemeClr val="tx1"/>
                          </a:solidFill>
                          <a:effectLst/>
                        </a:rPr>
                        <a:t>Timeout:</a:t>
                      </a:r>
                      <a:r>
                        <a:rPr lang="af-ZA" sz="800" cap="none" spc="0">
                          <a:solidFill>
                            <a:schemeClr val="tx1"/>
                          </a:solidFill>
                          <a:effectLst/>
                        </a:rPr>
                        <a:t> If the user takes too long, the secure session expires and must be restarted.</a:t>
                      </a:r>
                    </a:p>
                  </a:txBody>
                  <a:tcPr marL="0" marR="73717" marT="17692" marB="58973" anchor="ctr">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973419239"/>
                  </a:ext>
                </a:extLst>
              </a:tr>
            </a:tbl>
          </a:graphicData>
        </a:graphic>
      </p:graphicFrame>
    </p:spTree>
    <p:extLst>
      <p:ext uri="{BB962C8B-B14F-4D97-AF65-F5344CB8AC3E}">
        <p14:creationId xmlns:p14="http://schemas.microsoft.com/office/powerpoint/2010/main" val="3554638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772400" cy="100583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6" name="Rectangle 15">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353" y="487445"/>
            <a:ext cx="6703695" cy="908350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9" name="جدول 8">
            <a:extLst>
              <a:ext uri="{FF2B5EF4-FFF2-40B4-BE49-F238E27FC236}">
                <a16:creationId xmlns:a16="http://schemas.microsoft.com/office/drawing/2014/main" id="{D6B63CA2-7DC0-7CCA-E1C4-073F74B86954}"/>
              </a:ext>
            </a:extLst>
          </p:cNvPr>
          <p:cNvGraphicFramePr>
            <a:graphicFrameLocks noGrp="1"/>
          </p:cNvGraphicFramePr>
          <p:nvPr/>
        </p:nvGraphicFramePr>
        <p:xfrm>
          <a:off x="948972" y="653366"/>
          <a:ext cx="5889413" cy="8751672"/>
        </p:xfrm>
        <a:graphic>
          <a:graphicData uri="http://schemas.openxmlformats.org/drawingml/2006/table">
            <a:tbl>
              <a:tblPr bandRow="1">
                <a:solidFill>
                  <a:schemeClr val="bg1">
                    <a:lumMod val="95000"/>
                  </a:schemeClr>
                </a:solidFill>
                <a:tableStyleId>{5C22544A-7EE6-4342-B048-85BDC9FD1C3A}</a:tableStyleId>
              </a:tblPr>
              <a:tblGrid>
                <a:gridCol w="2380561">
                  <a:extLst>
                    <a:ext uri="{9D8B030D-6E8A-4147-A177-3AD203B41FA5}">
                      <a16:colId xmlns:a16="http://schemas.microsoft.com/office/drawing/2014/main" val="2796396644"/>
                    </a:ext>
                  </a:extLst>
                </a:gridCol>
                <a:gridCol w="3508852">
                  <a:extLst>
                    <a:ext uri="{9D8B030D-6E8A-4147-A177-3AD203B41FA5}">
                      <a16:colId xmlns:a16="http://schemas.microsoft.com/office/drawing/2014/main" val="1480658424"/>
                    </a:ext>
                  </a:extLst>
                </a:gridCol>
              </a:tblGrid>
              <a:tr h="234216">
                <a:tc>
                  <a:txBody>
                    <a:bodyPr/>
                    <a:lstStyle/>
                    <a:p>
                      <a:pPr rtl="0">
                        <a:buNone/>
                      </a:pPr>
                      <a:r>
                        <a:rPr lang="af-ZA" sz="700" b="1" cap="none" spc="0">
                          <a:solidFill>
                            <a:schemeClr val="tx1"/>
                          </a:solidFill>
                          <a:effectLst/>
                        </a:rPr>
                        <a:t>Field</a:t>
                      </a:r>
                      <a:endParaRPr lang="af-ZA" sz="700" cap="none" spc="0">
                        <a:solidFill>
                          <a:schemeClr val="tx1"/>
                        </a:solidFill>
                        <a:effectLst/>
                      </a:endParaRPr>
                    </a:p>
                  </a:txBody>
                  <a:tcPr marL="39988" marR="71407" marT="11425" marB="85689" anchor="ctr">
                    <a:lnL w="12700" cap="flat" cmpd="sng" algn="ctr">
                      <a:solidFill>
                        <a:schemeClr val="accent1"/>
                      </a:solidFill>
                      <a:prstDash val="solid"/>
                    </a:lnL>
                    <a:lnR w="12700" cmpd="sng">
                      <a:noFill/>
                      <a:prstDash val="solid"/>
                    </a:lnR>
                    <a:lnT w="9525" cap="flat" cmpd="sng" algn="ctr">
                      <a:noFill/>
                      <a:prstDash val="solid"/>
                    </a:lnT>
                    <a:lnB w="9525" cap="flat" cmpd="sng" algn="ctr">
                      <a:noFill/>
                      <a:prstDash val="solid"/>
                    </a:lnB>
                    <a:solidFill>
                      <a:schemeClr val="bg1">
                        <a:lumMod val="95000"/>
                      </a:schemeClr>
                    </a:solidFill>
                  </a:tcPr>
                </a:tc>
                <a:tc>
                  <a:txBody>
                    <a:bodyPr/>
                    <a:lstStyle/>
                    <a:p>
                      <a:pPr rtl="0">
                        <a:buNone/>
                      </a:pPr>
                      <a:r>
                        <a:rPr lang="af-ZA" sz="700" b="1" cap="none" spc="0">
                          <a:solidFill>
                            <a:schemeClr val="tx1"/>
                          </a:solidFill>
                          <a:effectLst/>
                        </a:rPr>
                        <a:t>Description</a:t>
                      </a:r>
                      <a:endParaRPr lang="af-ZA" sz="700" cap="none" spc="0">
                        <a:solidFill>
                          <a:schemeClr val="tx1"/>
                        </a:solidFill>
                        <a:effectLst/>
                      </a:endParaRPr>
                    </a:p>
                  </a:txBody>
                  <a:tcPr marL="39988" marR="71407" marT="11425" marB="85689" anchor="ctr">
                    <a:lnL w="12700" cmpd="sng">
                      <a:noFill/>
                      <a:prstDash val="solid"/>
                    </a:lnL>
                    <a:lnR w="12700" cmpd="sng">
                      <a:noFill/>
                      <a:prstDash val="solid"/>
                    </a:lnR>
                    <a:lnT w="9525" cap="flat" cmpd="sng" algn="ctr">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3720581776"/>
                  </a:ext>
                </a:extLst>
              </a:tr>
              <a:tr h="234216">
                <a:tc>
                  <a:txBody>
                    <a:bodyPr/>
                    <a:lstStyle/>
                    <a:p>
                      <a:pPr rtl="0">
                        <a:buNone/>
                      </a:pPr>
                      <a:r>
                        <a:rPr lang="af-ZA" sz="700" b="1" cap="none" spc="0">
                          <a:solidFill>
                            <a:schemeClr val="tx1"/>
                          </a:solidFill>
                          <a:effectLst/>
                        </a:rPr>
                        <a:t>Use case name</a:t>
                      </a:r>
                      <a:endParaRPr lang="af-ZA" sz="700" cap="none" spc="0">
                        <a:solidFill>
                          <a:schemeClr val="tx1"/>
                        </a:solidFill>
                        <a:effectLst/>
                      </a:endParaRPr>
                    </a:p>
                  </a:txBody>
                  <a:tcPr marL="39988" marR="71407" marT="11425" marB="85689" anchor="ctr">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rtl="0">
                        <a:buNone/>
                      </a:pPr>
                      <a:r>
                        <a:rPr lang="af-ZA" sz="700" cap="none" spc="0">
                          <a:solidFill>
                            <a:schemeClr val="tx1"/>
                          </a:solidFill>
                          <a:effectLst/>
                        </a:rPr>
                        <a:t>Approve Work &amp; Release Funds</a:t>
                      </a:r>
                    </a:p>
                  </a:txBody>
                  <a:tcPr marL="39988" marR="71407" marT="11425" marB="8568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580958013"/>
                  </a:ext>
                </a:extLst>
              </a:tr>
              <a:tr h="234216">
                <a:tc>
                  <a:txBody>
                    <a:bodyPr/>
                    <a:lstStyle/>
                    <a:p>
                      <a:pPr rtl="0">
                        <a:buNone/>
                      </a:pPr>
                      <a:r>
                        <a:rPr lang="af-ZA" sz="700" b="1" cap="none" spc="0">
                          <a:solidFill>
                            <a:schemeClr val="tx1"/>
                          </a:solidFill>
                          <a:effectLst/>
                        </a:rPr>
                        <a:t>Scenario</a:t>
                      </a:r>
                      <a:endParaRPr lang="af-ZA" sz="700" cap="none" spc="0">
                        <a:solidFill>
                          <a:schemeClr val="tx1"/>
                        </a:solidFill>
                        <a:effectLst/>
                      </a:endParaRPr>
                    </a:p>
                  </a:txBody>
                  <a:tcPr marL="39988" marR="71407" marT="11425" marB="85689" anchor="ctr">
                    <a:lnL w="12700" cap="flat" cmpd="sng" algn="ctr">
                      <a:solidFill>
                        <a:schemeClr val="accent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rtl="0">
                        <a:buNone/>
                      </a:pPr>
                      <a:r>
                        <a:rPr lang="af-ZA" sz="700" cap="none" spc="0">
                          <a:solidFill>
                            <a:schemeClr val="tx1"/>
                          </a:solidFill>
                          <a:effectLst/>
                        </a:rPr>
                        <a:t>Client accepts the delivered work and completes the job.</a:t>
                      </a:r>
                    </a:p>
                  </a:txBody>
                  <a:tcPr marL="39988" marR="71407" marT="11425" marB="85689"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2141997760"/>
                  </a:ext>
                </a:extLst>
              </a:tr>
              <a:tr h="348468">
                <a:tc>
                  <a:txBody>
                    <a:bodyPr/>
                    <a:lstStyle/>
                    <a:p>
                      <a:pPr rtl="0">
                        <a:buNone/>
                      </a:pPr>
                      <a:r>
                        <a:rPr lang="af-ZA" sz="700" b="1" cap="none" spc="0">
                          <a:solidFill>
                            <a:schemeClr val="tx1"/>
                          </a:solidFill>
                          <a:effectLst/>
                        </a:rPr>
                        <a:t>Triggering event</a:t>
                      </a:r>
                      <a:endParaRPr lang="af-ZA" sz="700" cap="none" spc="0">
                        <a:solidFill>
                          <a:schemeClr val="tx1"/>
                        </a:solidFill>
                        <a:effectLst/>
                      </a:endParaRPr>
                    </a:p>
                  </a:txBody>
                  <a:tcPr marL="39988" marR="71407" marT="11425" marB="85689" anchor="ctr">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rtl="0">
                        <a:buNone/>
                      </a:pPr>
                      <a:r>
                        <a:rPr lang="af-ZA" sz="700" cap="none" spc="0">
                          <a:solidFill>
                            <a:schemeClr val="tx1"/>
                          </a:solidFill>
                          <a:effectLst/>
                        </a:rPr>
                        <a:t>The Freelancer has marked the job as "Delivered" and uploaded the files/links, and the Client has verified the quality.</a:t>
                      </a:r>
                    </a:p>
                  </a:txBody>
                  <a:tcPr marL="39988" marR="71407" marT="11425" marB="8568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681269729"/>
                  </a:ext>
                </a:extLst>
              </a:tr>
              <a:tr h="462719">
                <a:tc>
                  <a:txBody>
                    <a:bodyPr/>
                    <a:lstStyle/>
                    <a:p>
                      <a:pPr rtl="0">
                        <a:buNone/>
                      </a:pPr>
                      <a:r>
                        <a:rPr lang="af-ZA" sz="700" b="1" cap="none" spc="0">
                          <a:solidFill>
                            <a:schemeClr val="tx1"/>
                          </a:solidFill>
                          <a:effectLst/>
                        </a:rPr>
                        <a:t>Brief description</a:t>
                      </a:r>
                      <a:endParaRPr lang="af-ZA" sz="700" cap="none" spc="0">
                        <a:solidFill>
                          <a:schemeClr val="tx1"/>
                        </a:solidFill>
                        <a:effectLst/>
                      </a:endParaRPr>
                    </a:p>
                  </a:txBody>
                  <a:tcPr marL="39988" marR="71407" marT="11425" marB="85689" anchor="ctr">
                    <a:lnL w="12700" cap="flat" cmpd="sng" algn="ctr">
                      <a:solidFill>
                        <a:schemeClr val="accent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rtl="0">
                        <a:buNone/>
                      </a:pPr>
                      <a:r>
                        <a:rPr lang="af-ZA" sz="700" cap="none" spc="0">
                          <a:solidFill>
                            <a:schemeClr val="tx1"/>
                          </a:solidFill>
                          <a:effectLst/>
                        </a:rPr>
                        <a:t>The Client reviews the final deliverables. If satisfied, they click the "Approve" button. This action triggers the system to move the funds from the "Escrow" holding account directly to the Freelancer's available balance.</a:t>
                      </a:r>
                    </a:p>
                  </a:txBody>
                  <a:tcPr marL="39988" marR="71407" marT="11425" marB="85689"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1943875849"/>
                  </a:ext>
                </a:extLst>
              </a:tr>
              <a:tr h="234216">
                <a:tc>
                  <a:txBody>
                    <a:bodyPr/>
                    <a:lstStyle/>
                    <a:p>
                      <a:pPr rtl="0">
                        <a:buNone/>
                      </a:pPr>
                      <a:r>
                        <a:rPr lang="af-ZA" sz="700" b="1" cap="none" spc="0">
                          <a:solidFill>
                            <a:schemeClr val="tx1"/>
                          </a:solidFill>
                          <a:effectLst/>
                        </a:rPr>
                        <a:t>Actors</a:t>
                      </a:r>
                      <a:endParaRPr lang="af-ZA" sz="700" cap="none" spc="0">
                        <a:solidFill>
                          <a:schemeClr val="tx1"/>
                        </a:solidFill>
                        <a:effectLst/>
                      </a:endParaRPr>
                    </a:p>
                  </a:txBody>
                  <a:tcPr marL="39988" marR="71407" marT="11425" marB="85689" anchor="ctr">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rtl="0">
                        <a:buNone/>
                      </a:pPr>
                      <a:r>
                        <a:rPr lang="af-ZA" sz="700" cap="none" spc="0">
                          <a:solidFill>
                            <a:schemeClr val="tx1"/>
                          </a:solidFill>
                          <a:effectLst/>
                        </a:rPr>
                        <a:t>Client.</a:t>
                      </a:r>
                    </a:p>
                  </a:txBody>
                  <a:tcPr marL="39988" marR="71407" marT="11425" marB="8568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3210730718"/>
                  </a:ext>
                </a:extLst>
              </a:tr>
              <a:tr h="348468">
                <a:tc>
                  <a:txBody>
                    <a:bodyPr/>
                    <a:lstStyle/>
                    <a:p>
                      <a:pPr rtl="0">
                        <a:buNone/>
                      </a:pPr>
                      <a:r>
                        <a:rPr lang="af-ZA" sz="700" b="1" cap="none" spc="0">
                          <a:solidFill>
                            <a:schemeClr val="tx1"/>
                          </a:solidFill>
                          <a:effectLst/>
                        </a:rPr>
                        <a:t>Related use cases</a:t>
                      </a:r>
                      <a:endParaRPr lang="af-ZA" sz="700" cap="none" spc="0">
                        <a:solidFill>
                          <a:schemeClr val="tx1"/>
                        </a:solidFill>
                        <a:effectLst/>
                      </a:endParaRPr>
                    </a:p>
                  </a:txBody>
                  <a:tcPr marL="39988" marR="71407" marT="11425" marB="85689" anchor="ctr">
                    <a:lnL w="12700" cap="flat" cmpd="sng" algn="ctr">
                      <a:solidFill>
                        <a:schemeClr val="accent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rtl="0">
                        <a:buNone/>
                      </a:pPr>
                      <a:r>
                        <a:rPr lang="af-ZA" sz="700" i="1" cap="none" spc="0">
                          <a:solidFill>
                            <a:schemeClr val="tx1"/>
                          </a:solidFill>
                          <a:effectLst/>
                        </a:rPr>
                        <a:t>Pay Deposit</a:t>
                      </a:r>
                      <a:r>
                        <a:rPr lang="af-ZA" sz="700" cap="none" spc="0">
                          <a:solidFill>
                            <a:schemeClr val="tx1"/>
                          </a:solidFill>
                          <a:effectLst/>
                        </a:rPr>
                        <a:t> (Predecessor), </a:t>
                      </a:r>
                      <a:r>
                        <a:rPr lang="af-ZA" sz="700" i="1" cap="none" spc="0">
                          <a:solidFill>
                            <a:schemeClr val="tx1"/>
                          </a:solidFill>
                          <a:effectLst/>
                        </a:rPr>
                        <a:t>Submit Deliverables</a:t>
                      </a:r>
                      <a:r>
                        <a:rPr lang="af-ZA" sz="700" cap="none" spc="0">
                          <a:solidFill>
                            <a:schemeClr val="tx1"/>
                          </a:solidFill>
                          <a:effectLst/>
                        </a:rPr>
                        <a:t> (Pre-condition from Freelancer).</a:t>
                      </a:r>
                    </a:p>
                  </a:txBody>
                  <a:tcPr marL="39988" marR="71407" marT="11425" marB="85689"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3418993323"/>
                  </a:ext>
                </a:extLst>
              </a:tr>
              <a:tr h="576971">
                <a:tc>
                  <a:txBody>
                    <a:bodyPr/>
                    <a:lstStyle/>
                    <a:p>
                      <a:pPr rtl="0">
                        <a:buNone/>
                      </a:pPr>
                      <a:r>
                        <a:rPr lang="af-ZA" sz="700" b="1" cap="none" spc="0">
                          <a:solidFill>
                            <a:schemeClr val="tx1"/>
                          </a:solidFill>
                          <a:effectLst/>
                        </a:rPr>
                        <a:t>Stakeholders</a:t>
                      </a:r>
                      <a:endParaRPr lang="af-ZA" sz="700" cap="none" spc="0">
                        <a:solidFill>
                          <a:schemeClr val="tx1"/>
                        </a:solidFill>
                        <a:effectLst/>
                      </a:endParaRPr>
                    </a:p>
                  </a:txBody>
                  <a:tcPr marL="39988" marR="71407" marT="11425" marB="85689" anchor="ctr">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rtl="0">
                        <a:buNone/>
                      </a:pPr>
                      <a:r>
                        <a:rPr lang="af-ZA" sz="700" b="1" cap="none" spc="0">
                          <a:solidFill>
                            <a:schemeClr val="tx1"/>
                          </a:solidFill>
                          <a:effectLst/>
                        </a:rPr>
                        <a:t>Freelancer:</a:t>
                      </a:r>
                      <a:r>
                        <a:rPr lang="af-ZA" sz="700" cap="none" spc="0">
                          <a:solidFill>
                            <a:schemeClr val="tx1"/>
                          </a:solidFill>
                          <a:effectLst/>
                        </a:rPr>
                        <a:t> Gets paid immediately upon approval.</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b="1" cap="none" spc="0">
                          <a:solidFill>
                            <a:schemeClr val="tx1"/>
                          </a:solidFill>
                          <a:effectLst/>
                        </a:rPr>
                        <a:t>Sho8la:</a:t>
                      </a:r>
                      <a:r>
                        <a:rPr lang="af-ZA" sz="700" cap="none" spc="0">
                          <a:solidFill>
                            <a:schemeClr val="tx1"/>
                          </a:solidFill>
                          <a:effectLst/>
                        </a:rPr>
                        <a:t> Records the completed transaction and marks the job as closed.</a:t>
                      </a:r>
                    </a:p>
                  </a:txBody>
                  <a:tcPr marL="39988" marR="71407" marT="11425" marB="8568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151693918"/>
                  </a:ext>
                </a:extLst>
              </a:tr>
              <a:tr h="919725">
                <a:tc>
                  <a:txBody>
                    <a:bodyPr/>
                    <a:lstStyle/>
                    <a:p>
                      <a:pPr rtl="0">
                        <a:buNone/>
                      </a:pPr>
                      <a:r>
                        <a:rPr lang="af-ZA" sz="700" b="1" cap="none" spc="0">
                          <a:solidFill>
                            <a:schemeClr val="tx1"/>
                          </a:solidFill>
                          <a:effectLst/>
                        </a:rPr>
                        <a:t>Preconditions</a:t>
                      </a:r>
                      <a:endParaRPr lang="af-ZA" sz="700" cap="none" spc="0">
                        <a:solidFill>
                          <a:schemeClr val="tx1"/>
                        </a:solidFill>
                        <a:effectLst/>
                      </a:endParaRPr>
                    </a:p>
                  </a:txBody>
                  <a:tcPr marL="39988" marR="71407" marT="11425" marB="85689" anchor="ctr">
                    <a:lnL w="12700" cap="flat" cmpd="sng" algn="ctr">
                      <a:solidFill>
                        <a:schemeClr val="accent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rtl="0">
                        <a:buNone/>
                      </a:pPr>
                      <a:r>
                        <a:rPr lang="af-ZA" sz="700" cap="none" spc="0">
                          <a:solidFill>
                            <a:schemeClr val="tx1"/>
                          </a:solidFill>
                          <a:effectLst/>
                        </a:rPr>
                        <a:t>1. The job status must be "In Progress".</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The Freelancer must have submitted work.</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Funds must be currently held in Escrow.</a:t>
                      </a:r>
                    </a:p>
                  </a:txBody>
                  <a:tcPr marL="39988" marR="71407" marT="11425" marB="85689"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1874424439"/>
                  </a:ext>
                </a:extLst>
              </a:tr>
              <a:tr h="919725">
                <a:tc>
                  <a:txBody>
                    <a:bodyPr/>
                    <a:lstStyle/>
                    <a:p>
                      <a:pPr rtl="0">
                        <a:buNone/>
                      </a:pPr>
                      <a:r>
                        <a:rPr lang="af-ZA" sz="700" b="1" cap="none" spc="0">
                          <a:solidFill>
                            <a:schemeClr val="tx1"/>
                          </a:solidFill>
                          <a:effectLst/>
                        </a:rPr>
                        <a:t>Postconditions</a:t>
                      </a:r>
                      <a:endParaRPr lang="af-ZA" sz="700" cap="none" spc="0">
                        <a:solidFill>
                          <a:schemeClr val="tx1"/>
                        </a:solidFill>
                        <a:effectLst/>
                      </a:endParaRPr>
                    </a:p>
                  </a:txBody>
                  <a:tcPr marL="39988" marR="71407" marT="11425" marB="85689" anchor="ctr">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rtl="0">
                        <a:buNone/>
                      </a:pPr>
                      <a:r>
                        <a:rPr lang="af-ZA" sz="700" cap="none" spc="0">
                          <a:solidFill>
                            <a:schemeClr val="tx1"/>
                          </a:solidFill>
                          <a:effectLst/>
                        </a:rPr>
                        <a:t>1. Funds are transferred to Freelancer's wallet.</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Job status updates to "Completed".</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Client and Freelancer can now leave a review.</a:t>
                      </a:r>
                    </a:p>
                  </a:txBody>
                  <a:tcPr marL="39988" marR="71407" marT="11425" marB="8568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210198661"/>
                  </a:ext>
                </a:extLst>
              </a:tr>
              <a:tr h="3890264">
                <a:tc>
                  <a:txBody>
                    <a:bodyPr/>
                    <a:lstStyle/>
                    <a:p>
                      <a:pPr rtl="0">
                        <a:buNone/>
                      </a:pPr>
                      <a:r>
                        <a:rPr lang="af-ZA" sz="700" b="1" cap="none" spc="0">
                          <a:solidFill>
                            <a:schemeClr val="tx1"/>
                          </a:solidFill>
                          <a:effectLst/>
                        </a:rPr>
                        <a:t>Flow of activities</a:t>
                      </a:r>
                      <a:endParaRPr lang="af-ZA" sz="700" cap="none" spc="0">
                        <a:solidFill>
                          <a:schemeClr val="tx1"/>
                        </a:solidFill>
                        <a:effectLst/>
                      </a:endParaRPr>
                    </a:p>
                  </a:txBody>
                  <a:tcPr marL="39988" marR="71407" marT="11425" marB="85689" anchor="ctr">
                    <a:lnL w="12700" cap="flat" cmpd="sng" algn="ctr">
                      <a:solidFill>
                        <a:schemeClr val="accent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rtl="0">
                        <a:buNone/>
                      </a:pPr>
                      <a:r>
                        <a:rPr lang="af-ZA" sz="700" b="1" cap="none" spc="0">
                          <a:solidFill>
                            <a:schemeClr val="tx1"/>
                          </a:solidFill>
                          <a:effectLst/>
                        </a:rPr>
                        <a:t>Actor (Client)</a:t>
                      </a:r>
                      <a:endParaRPr lang="af-ZA" sz="700" cap="none" spc="0">
                        <a:solidFill>
                          <a:schemeClr val="tx1"/>
                        </a:solidFill>
                        <a:effectLst/>
                      </a:endParaRP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1. Client receives notification "Work Delivered".</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Client downloads files or checks the link provided.</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Client verifies the work meets requirements.</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4. Client clicks "Approve &amp; Release Payment".</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5. Client rates the freelancer (1-5 stars).</a:t>
                      </a:r>
                    </a:p>
                    <a:p>
                      <a:pPr rtl="0">
                        <a:buNone/>
                      </a:pPr>
                      <a:br>
                        <a:rPr lang="af-ZA" sz="700" cap="none" spc="0">
                          <a:solidFill>
                            <a:schemeClr val="tx1"/>
                          </a:solidFill>
                          <a:effectLst/>
                        </a:rPr>
                      </a:br>
                      <a:br>
                        <a:rPr lang="af-ZA" sz="700" cap="none" spc="0">
                          <a:solidFill>
                            <a:schemeClr val="tx1"/>
                          </a:solidFill>
                          <a:effectLst/>
                        </a:rPr>
                      </a:br>
                      <a:endParaRPr lang="af-ZA" sz="700" cap="none" spc="0">
                        <a:solidFill>
                          <a:schemeClr val="tx1"/>
                        </a:solidFill>
                        <a:effectLst/>
                      </a:endParaRPr>
                    </a:p>
                    <a:p>
                      <a:pPr rtl="0">
                        <a:buNone/>
                      </a:pPr>
                      <a:r>
                        <a:rPr lang="af-ZA" sz="700" b="1" cap="none" spc="0">
                          <a:solidFill>
                            <a:schemeClr val="tx1"/>
                          </a:solidFill>
                          <a:effectLst/>
                        </a:rPr>
                        <a:t>System</a:t>
                      </a:r>
                      <a:endParaRPr lang="af-ZA" sz="700" cap="none" spc="0">
                        <a:solidFill>
                          <a:schemeClr val="tx1"/>
                        </a:solidFill>
                        <a:effectLst/>
                      </a:endParaRP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1. System validates the approval action.</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System executes the transfer: deducts from Escrow, adds to Freelancer's "Available Balance".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System closes the job.</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4. System notifies Freelancer: "Payment Received".</a:t>
                      </a:r>
                    </a:p>
                  </a:txBody>
                  <a:tcPr marL="39988" marR="71407" marT="11425" marB="85689"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1433613518"/>
                  </a:ext>
                </a:extLst>
              </a:tr>
              <a:tr h="348468">
                <a:tc>
                  <a:txBody>
                    <a:bodyPr/>
                    <a:lstStyle/>
                    <a:p>
                      <a:pPr rtl="0">
                        <a:buNone/>
                      </a:pPr>
                      <a:r>
                        <a:rPr lang="af-ZA" sz="700" b="1" cap="none" spc="0">
                          <a:solidFill>
                            <a:schemeClr val="tx1"/>
                          </a:solidFill>
                          <a:effectLst/>
                        </a:rPr>
                        <a:t>Exception conditions</a:t>
                      </a:r>
                      <a:endParaRPr lang="af-ZA" sz="700" cap="none" spc="0">
                        <a:solidFill>
                          <a:schemeClr val="tx1"/>
                        </a:solidFill>
                        <a:effectLst/>
                      </a:endParaRPr>
                    </a:p>
                  </a:txBody>
                  <a:tcPr marL="39988" marR="71407" marT="11425" marB="85689" anchor="ctr">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rtl="0">
                        <a:buNone/>
                      </a:pPr>
                      <a:r>
                        <a:rPr lang="af-ZA" sz="700" cap="none" spc="0">
                          <a:solidFill>
                            <a:schemeClr val="tx1"/>
                          </a:solidFill>
                          <a:effectLst/>
                        </a:rPr>
                        <a:t>1. </a:t>
                      </a:r>
                      <a:r>
                        <a:rPr lang="af-ZA" sz="700" b="1" cap="none" spc="0">
                          <a:solidFill>
                            <a:schemeClr val="tx1"/>
                          </a:solidFill>
                          <a:effectLst/>
                        </a:rPr>
                        <a:t>Dispute:</a:t>
                      </a:r>
                      <a:r>
                        <a:rPr lang="af-ZA" sz="700" cap="none" spc="0">
                          <a:solidFill>
                            <a:schemeClr val="tx1"/>
                          </a:solidFill>
                          <a:effectLst/>
                        </a:rPr>
                        <a:t> If the work is bad, Client clicks "Request Revision" instead of "Approve." The funds remain in Escrow until the Freelancer updates the work.</a:t>
                      </a:r>
                    </a:p>
                  </a:txBody>
                  <a:tcPr marL="39988" marR="71407" marT="11425" marB="8568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3207523132"/>
                  </a:ext>
                </a:extLst>
              </a:tr>
            </a:tbl>
          </a:graphicData>
        </a:graphic>
      </p:graphicFrame>
    </p:spTree>
    <p:extLst>
      <p:ext uri="{BB962C8B-B14F-4D97-AF65-F5344CB8AC3E}">
        <p14:creationId xmlns:p14="http://schemas.microsoft.com/office/powerpoint/2010/main" val="1837985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772400" cy="100583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2" name="Rectangle 11">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353" y="487445"/>
            <a:ext cx="6703695" cy="908350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5" name="جدول 4">
            <a:extLst>
              <a:ext uri="{FF2B5EF4-FFF2-40B4-BE49-F238E27FC236}">
                <a16:creationId xmlns:a16="http://schemas.microsoft.com/office/drawing/2014/main" id="{63A995A0-44A6-69F0-819B-75E4A2B44588}"/>
              </a:ext>
            </a:extLst>
          </p:cNvPr>
          <p:cNvGraphicFramePr>
            <a:graphicFrameLocks noGrp="1"/>
          </p:cNvGraphicFramePr>
          <p:nvPr/>
        </p:nvGraphicFramePr>
        <p:xfrm>
          <a:off x="743317" y="653366"/>
          <a:ext cx="6300725" cy="8751672"/>
        </p:xfrm>
        <a:graphic>
          <a:graphicData uri="http://schemas.openxmlformats.org/drawingml/2006/table">
            <a:tbl>
              <a:tblPr bandRow="1">
                <a:solidFill>
                  <a:srgbClr val="F2F2F2">
                    <a:alpha val="45098"/>
                  </a:srgbClr>
                </a:solidFill>
                <a:tableStyleId>{5C22544A-7EE6-4342-B048-85BDC9FD1C3A}</a:tableStyleId>
              </a:tblPr>
              <a:tblGrid>
                <a:gridCol w="2597764">
                  <a:extLst>
                    <a:ext uri="{9D8B030D-6E8A-4147-A177-3AD203B41FA5}">
                      <a16:colId xmlns:a16="http://schemas.microsoft.com/office/drawing/2014/main" val="149322701"/>
                    </a:ext>
                  </a:extLst>
                </a:gridCol>
                <a:gridCol w="3702961">
                  <a:extLst>
                    <a:ext uri="{9D8B030D-6E8A-4147-A177-3AD203B41FA5}">
                      <a16:colId xmlns:a16="http://schemas.microsoft.com/office/drawing/2014/main" val="1729043660"/>
                    </a:ext>
                  </a:extLst>
                </a:gridCol>
              </a:tblGrid>
              <a:tr h="255862">
                <a:tc>
                  <a:txBody>
                    <a:bodyPr/>
                    <a:lstStyle/>
                    <a:p>
                      <a:pPr rtl="0">
                        <a:buNone/>
                      </a:pPr>
                      <a:r>
                        <a:rPr lang="af-ZA" sz="800" b="1" cap="none" spc="0">
                          <a:solidFill>
                            <a:schemeClr val="tx1"/>
                          </a:solidFill>
                          <a:effectLst/>
                        </a:rPr>
                        <a:t>Field</a:t>
                      </a:r>
                      <a:endParaRPr lang="af-ZA" sz="800" cap="none" spc="0">
                        <a:solidFill>
                          <a:schemeClr val="tx1"/>
                        </a:solidFill>
                        <a:effectLst/>
                      </a:endParaRPr>
                    </a:p>
                  </a:txBody>
                  <a:tcPr marL="75550" marR="75550" marT="60440" marB="50366" anchor="ctr">
                    <a:lnL w="12700" cmpd="sng">
                      <a:noFill/>
                      <a:prstDash val="solid"/>
                    </a:lnL>
                    <a:lnR w="12700" cmpd="sng">
                      <a:noFill/>
                      <a:prstDash val="solid"/>
                    </a:lnR>
                    <a:lnT w="12700" cap="flat" cmpd="sng" algn="ctr">
                      <a:solidFill>
                        <a:schemeClr val="bg1">
                          <a:lumMod val="75000"/>
                        </a:schemeClr>
                      </a:solidFill>
                      <a:prstDash val="solid"/>
                    </a:lnT>
                    <a:lnB w="12700" cap="flat" cmpd="sng" algn="ctr">
                      <a:solidFill>
                        <a:schemeClr val="bg1">
                          <a:lumMod val="75000"/>
                        </a:schemeClr>
                      </a:solidFill>
                      <a:prstDash val="solid"/>
                    </a:lnB>
                    <a:solidFill>
                      <a:srgbClr val="F2F2F2">
                        <a:alpha val="45098"/>
                      </a:srgbClr>
                    </a:solidFill>
                  </a:tcPr>
                </a:tc>
                <a:tc>
                  <a:txBody>
                    <a:bodyPr/>
                    <a:lstStyle/>
                    <a:p>
                      <a:pPr rtl="0">
                        <a:buNone/>
                      </a:pPr>
                      <a:r>
                        <a:rPr lang="af-ZA" sz="800" b="1" cap="none" spc="0">
                          <a:solidFill>
                            <a:schemeClr val="tx1"/>
                          </a:solidFill>
                          <a:effectLst/>
                        </a:rPr>
                        <a:t>Description</a:t>
                      </a:r>
                      <a:endParaRPr lang="af-ZA" sz="800" cap="none" spc="0">
                        <a:solidFill>
                          <a:schemeClr val="tx1"/>
                        </a:solidFill>
                        <a:effectLst/>
                      </a:endParaRPr>
                    </a:p>
                  </a:txBody>
                  <a:tcPr marL="75550" marR="75550" marT="60440" marB="50366" anchor="ctr">
                    <a:lnL w="12700" cmpd="sng">
                      <a:noFill/>
                      <a:prstDash val="solid"/>
                    </a:lnL>
                    <a:lnR w="12700" cmpd="sng">
                      <a:noFill/>
                      <a:prstDash val="solid"/>
                    </a:lnR>
                    <a:lnT w="12700" cap="flat" cmpd="sng" algn="ctr">
                      <a:solidFill>
                        <a:schemeClr val="bg1">
                          <a:lumMod val="75000"/>
                        </a:schemeClr>
                      </a:solid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1629841371"/>
                  </a:ext>
                </a:extLst>
              </a:tr>
              <a:tr h="255862">
                <a:tc>
                  <a:txBody>
                    <a:bodyPr/>
                    <a:lstStyle/>
                    <a:p>
                      <a:pPr rtl="0">
                        <a:buNone/>
                      </a:pPr>
                      <a:r>
                        <a:rPr lang="af-ZA" sz="800" b="1" cap="none" spc="0">
                          <a:solidFill>
                            <a:schemeClr val="tx1"/>
                          </a:solidFill>
                          <a:effectLst/>
                        </a:rPr>
                        <a:t>Use case name</a:t>
                      </a:r>
                      <a:endParaRPr lang="af-ZA" sz="800" cap="none" spc="0">
                        <a:solidFill>
                          <a:schemeClr val="tx1"/>
                        </a:solidFill>
                        <a:effectLst/>
                      </a:endParaRPr>
                    </a:p>
                  </a:txBody>
                  <a:tcPr marL="75550" marR="75550" marT="60440" marB="50366"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rtl="0">
                        <a:buNone/>
                      </a:pPr>
                      <a:r>
                        <a:rPr lang="af-ZA" sz="800" cap="none" spc="0">
                          <a:solidFill>
                            <a:schemeClr val="tx1"/>
                          </a:solidFill>
                          <a:effectLst/>
                        </a:rPr>
                        <a:t>Chat with Client</a:t>
                      </a:r>
                    </a:p>
                  </a:txBody>
                  <a:tcPr marL="75550" marR="75550" marT="60440" marB="50366"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2825626531"/>
                  </a:ext>
                </a:extLst>
              </a:tr>
              <a:tr h="376741">
                <a:tc>
                  <a:txBody>
                    <a:bodyPr/>
                    <a:lstStyle/>
                    <a:p>
                      <a:pPr rtl="0">
                        <a:buNone/>
                      </a:pPr>
                      <a:r>
                        <a:rPr lang="af-ZA" sz="800" b="1" cap="none" spc="0">
                          <a:solidFill>
                            <a:schemeClr val="tx1"/>
                          </a:solidFill>
                          <a:effectLst/>
                        </a:rPr>
                        <a:t>Scenario</a:t>
                      </a:r>
                      <a:endParaRPr lang="af-ZA" sz="800" cap="none" spc="0">
                        <a:solidFill>
                          <a:schemeClr val="tx1"/>
                        </a:solidFill>
                        <a:effectLst/>
                      </a:endParaRPr>
                    </a:p>
                  </a:txBody>
                  <a:tcPr marL="75550" marR="75550" marT="60440" marB="50366"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rtl="0">
                        <a:buNone/>
                      </a:pPr>
                      <a:r>
                        <a:rPr lang="af-ZA" sz="800" cap="none" spc="0">
                          <a:solidFill>
                            <a:schemeClr val="tx1"/>
                          </a:solidFill>
                          <a:effectLst/>
                        </a:rPr>
                        <a:t>Real-time text communication between the two parties to discuss project details.</a:t>
                      </a:r>
                    </a:p>
                  </a:txBody>
                  <a:tcPr marL="75550" marR="75550" marT="60440" marB="50366"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2770666211"/>
                  </a:ext>
                </a:extLst>
              </a:tr>
              <a:tr h="376741">
                <a:tc>
                  <a:txBody>
                    <a:bodyPr/>
                    <a:lstStyle/>
                    <a:p>
                      <a:pPr rtl="0">
                        <a:buNone/>
                      </a:pPr>
                      <a:r>
                        <a:rPr lang="af-ZA" sz="800" b="1" cap="none" spc="0">
                          <a:solidFill>
                            <a:schemeClr val="tx1"/>
                          </a:solidFill>
                          <a:effectLst/>
                        </a:rPr>
                        <a:t>Triggering event</a:t>
                      </a:r>
                      <a:endParaRPr lang="af-ZA" sz="800" cap="none" spc="0">
                        <a:solidFill>
                          <a:schemeClr val="tx1"/>
                        </a:solidFill>
                        <a:effectLst/>
                      </a:endParaRPr>
                    </a:p>
                  </a:txBody>
                  <a:tcPr marL="75550" marR="75550" marT="60440" marB="50366"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rtl="0">
                        <a:buNone/>
                      </a:pPr>
                      <a:r>
                        <a:rPr lang="af-ZA" sz="800" cap="none" spc="0">
                          <a:solidFill>
                            <a:schemeClr val="tx1"/>
                          </a:solidFill>
                          <a:effectLst/>
                        </a:rPr>
                        <a:t>A Freelancer needs to ask a clarification question, or a Client wants to give specific instructions after a proposal is accepted.</a:t>
                      </a:r>
                    </a:p>
                  </a:txBody>
                  <a:tcPr marL="75550" marR="75550" marT="60440" marB="50366"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2629805966"/>
                  </a:ext>
                </a:extLst>
              </a:tr>
              <a:tr h="497621">
                <a:tc>
                  <a:txBody>
                    <a:bodyPr/>
                    <a:lstStyle/>
                    <a:p>
                      <a:pPr rtl="0">
                        <a:buNone/>
                      </a:pPr>
                      <a:r>
                        <a:rPr lang="af-ZA" sz="800" b="1" cap="none" spc="0">
                          <a:solidFill>
                            <a:schemeClr val="tx1"/>
                          </a:solidFill>
                          <a:effectLst/>
                        </a:rPr>
                        <a:t>Brief description</a:t>
                      </a:r>
                      <a:endParaRPr lang="af-ZA" sz="800" cap="none" spc="0">
                        <a:solidFill>
                          <a:schemeClr val="tx1"/>
                        </a:solidFill>
                        <a:effectLst/>
                      </a:endParaRPr>
                    </a:p>
                  </a:txBody>
                  <a:tcPr marL="75550" marR="75550" marT="60440" marB="50366"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rtl="0">
                        <a:buNone/>
                      </a:pPr>
                      <a:r>
                        <a:rPr lang="af-ZA" sz="800" cap="none" spc="0">
                          <a:solidFill>
                            <a:schemeClr val="tx1"/>
                          </a:solidFill>
                          <a:effectLst/>
                        </a:rPr>
                        <a:t>Provides a secure, internal messaging interface where the Client and Freelancer can exchange text messages and share links regarding the ongoing job. It ensures all communication stays on the platform for safety.</a:t>
                      </a:r>
                    </a:p>
                  </a:txBody>
                  <a:tcPr marL="75550" marR="75550" marT="60440" marB="50366"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2232011822"/>
                  </a:ext>
                </a:extLst>
              </a:tr>
              <a:tr h="255862">
                <a:tc>
                  <a:txBody>
                    <a:bodyPr/>
                    <a:lstStyle/>
                    <a:p>
                      <a:pPr rtl="0">
                        <a:buNone/>
                      </a:pPr>
                      <a:r>
                        <a:rPr lang="af-ZA" sz="800" b="1" cap="none" spc="0">
                          <a:solidFill>
                            <a:schemeClr val="tx1"/>
                          </a:solidFill>
                          <a:effectLst/>
                        </a:rPr>
                        <a:t>Actors</a:t>
                      </a:r>
                      <a:endParaRPr lang="af-ZA" sz="800" cap="none" spc="0">
                        <a:solidFill>
                          <a:schemeClr val="tx1"/>
                        </a:solidFill>
                        <a:effectLst/>
                      </a:endParaRPr>
                    </a:p>
                  </a:txBody>
                  <a:tcPr marL="75550" marR="75550" marT="60440" marB="50366"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rtl="0">
                        <a:buNone/>
                      </a:pPr>
                      <a:r>
                        <a:rPr lang="af-ZA" sz="800" cap="none" spc="0">
                          <a:solidFill>
                            <a:schemeClr val="tx1"/>
                          </a:solidFill>
                          <a:effectLst/>
                        </a:rPr>
                        <a:t>Client, Freelancer (Student).</a:t>
                      </a:r>
                    </a:p>
                  </a:txBody>
                  <a:tcPr marL="75550" marR="75550" marT="60440" marB="50366"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1498304016"/>
                  </a:ext>
                </a:extLst>
              </a:tr>
              <a:tr h="376741">
                <a:tc>
                  <a:txBody>
                    <a:bodyPr/>
                    <a:lstStyle/>
                    <a:p>
                      <a:pPr rtl="0">
                        <a:buNone/>
                      </a:pPr>
                      <a:r>
                        <a:rPr lang="af-ZA" sz="800" b="1" cap="none" spc="0">
                          <a:solidFill>
                            <a:schemeClr val="tx1"/>
                          </a:solidFill>
                          <a:effectLst/>
                        </a:rPr>
                        <a:t>Related use cases</a:t>
                      </a:r>
                      <a:endParaRPr lang="af-ZA" sz="800" cap="none" spc="0">
                        <a:solidFill>
                          <a:schemeClr val="tx1"/>
                        </a:solidFill>
                        <a:effectLst/>
                      </a:endParaRPr>
                    </a:p>
                  </a:txBody>
                  <a:tcPr marL="75550" marR="75550" marT="60440" marB="50366"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rtl="0">
                        <a:buNone/>
                      </a:pPr>
                      <a:r>
                        <a:rPr lang="af-ZA" sz="800" i="1" cap="none" spc="0">
                          <a:solidFill>
                            <a:schemeClr val="tx1"/>
                          </a:solidFill>
                          <a:effectLst/>
                        </a:rPr>
                        <a:t>Submit Proposal</a:t>
                      </a:r>
                      <a:r>
                        <a:rPr lang="af-ZA" sz="800" cap="none" spc="0">
                          <a:solidFill>
                            <a:schemeClr val="tx1"/>
                          </a:solidFill>
                          <a:effectLst/>
                        </a:rPr>
                        <a:t> (Usually triggers the start of a conversation), </a:t>
                      </a:r>
                      <a:r>
                        <a:rPr lang="af-ZA" sz="800" i="1" cap="none" spc="0">
                          <a:solidFill>
                            <a:schemeClr val="tx1"/>
                          </a:solidFill>
                          <a:effectLst/>
                        </a:rPr>
                        <a:t>Approve Work</a:t>
                      </a:r>
                      <a:r>
                        <a:rPr lang="af-ZA" sz="800" cap="none" spc="0">
                          <a:solidFill>
                            <a:schemeClr val="tx1"/>
                          </a:solidFill>
                          <a:effectLst/>
                        </a:rPr>
                        <a:t> (Discussed in chat).</a:t>
                      </a:r>
                    </a:p>
                  </a:txBody>
                  <a:tcPr marL="75550" marR="75550" marT="60440" marB="50366"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1808666467"/>
                  </a:ext>
                </a:extLst>
              </a:tr>
              <a:tr h="739379">
                <a:tc>
                  <a:txBody>
                    <a:bodyPr/>
                    <a:lstStyle/>
                    <a:p>
                      <a:pPr rtl="0">
                        <a:buNone/>
                      </a:pPr>
                      <a:r>
                        <a:rPr lang="af-ZA" sz="800" b="1" cap="none" spc="0">
                          <a:solidFill>
                            <a:schemeClr val="tx1"/>
                          </a:solidFill>
                          <a:effectLst/>
                        </a:rPr>
                        <a:t>Stakeholders</a:t>
                      </a:r>
                      <a:endParaRPr lang="af-ZA" sz="800" cap="none" spc="0">
                        <a:solidFill>
                          <a:schemeClr val="tx1"/>
                        </a:solidFill>
                        <a:effectLst/>
                      </a:endParaRPr>
                    </a:p>
                  </a:txBody>
                  <a:tcPr marL="75550" marR="75550" marT="60440" marB="50366"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rtl="0">
                        <a:buNone/>
                      </a:pPr>
                      <a:r>
                        <a:rPr lang="af-ZA" sz="800" b="1" cap="none" spc="0">
                          <a:solidFill>
                            <a:schemeClr val="tx1"/>
                          </a:solidFill>
                          <a:effectLst/>
                        </a:rPr>
                        <a:t>Admin:</a:t>
                      </a:r>
                      <a:r>
                        <a:rPr lang="af-ZA" sz="800" cap="none" spc="0">
                          <a:solidFill>
                            <a:schemeClr val="tx1"/>
                          </a:solidFill>
                          <a:effectLst/>
                        </a:rPr>
                        <a:t> Needs chat logs to resolve disputes if they happen.</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b="1" cap="none" spc="0">
                          <a:solidFill>
                            <a:schemeClr val="tx1"/>
                          </a:solidFill>
                          <a:effectLst/>
                        </a:rPr>
                        <a:t>Sho8la:</a:t>
                      </a:r>
                      <a:r>
                        <a:rPr lang="af-ZA" sz="800" cap="none" spc="0">
                          <a:solidFill>
                            <a:schemeClr val="tx1"/>
                          </a:solidFill>
                          <a:effectLst/>
                        </a:rPr>
                        <a:t> Wants to prevent users from sharing phone numbers to take the deal off-platform.</a:t>
                      </a:r>
                    </a:p>
                  </a:txBody>
                  <a:tcPr marL="75550" marR="75550" marT="60440" marB="50366"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1869010422"/>
                  </a:ext>
                </a:extLst>
              </a:tr>
              <a:tr h="618500">
                <a:tc>
                  <a:txBody>
                    <a:bodyPr/>
                    <a:lstStyle/>
                    <a:p>
                      <a:pPr rtl="0">
                        <a:buNone/>
                      </a:pPr>
                      <a:r>
                        <a:rPr lang="af-ZA" sz="800" b="1" cap="none" spc="0">
                          <a:solidFill>
                            <a:schemeClr val="tx1"/>
                          </a:solidFill>
                          <a:effectLst/>
                        </a:rPr>
                        <a:t>Preconditions</a:t>
                      </a:r>
                      <a:endParaRPr lang="af-ZA" sz="800" cap="none" spc="0">
                        <a:solidFill>
                          <a:schemeClr val="tx1"/>
                        </a:solidFill>
                        <a:effectLst/>
                      </a:endParaRPr>
                    </a:p>
                  </a:txBody>
                  <a:tcPr marL="75550" marR="75550" marT="60440" marB="50366"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rtl="0">
                        <a:buNone/>
                      </a:pPr>
                      <a:r>
                        <a:rPr lang="af-ZA" sz="800" cap="none" spc="0">
                          <a:solidFill>
                            <a:schemeClr val="tx1"/>
                          </a:solidFill>
                          <a:effectLst/>
                        </a:rPr>
                        <a:t>1. Both users must be logged in.</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A Proposal must be active (submitted or accepted) linking these two users.</a:t>
                      </a:r>
                    </a:p>
                  </a:txBody>
                  <a:tcPr marL="75550" marR="75550" marT="60440" marB="50366"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3082155907"/>
                  </a:ext>
                </a:extLst>
              </a:tr>
              <a:tr h="618500">
                <a:tc>
                  <a:txBody>
                    <a:bodyPr/>
                    <a:lstStyle/>
                    <a:p>
                      <a:pPr rtl="0">
                        <a:buNone/>
                      </a:pPr>
                      <a:r>
                        <a:rPr lang="af-ZA" sz="800" b="1" cap="none" spc="0">
                          <a:solidFill>
                            <a:schemeClr val="tx1"/>
                          </a:solidFill>
                          <a:effectLst/>
                        </a:rPr>
                        <a:t>Postconditions</a:t>
                      </a:r>
                      <a:endParaRPr lang="af-ZA" sz="800" cap="none" spc="0">
                        <a:solidFill>
                          <a:schemeClr val="tx1"/>
                        </a:solidFill>
                        <a:effectLst/>
                      </a:endParaRPr>
                    </a:p>
                  </a:txBody>
                  <a:tcPr marL="75550" marR="75550" marT="60440" marB="50366"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rtl="0">
                        <a:buNone/>
                      </a:pPr>
                      <a:r>
                        <a:rPr lang="af-ZA" sz="800" cap="none" spc="0">
                          <a:solidFill>
                            <a:schemeClr val="tx1"/>
                          </a:solidFill>
                          <a:effectLst/>
                        </a:rPr>
                        <a:t>1. The message is stored in the database.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The recipient receives a notification (real-time).</a:t>
                      </a:r>
                    </a:p>
                  </a:txBody>
                  <a:tcPr marL="75550" marR="75550" marT="60440" marB="50366"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242474298"/>
                  </a:ext>
                </a:extLst>
              </a:tr>
              <a:tr h="3398725">
                <a:tc>
                  <a:txBody>
                    <a:bodyPr/>
                    <a:lstStyle/>
                    <a:p>
                      <a:pPr rtl="0">
                        <a:buNone/>
                      </a:pPr>
                      <a:r>
                        <a:rPr lang="af-ZA" sz="800" b="1" cap="none" spc="0">
                          <a:solidFill>
                            <a:schemeClr val="tx1"/>
                          </a:solidFill>
                          <a:effectLst/>
                        </a:rPr>
                        <a:t>Flow of activities</a:t>
                      </a:r>
                      <a:endParaRPr lang="af-ZA" sz="800" cap="none" spc="0">
                        <a:solidFill>
                          <a:schemeClr val="tx1"/>
                        </a:solidFill>
                        <a:effectLst/>
                      </a:endParaRPr>
                    </a:p>
                  </a:txBody>
                  <a:tcPr marL="75550" marR="75550" marT="60440" marB="50366"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rtl="0">
                        <a:buNone/>
                      </a:pPr>
                      <a:r>
                        <a:rPr lang="af-ZA" sz="800" b="1" cap="none" spc="0">
                          <a:solidFill>
                            <a:schemeClr val="tx1"/>
                          </a:solidFill>
                          <a:effectLst/>
                        </a:rPr>
                        <a:t>Actor (Sender)</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User clicks the "Chat" icon on the Job or Proposal page.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User types a message in the text box.</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User clicks "Send".</a:t>
                      </a:r>
                    </a:p>
                    <a:p>
                      <a:pPr rtl="0">
                        <a:buNone/>
                      </a:pPr>
                      <a:br>
                        <a:rPr lang="af-ZA" sz="800" cap="none" spc="0">
                          <a:solidFill>
                            <a:schemeClr val="tx1"/>
                          </a:solidFill>
                          <a:effectLst/>
                        </a:rPr>
                      </a:br>
                      <a:br>
                        <a:rPr lang="af-ZA" sz="800" cap="none" spc="0">
                          <a:solidFill>
                            <a:schemeClr val="tx1"/>
                          </a:solidFill>
                          <a:effectLst/>
                        </a:rPr>
                      </a:br>
                      <a:endParaRPr lang="af-ZA" sz="800" cap="none" spc="0">
                        <a:solidFill>
                          <a:schemeClr val="tx1"/>
                        </a:solidFill>
                        <a:effectLst/>
                      </a:endParaRPr>
                    </a:p>
                    <a:p>
                      <a:pPr rtl="0">
                        <a:buNone/>
                      </a:pPr>
                      <a:r>
                        <a:rPr lang="af-ZA" sz="800" b="1" cap="none" spc="0">
                          <a:solidFill>
                            <a:schemeClr val="tx1"/>
                          </a:solidFill>
                          <a:effectLst/>
                        </a:rPr>
                        <a:t>System</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System validates the message content (checks for banned words/spam).</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System saves the message timestamp and content.</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System pushes the message to the Recipient's screen instantly (via WebSockets).</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4. System updates the "Last Active" status.</a:t>
                      </a:r>
                    </a:p>
                  </a:txBody>
                  <a:tcPr marL="75550" marR="75550" marT="60440" marB="50366"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419361710"/>
                  </a:ext>
                </a:extLst>
              </a:tr>
              <a:tr h="981138">
                <a:tc>
                  <a:txBody>
                    <a:bodyPr/>
                    <a:lstStyle/>
                    <a:p>
                      <a:pPr rtl="0">
                        <a:buNone/>
                      </a:pPr>
                      <a:r>
                        <a:rPr lang="af-ZA" sz="800" b="1" cap="none" spc="0">
                          <a:solidFill>
                            <a:schemeClr val="tx1"/>
                          </a:solidFill>
                          <a:effectLst/>
                        </a:rPr>
                        <a:t>Exception conditions</a:t>
                      </a:r>
                      <a:endParaRPr lang="af-ZA" sz="800" cap="none" spc="0">
                        <a:solidFill>
                          <a:schemeClr val="tx1"/>
                        </a:solidFill>
                        <a:effectLst/>
                      </a:endParaRPr>
                    </a:p>
                  </a:txBody>
                  <a:tcPr marL="75550" marR="75550" marT="60440" marB="50366"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rtl="0">
                        <a:buNone/>
                      </a:pPr>
                      <a:r>
                        <a:rPr lang="af-ZA" sz="800" cap="none" spc="0">
                          <a:solidFill>
                            <a:schemeClr val="tx1"/>
                          </a:solidFill>
                          <a:effectLst/>
                        </a:rPr>
                        <a:t>1. </a:t>
                      </a:r>
                      <a:r>
                        <a:rPr lang="af-ZA" sz="800" b="1" cap="none" spc="0">
                          <a:solidFill>
                            <a:schemeClr val="tx1"/>
                          </a:solidFill>
                          <a:effectLst/>
                        </a:rPr>
                        <a:t>Off-Platform Detection:</a:t>
                      </a:r>
                      <a:r>
                        <a:rPr lang="af-ZA" sz="800" cap="none" spc="0">
                          <a:solidFill>
                            <a:schemeClr val="tx1"/>
                          </a:solidFill>
                          <a:effectLst/>
                        </a:rPr>
                        <a:t> If the system detects a phone number or email in the chat (e.g., "010xxxx"), it may block the message and show a warning: "Sharing contact info is forbidden."</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a:t>
                      </a:r>
                      <a:r>
                        <a:rPr lang="af-ZA" sz="800" b="1" cap="none" spc="0">
                          <a:solidFill>
                            <a:schemeClr val="tx1"/>
                          </a:solidFill>
                          <a:effectLst/>
                        </a:rPr>
                        <a:t>Connection Lost:</a:t>
                      </a:r>
                      <a:r>
                        <a:rPr lang="af-ZA" sz="800" cap="none" spc="0">
                          <a:solidFill>
                            <a:schemeClr val="tx1"/>
                          </a:solidFill>
                          <a:effectLst/>
                        </a:rPr>
                        <a:t> If the internet fails, the message shows a "Failed to Send" red icon.</a:t>
                      </a:r>
                    </a:p>
                  </a:txBody>
                  <a:tcPr marL="75550" marR="75550" marT="60440" marB="50366"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1306313159"/>
                  </a:ext>
                </a:extLst>
              </a:tr>
            </a:tbl>
          </a:graphicData>
        </a:graphic>
      </p:graphicFrame>
    </p:spTree>
    <p:extLst>
      <p:ext uri="{BB962C8B-B14F-4D97-AF65-F5344CB8AC3E}">
        <p14:creationId xmlns:p14="http://schemas.microsoft.com/office/powerpoint/2010/main" val="1638585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772400" cy="100583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0" name="Rectangle 9">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353" y="487445"/>
            <a:ext cx="6703695" cy="908350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3" name="جدول 2">
            <a:extLst>
              <a:ext uri="{FF2B5EF4-FFF2-40B4-BE49-F238E27FC236}">
                <a16:creationId xmlns:a16="http://schemas.microsoft.com/office/drawing/2014/main" id="{C087A2B1-1FC9-19F9-7046-C738CB1BD857}"/>
              </a:ext>
            </a:extLst>
          </p:cNvPr>
          <p:cNvGraphicFramePr>
            <a:graphicFrameLocks noGrp="1"/>
          </p:cNvGraphicFramePr>
          <p:nvPr/>
        </p:nvGraphicFramePr>
        <p:xfrm>
          <a:off x="796840" y="653366"/>
          <a:ext cx="6193677" cy="8834858"/>
        </p:xfrm>
        <a:graphic>
          <a:graphicData uri="http://schemas.openxmlformats.org/drawingml/2006/table">
            <a:tbl>
              <a:tblPr bandRow="1">
                <a:noFill/>
                <a:tableStyleId>{5C22544A-7EE6-4342-B048-85BDC9FD1C3A}</a:tableStyleId>
              </a:tblPr>
              <a:tblGrid>
                <a:gridCol w="2121740">
                  <a:extLst>
                    <a:ext uri="{9D8B030D-6E8A-4147-A177-3AD203B41FA5}">
                      <a16:colId xmlns:a16="http://schemas.microsoft.com/office/drawing/2014/main" val="1424797148"/>
                    </a:ext>
                  </a:extLst>
                </a:gridCol>
                <a:gridCol w="4071937">
                  <a:extLst>
                    <a:ext uri="{9D8B030D-6E8A-4147-A177-3AD203B41FA5}">
                      <a16:colId xmlns:a16="http://schemas.microsoft.com/office/drawing/2014/main" val="1463637042"/>
                    </a:ext>
                  </a:extLst>
                </a:gridCol>
              </a:tblGrid>
              <a:tr h="266848">
                <a:tc>
                  <a:txBody>
                    <a:bodyPr/>
                    <a:lstStyle/>
                    <a:p>
                      <a:pPr rtl="0">
                        <a:buNone/>
                      </a:pPr>
                      <a:r>
                        <a:rPr lang="af-ZA" sz="800" b="1" cap="none" spc="0">
                          <a:solidFill>
                            <a:schemeClr val="tx1"/>
                          </a:solidFill>
                          <a:effectLst/>
                        </a:rPr>
                        <a:t>Field</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rtl="0">
                        <a:buNone/>
                      </a:pPr>
                      <a:r>
                        <a:rPr lang="af-ZA" sz="800" b="1" cap="none" spc="0">
                          <a:solidFill>
                            <a:schemeClr val="tx1"/>
                          </a:solidFill>
                          <a:effectLst/>
                        </a:rPr>
                        <a:t>Description</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947823600"/>
                  </a:ext>
                </a:extLst>
              </a:tr>
              <a:tr h="266848">
                <a:tc>
                  <a:txBody>
                    <a:bodyPr/>
                    <a:lstStyle/>
                    <a:p>
                      <a:pPr rtl="0">
                        <a:buNone/>
                      </a:pPr>
                      <a:r>
                        <a:rPr lang="af-ZA" sz="800" b="1" cap="none" spc="0">
                          <a:solidFill>
                            <a:schemeClr val="tx1"/>
                          </a:solidFill>
                          <a:effectLst/>
                        </a:rPr>
                        <a:t>Use case name</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Upload University ID</a:t>
                      </a: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839105106"/>
                  </a:ext>
                </a:extLst>
              </a:tr>
              <a:tr h="266848">
                <a:tc>
                  <a:txBody>
                    <a:bodyPr/>
                    <a:lstStyle/>
                    <a:p>
                      <a:pPr rtl="0">
                        <a:buNone/>
                      </a:pPr>
                      <a:r>
                        <a:rPr lang="af-ZA" sz="800" b="1" cap="none" spc="0">
                          <a:solidFill>
                            <a:schemeClr val="tx1"/>
                          </a:solidFill>
                          <a:effectLst/>
                        </a:rPr>
                        <a:t>Scenario</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rtl="0">
                        <a:buNone/>
                      </a:pPr>
                      <a:r>
                        <a:rPr lang="af-ZA" sz="800" cap="none" spc="0">
                          <a:solidFill>
                            <a:schemeClr val="tx1"/>
                          </a:solidFill>
                          <a:effectLst/>
                        </a:rPr>
                        <a:t>Student validates their identity to gain the "Verified Student" badge.</a:t>
                      </a: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802234276"/>
                  </a:ext>
                </a:extLst>
              </a:tr>
              <a:tr h="384923">
                <a:tc>
                  <a:txBody>
                    <a:bodyPr/>
                    <a:lstStyle/>
                    <a:p>
                      <a:pPr rtl="0">
                        <a:buNone/>
                      </a:pPr>
                      <a:r>
                        <a:rPr lang="af-ZA" sz="800" b="1" cap="none" spc="0">
                          <a:solidFill>
                            <a:schemeClr val="tx1"/>
                          </a:solidFill>
                          <a:effectLst/>
                        </a:rPr>
                        <a:t>Triggering event</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After registration, the Freelancer tries to access full features (like bidding), but the system restricts them until verification is submitted.</a:t>
                      </a: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500644314"/>
                  </a:ext>
                </a:extLst>
              </a:tr>
              <a:tr h="502997">
                <a:tc>
                  <a:txBody>
                    <a:bodyPr/>
                    <a:lstStyle/>
                    <a:p>
                      <a:pPr rtl="0">
                        <a:buNone/>
                      </a:pPr>
                      <a:r>
                        <a:rPr lang="af-ZA" sz="800" b="1" cap="none" spc="0">
                          <a:solidFill>
                            <a:schemeClr val="tx1"/>
                          </a:solidFill>
                          <a:effectLst/>
                        </a:rPr>
                        <a:t>Brief description</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rtl="0">
                        <a:buNone/>
                      </a:pPr>
                      <a:r>
                        <a:rPr lang="af-ZA" sz="800" cap="none" spc="0">
                          <a:solidFill>
                            <a:schemeClr val="tx1"/>
                          </a:solidFill>
                          <a:effectLst/>
                        </a:rPr>
                        <a:t>The Freelancer takes a photo of their valid university ID card (e.g., Cairo University, FCI) and uploads it to the system. This allows the Admin to confirm they are a real student, building trust with clients.</a:t>
                      </a: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142588480"/>
                  </a:ext>
                </a:extLst>
              </a:tr>
              <a:tr h="266848">
                <a:tc>
                  <a:txBody>
                    <a:bodyPr/>
                    <a:lstStyle/>
                    <a:p>
                      <a:pPr rtl="0">
                        <a:buNone/>
                      </a:pPr>
                      <a:r>
                        <a:rPr lang="af-ZA" sz="800" b="1" cap="none" spc="0">
                          <a:solidFill>
                            <a:schemeClr val="tx1"/>
                          </a:solidFill>
                          <a:effectLst/>
                        </a:rPr>
                        <a:t>Actors</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Freelancer (Student).</a:t>
                      </a: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89998330"/>
                  </a:ext>
                </a:extLst>
              </a:tr>
              <a:tr h="266848">
                <a:tc>
                  <a:txBody>
                    <a:bodyPr/>
                    <a:lstStyle/>
                    <a:p>
                      <a:pPr rtl="0">
                        <a:buNone/>
                      </a:pPr>
                      <a:r>
                        <a:rPr lang="af-ZA" sz="800" b="1" cap="none" spc="0">
                          <a:solidFill>
                            <a:schemeClr val="tx1"/>
                          </a:solidFill>
                          <a:effectLst/>
                        </a:rPr>
                        <a:t>Related use cases</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rtl="0">
                        <a:buNone/>
                      </a:pPr>
                      <a:r>
                        <a:rPr lang="af-ZA" sz="800" i="1" cap="none" spc="0">
                          <a:solidFill>
                            <a:schemeClr val="tx1"/>
                          </a:solidFill>
                          <a:effectLst/>
                        </a:rPr>
                        <a:t>Register Account</a:t>
                      </a:r>
                      <a:r>
                        <a:rPr lang="af-ZA" sz="800" cap="none" spc="0">
                          <a:solidFill>
                            <a:schemeClr val="tx1"/>
                          </a:solidFill>
                          <a:effectLst/>
                        </a:rPr>
                        <a:t> (Predecessor), </a:t>
                      </a:r>
                      <a:r>
                        <a:rPr lang="af-ZA" sz="800" i="1" cap="none" spc="0">
                          <a:solidFill>
                            <a:schemeClr val="tx1"/>
                          </a:solidFill>
                          <a:effectLst/>
                        </a:rPr>
                        <a:t>Verify Student ID</a:t>
                      </a:r>
                      <a:r>
                        <a:rPr lang="af-ZA" sz="800" cap="none" spc="0">
                          <a:solidFill>
                            <a:schemeClr val="tx1"/>
                          </a:solidFill>
                          <a:effectLst/>
                        </a:rPr>
                        <a:t> (Successor - performed by Admin).</a:t>
                      </a: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53512156"/>
                  </a:ext>
                </a:extLst>
              </a:tr>
              <a:tr h="621071">
                <a:tc>
                  <a:txBody>
                    <a:bodyPr/>
                    <a:lstStyle/>
                    <a:p>
                      <a:pPr rtl="0">
                        <a:buNone/>
                      </a:pPr>
                      <a:r>
                        <a:rPr lang="af-ZA" sz="800" b="1" cap="none" spc="0">
                          <a:solidFill>
                            <a:schemeClr val="tx1"/>
                          </a:solidFill>
                          <a:effectLst/>
                        </a:rPr>
                        <a:t>Stakeholders</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b="1" cap="none" spc="0">
                          <a:solidFill>
                            <a:schemeClr val="tx1"/>
                          </a:solidFill>
                          <a:effectLst/>
                        </a:rPr>
                        <a:t>Clients:</a:t>
                      </a:r>
                      <a:r>
                        <a:rPr lang="af-ZA" sz="800" cap="none" spc="0">
                          <a:solidFill>
                            <a:schemeClr val="tx1"/>
                          </a:solidFill>
                          <a:effectLst/>
                        </a:rPr>
                        <a:t> Want assurance they are hiring educated students, not random scammers.</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b="1" cap="none" spc="0">
                          <a:solidFill>
                            <a:schemeClr val="tx1"/>
                          </a:solidFill>
                          <a:effectLst/>
                        </a:rPr>
                        <a:t>Admin:</a:t>
                      </a:r>
                      <a:r>
                        <a:rPr lang="af-ZA" sz="800" cap="none" spc="0">
                          <a:solidFill>
                            <a:schemeClr val="tx1"/>
                          </a:solidFill>
                          <a:effectLst/>
                        </a:rPr>
                        <a:t> Needs to maintain platform integrity.</a:t>
                      </a: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082044273"/>
                  </a:ext>
                </a:extLst>
              </a:tr>
              <a:tr h="621071">
                <a:tc>
                  <a:txBody>
                    <a:bodyPr/>
                    <a:lstStyle/>
                    <a:p>
                      <a:pPr rtl="0">
                        <a:buNone/>
                      </a:pPr>
                      <a:r>
                        <a:rPr lang="af-ZA" sz="800" b="1" cap="none" spc="0">
                          <a:solidFill>
                            <a:schemeClr val="tx1"/>
                          </a:solidFill>
                          <a:effectLst/>
                        </a:rPr>
                        <a:t>Preconditions</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rtl="0">
                        <a:buNone/>
                      </a:pPr>
                      <a:r>
                        <a:rPr lang="af-ZA" sz="800" cap="none" spc="0">
                          <a:solidFill>
                            <a:schemeClr val="tx1"/>
                          </a:solidFill>
                          <a:effectLst/>
                        </a:rPr>
                        <a:t>1. The Freelancer must be logged in.</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The Freelancer's account status is currently "Unverified".</a:t>
                      </a: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1536788955"/>
                  </a:ext>
                </a:extLst>
              </a:tr>
              <a:tr h="975294">
                <a:tc>
                  <a:txBody>
                    <a:bodyPr/>
                    <a:lstStyle/>
                    <a:p>
                      <a:pPr rtl="0">
                        <a:buNone/>
                      </a:pPr>
                      <a:r>
                        <a:rPr lang="af-ZA" sz="800" b="1" cap="none" spc="0">
                          <a:solidFill>
                            <a:schemeClr val="tx1"/>
                          </a:solidFill>
                          <a:effectLst/>
                        </a:rPr>
                        <a:t>Postconditions</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1. The ID image is securely stored in the database/cloud storage.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The User's verification status changes to "Pending Approval".</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The user sees a "Verification in Progress" banner.</a:t>
                      </a: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979580039"/>
                  </a:ext>
                </a:extLst>
              </a:tr>
              <a:tr h="3572928">
                <a:tc>
                  <a:txBody>
                    <a:bodyPr/>
                    <a:lstStyle/>
                    <a:p>
                      <a:pPr rtl="0">
                        <a:buNone/>
                      </a:pPr>
                      <a:r>
                        <a:rPr lang="af-ZA" sz="800" b="1" cap="none" spc="0">
                          <a:solidFill>
                            <a:schemeClr val="tx1"/>
                          </a:solidFill>
                          <a:effectLst/>
                        </a:rPr>
                        <a:t>Flow of activities</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rtl="0">
                        <a:buNone/>
                      </a:pPr>
                      <a:r>
                        <a:rPr lang="af-ZA" sz="800" b="1" cap="none" spc="0">
                          <a:solidFill>
                            <a:schemeClr val="tx1"/>
                          </a:solidFill>
                          <a:effectLst/>
                        </a:rPr>
                        <a:t>Actor (Freelancer)</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User navigates to "Profile Settings" or clicks the "Verify Now" banner.</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User selects "Upload ID".</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User browses their device to select a photo (JPG/PNG) of the ID card.</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4. User clicks "Submit for Review".</a:t>
                      </a:r>
                    </a:p>
                    <a:p>
                      <a:pPr rtl="0">
                        <a:buNone/>
                      </a:pPr>
                      <a:br>
                        <a:rPr lang="af-ZA" sz="800" cap="none" spc="0">
                          <a:solidFill>
                            <a:schemeClr val="tx1"/>
                          </a:solidFill>
                          <a:effectLst/>
                        </a:rPr>
                      </a:br>
                      <a:br>
                        <a:rPr lang="af-ZA" sz="800" cap="none" spc="0">
                          <a:solidFill>
                            <a:schemeClr val="tx1"/>
                          </a:solidFill>
                          <a:effectLst/>
                        </a:rPr>
                      </a:br>
                      <a:endParaRPr lang="af-ZA" sz="800" cap="none" spc="0">
                        <a:solidFill>
                          <a:schemeClr val="tx1"/>
                        </a:solidFill>
                        <a:effectLst/>
                      </a:endParaRPr>
                    </a:p>
                    <a:p>
                      <a:pPr rtl="0">
                        <a:buNone/>
                      </a:pPr>
                      <a:r>
                        <a:rPr lang="af-ZA" sz="800" b="1" cap="none" spc="0">
                          <a:solidFill>
                            <a:schemeClr val="tx1"/>
                          </a:solidFill>
                          <a:effectLst/>
                        </a:rPr>
                        <a:t>System</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System validates the file type (must be image) and size (max 5MB).</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System uploads the file to the secure server.</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System updates the database record to "Pending".</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4. System displays a success message: "ID submitted. Review takes 24 hours."</a:t>
                      </a: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3735174500"/>
                  </a:ext>
                </a:extLst>
              </a:tr>
              <a:tr h="739146">
                <a:tc>
                  <a:txBody>
                    <a:bodyPr/>
                    <a:lstStyle/>
                    <a:p>
                      <a:pPr rtl="0">
                        <a:buNone/>
                      </a:pPr>
                      <a:r>
                        <a:rPr lang="af-ZA" sz="800" b="1" cap="none" spc="0">
                          <a:solidFill>
                            <a:schemeClr val="tx1"/>
                          </a:solidFill>
                          <a:effectLst/>
                        </a:rPr>
                        <a:t>Exception conditions</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1. </a:t>
                      </a:r>
                      <a:r>
                        <a:rPr lang="af-ZA" sz="800" b="1" cap="none" spc="0">
                          <a:solidFill>
                            <a:schemeClr val="tx1"/>
                          </a:solidFill>
                          <a:effectLst/>
                        </a:rPr>
                        <a:t>File Too Large:</a:t>
                      </a:r>
                      <a:r>
                        <a:rPr lang="af-ZA" sz="800" cap="none" spc="0">
                          <a:solidFill>
                            <a:schemeClr val="tx1"/>
                          </a:solidFill>
                          <a:effectLst/>
                        </a:rPr>
                        <a:t> If the image is &gt; 5MB, system shows "File too large, please compress it."</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a:t>
                      </a:r>
                      <a:r>
                        <a:rPr lang="af-ZA" sz="800" b="1" cap="none" spc="0">
                          <a:solidFill>
                            <a:schemeClr val="tx1"/>
                          </a:solidFill>
                          <a:effectLst/>
                        </a:rPr>
                        <a:t>Invalid Format:</a:t>
                      </a:r>
                      <a:r>
                        <a:rPr lang="af-ZA" sz="800" cap="none" spc="0">
                          <a:solidFill>
                            <a:schemeClr val="tx1"/>
                          </a:solidFill>
                          <a:effectLst/>
                        </a:rPr>
                        <a:t> If user tries to upload a PDF or Word doc, system rejects it: "Images only."</a:t>
                      </a: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134866176"/>
                  </a:ext>
                </a:extLst>
              </a:tr>
            </a:tbl>
          </a:graphicData>
        </a:graphic>
      </p:graphicFrame>
    </p:spTree>
    <p:extLst>
      <p:ext uri="{BB962C8B-B14F-4D97-AF65-F5344CB8AC3E}">
        <p14:creationId xmlns:p14="http://schemas.microsoft.com/office/powerpoint/2010/main" val="2769708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772400" cy="100583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0" name="Rectangle 9">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353" y="487445"/>
            <a:ext cx="6703695" cy="908350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3" name="جدول 2">
            <a:extLst>
              <a:ext uri="{FF2B5EF4-FFF2-40B4-BE49-F238E27FC236}">
                <a16:creationId xmlns:a16="http://schemas.microsoft.com/office/drawing/2014/main" id="{49AA4DA0-F95F-BC93-68E4-FE0CAD0BC6FB}"/>
              </a:ext>
            </a:extLst>
          </p:cNvPr>
          <p:cNvGraphicFramePr>
            <a:graphicFrameLocks noGrp="1"/>
          </p:cNvGraphicFramePr>
          <p:nvPr/>
        </p:nvGraphicFramePr>
        <p:xfrm>
          <a:off x="871697" y="653366"/>
          <a:ext cx="6043964" cy="8760798"/>
        </p:xfrm>
        <a:graphic>
          <a:graphicData uri="http://schemas.openxmlformats.org/drawingml/2006/table">
            <a:tbl>
              <a:tblPr bandRow="1">
                <a:noFill/>
                <a:tableStyleId>{5C22544A-7EE6-4342-B048-85BDC9FD1C3A}</a:tableStyleId>
              </a:tblPr>
              <a:tblGrid>
                <a:gridCol w="2373111">
                  <a:extLst>
                    <a:ext uri="{9D8B030D-6E8A-4147-A177-3AD203B41FA5}">
                      <a16:colId xmlns:a16="http://schemas.microsoft.com/office/drawing/2014/main" val="4015748564"/>
                    </a:ext>
                  </a:extLst>
                </a:gridCol>
                <a:gridCol w="3670853">
                  <a:extLst>
                    <a:ext uri="{9D8B030D-6E8A-4147-A177-3AD203B41FA5}">
                      <a16:colId xmlns:a16="http://schemas.microsoft.com/office/drawing/2014/main" val="1291439758"/>
                    </a:ext>
                  </a:extLst>
                </a:gridCol>
              </a:tblGrid>
              <a:tr h="255862">
                <a:tc>
                  <a:txBody>
                    <a:bodyPr/>
                    <a:lstStyle/>
                    <a:p>
                      <a:pPr rtl="0">
                        <a:buNone/>
                      </a:pPr>
                      <a:r>
                        <a:rPr lang="af-ZA" sz="800" b="1" cap="none" spc="0">
                          <a:solidFill>
                            <a:schemeClr val="tx1"/>
                          </a:solidFill>
                          <a:effectLst/>
                        </a:rPr>
                        <a:t>Field</a:t>
                      </a:r>
                      <a:endParaRPr lang="af-ZA" sz="800" cap="none" spc="0">
                        <a:solidFill>
                          <a:schemeClr val="tx1"/>
                        </a:solidFill>
                        <a:effectLst/>
                      </a:endParaRPr>
                    </a:p>
                  </a:txBody>
                  <a:tcPr marL="42308" marR="30220" marT="50366" marB="60440" anchor="ctr">
                    <a:lnL w="12700" cmpd="sng">
                      <a:noFill/>
                      <a:prstDash val="solid"/>
                    </a:lnL>
                    <a:lnR w="12700" cmpd="sng">
                      <a:no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rtl="0">
                        <a:buNone/>
                      </a:pPr>
                      <a:r>
                        <a:rPr lang="af-ZA" sz="800" b="1" cap="none" spc="0">
                          <a:solidFill>
                            <a:schemeClr val="tx1"/>
                          </a:solidFill>
                          <a:effectLst/>
                        </a:rPr>
                        <a:t>Description</a:t>
                      </a:r>
                      <a:endParaRPr lang="af-ZA" sz="800" cap="none" spc="0">
                        <a:solidFill>
                          <a:schemeClr val="tx1"/>
                        </a:solidFill>
                        <a:effectLst/>
                      </a:endParaRPr>
                    </a:p>
                  </a:txBody>
                  <a:tcPr marL="42308" marR="30220" marT="50366" marB="60440" anchor="ctr">
                    <a:lnL w="12700" cmpd="sng">
                      <a:noFill/>
                      <a:prstDash val="solid"/>
                    </a:lnL>
                    <a:lnR w="12700" cmpd="sng">
                      <a:no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3762002012"/>
                  </a:ext>
                </a:extLst>
              </a:tr>
              <a:tr h="255862">
                <a:tc>
                  <a:txBody>
                    <a:bodyPr/>
                    <a:lstStyle/>
                    <a:p>
                      <a:pPr rtl="0">
                        <a:buNone/>
                      </a:pPr>
                      <a:r>
                        <a:rPr lang="af-ZA" sz="800" b="1" cap="none" spc="0">
                          <a:solidFill>
                            <a:schemeClr val="tx1"/>
                          </a:solidFill>
                          <a:effectLst/>
                        </a:rPr>
                        <a:t>Use case name</a:t>
                      </a:r>
                      <a:endParaRPr lang="af-ZA" sz="800" cap="none" spc="0">
                        <a:solidFill>
                          <a:schemeClr val="tx1"/>
                        </a:solidFill>
                        <a:effectLst/>
                      </a:endParaRPr>
                    </a:p>
                  </a:txBody>
                  <a:tcPr marL="42308" marR="30220" marT="50366" marB="60440"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Browse Jobs</a:t>
                      </a:r>
                    </a:p>
                  </a:txBody>
                  <a:tcPr marL="42308" marR="30220" marT="50366" marB="60440"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703759372"/>
                  </a:ext>
                </a:extLst>
              </a:tr>
              <a:tr h="255862">
                <a:tc>
                  <a:txBody>
                    <a:bodyPr/>
                    <a:lstStyle/>
                    <a:p>
                      <a:pPr rtl="0">
                        <a:buNone/>
                      </a:pPr>
                      <a:r>
                        <a:rPr lang="af-ZA" sz="800" b="1" cap="none" spc="0">
                          <a:solidFill>
                            <a:schemeClr val="tx1"/>
                          </a:solidFill>
                          <a:effectLst/>
                        </a:rPr>
                        <a:t>Scenario</a:t>
                      </a:r>
                      <a:endParaRPr lang="af-ZA" sz="800" cap="none" spc="0">
                        <a:solidFill>
                          <a:schemeClr val="tx1"/>
                        </a:solidFill>
                        <a:effectLst/>
                      </a:endParaRPr>
                    </a:p>
                  </a:txBody>
                  <a:tcPr marL="42308" marR="30220" marT="50366" marB="60440"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rtl="0">
                        <a:buNone/>
                      </a:pPr>
                      <a:r>
                        <a:rPr lang="af-ZA" sz="800" cap="none" spc="0">
                          <a:solidFill>
                            <a:schemeClr val="tx1"/>
                          </a:solidFill>
                          <a:effectLst/>
                        </a:rPr>
                        <a:t>Freelancer searches for available projects that match their skills.</a:t>
                      </a:r>
                    </a:p>
                  </a:txBody>
                  <a:tcPr marL="42308" marR="30220" marT="50366" marB="60440"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340212360"/>
                  </a:ext>
                </a:extLst>
              </a:tr>
              <a:tr h="255862">
                <a:tc>
                  <a:txBody>
                    <a:bodyPr/>
                    <a:lstStyle/>
                    <a:p>
                      <a:pPr rtl="0">
                        <a:buNone/>
                      </a:pPr>
                      <a:r>
                        <a:rPr lang="af-ZA" sz="800" b="1" cap="none" spc="0">
                          <a:solidFill>
                            <a:schemeClr val="tx1"/>
                          </a:solidFill>
                          <a:effectLst/>
                        </a:rPr>
                        <a:t>Triggering event</a:t>
                      </a:r>
                      <a:endParaRPr lang="af-ZA" sz="800" cap="none" spc="0">
                        <a:solidFill>
                          <a:schemeClr val="tx1"/>
                        </a:solidFill>
                        <a:effectLst/>
                      </a:endParaRPr>
                    </a:p>
                  </a:txBody>
                  <a:tcPr marL="42308" marR="30220" marT="50366" marB="60440"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Freelancer logs in and wants to find work to earn money.</a:t>
                      </a:r>
                    </a:p>
                  </a:txBody>
                  <a:tcPr marL="42308" marR="30220" marT="50366" marB="60440"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346213227"/>
                  </a:ext>
                </a:extLst>
              </a:tr>
              <a:tr h="497621">
                <a:tc>
                  <a:txBody>
                    <a:bodyPr/>
                    <a:lstStyle/>
                    <a:p>
                      <a:pPr rtl="0">
                        <a:buNone/>
                      </a:pPr>
                      <a:r>
                        <a:rPr lang="af-ZA" sz="800" b="1" cap="none" spc="0">
                          <a:solidFill>
                            <a:schemeClr val="tx1"/>
                          </a:solidFill>
                          <a:effectLst/>
                        </a:rPr>
                        <a:t>Brief description</a:t>
                      </a:r>
                      <a:endParaRPr lang="af-ZA" sz="800" cap="none" spc="0">
                        <a:solidFill>
                          <a:schemeClr val="tx1"/>
                        </a:solidFill>
                        <a:effectLst/>
                      </a:endParaRPr>
                    </a:p>
                  </a:txBody>
                  <a:tcPr marL="42308" marR="30220" marT="50366" marB="60440"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rtl="0">
                        <a:buNone/>
                      </a:pPr>
                      <a:r>
                        <a:rPr lang="af-ZA" sz="800" cap="none" spc="0">
                          <a:solidFill>
                            <a:schemeClr val="tx1"/>
                          </a:solidFill>
                          <a:effectLst/>
                        </a:rPr>
                        <a:t>The Freelancer views a feed of active job postings. They can filter these jobs by category (e.g., Web, Mobile, Design), budget range, or search by keywords to find the most suitable tasks.</a:t>
                      </a:r>
                    </a:p>
                  </a:txBody>
                  <a:tcPr marL="42308" marR="30220" marT="50366" marB="60440"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3046793960"/>
                  </a:ext>
                </a:extLst>
              </a:tr>
              <a:tr h="255862">
                <a:tc>
                  <a:txBody>
                    <a:bodyPr/>
                    <a:lstStyle/>
                    <a:p>
                      <a:pPr rtl="0">
                        <a:buNone/>
                      </a:pPr>
                      <a:r>
                        <a:rPr lang="af-ZA" sz="800" b="1" cap="none" spc="0">
                          <a:solidFill>
                            <a:schemeClr val="tx1"/>
                          </a:solidFill>
                          <a:effectLst/>
                        </a:rPr>
                        <a:t>Actors</a:t>
                      </a:r>
                      <a:endParaRPr lang="af-ZA" sz="800" cap="none" spc="0">
                        <a:solidFill>
                          <a:schemeClr val="tx1"/>
                        </a:solidFill>
                        <a:effectLst/>
                      </a:endParaRPr>
                    </a:p>
                  </a:txBody>
                  <a:tcPr marL="42308" marR="30220" marT="50366" marB="60440"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Freelancer (Student).</a:t>
                      </a:r>
                    </a:p>
                  </a:txBody>
                  <a:tcPr marL="42308" marR="30220" marT="50366" marB="60440"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538227276"/>
                  </a:ext>
                </a:extLst>
              </a:tr>
              <a:tr h="255862">
                <a:tc>
                  <a:txBody>
                    <a:bodyPr/>
                    <a:lstStyle/>
                    <a:p>
                      <a:pPr rtl="0">
                        <a:buNone/>
                      </a:pPr>
                      <a:r>
                        <a:rPr lang="af-ZA" sz="800" b="1" cap="none" spc="0">
                          <a:solidFill>
                            <a:schemeClr val="tx1"/>
                          </a:solidFill>
                          <a:effectLst/>
                        </a:rPr>
                        <a:t>Related use cases</a:t>
                      </a:r>
                      <a:endParaRPr lang="af-ZA" sz="800" cap="none" spc="0">
                        <a:solidFill>
                          <a:schemeClr val="tx1"/>
                        </a:solidFill>
                        <a:effectLst/>
                      </a:endParaRPr>
                    </a:p>
                  </a:txBody>
                  <a:tcPr marL="42308" marR="30220" marT="50366" marB="60440"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rtl="0">
                        <a:buNone/>
                      </a:pPr>
                      <a:r>
                        <a:rPr lang="af-ZA" sz="800" i="1" cap="none" spc="0">
                          <a:solidFill>
                            <a:schemeClr val="tx1"/>
                          </a:solidFill>
                          <a:effectLst/>
                        </a:rPr>
                        <a:t>Post New Job</a:t>
                      </a:r>
                      <a:r>
                        <a:rPr lang="af-ZA" sz="800" cap="none" spc="0">
                          <a:solidFill>
                            <a:schemeClr val="tx1"/>
                          </a:solidFill>
                          <a:effectLst/>
                        </a:rPr>
                        <a:t> (The source of data), </a:t>
                      </a:r>
                      <a:r>
                        <a:rPr lang="af-ZA" sz="800" i="1" cap="none" spc="0">
                          <a:solidFill>
                            <a:schemeClr val="tx1"/>
                          </a:solidFill>
                          <a:effectLst/>
                        </a:rPr>
                        <a:t>Submit Proposal</a:t>
                      </a:r>
                      <a:r>
                        <a:rPr lang="af-ZA" sz="800" cap="none" spc="0">
                          <a:solidFill>
                            <a:schemeClr val="tx1"/>
                          </a:solidFill>
                          <a:effectLst/>
                        </a:rPr>
                        <a:t> (The next step).</a:t>
                      </a:r>
                    </a:p>
                  </a:txBody>
                  <a:tcPr marL="42308" marR="30220" marT="50366" marB="60440"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2117428648"/>
                  </a:ext>
                </a:extLst>
              </a:tr>
              <a:tr h="618500">
                <a:tc>
                  <a:txBody>
                    <a:bodyPr/>
                    <a:lstStyle/>
                    <a:p>
                      <a:pPr rtl="0">
                        <a:buNone/>
                      </a:pPr>
                      <a:r>
                        <a:rPr lang="af-ZA" sz="800" b="1" cap="none" spc="0">
                          <a:solidFill>
                            <a:schemeClr val="tx1"/>
                          </a:solidFill>
                          <a:effectLst/>
                        </a:rPr>
                        <a:t>Stakeholders</a:t>
                      </a:r>
                      <a:endParaRPr lang="af-ZA" sz="800" cap="none" spc="0">
                        <a:solidFill>
                          <a:schemeClr val="tx1"/>
                        </a:solidFill>
                        <a:effectLst/>
                      </a:endParaRPr>
                    </a:p>
                  </a:txBody>
                  <a:tcPr marL="42308" marR="30220" marT="50366" marB="60440"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b="1" cap="none" spc="0">
                          <a:solidFill>
                            <a:schemeClr val="tx1"/>
                          </a:solidFill>
                          <a:effectLst/>
                        </a:rPr>
                        <a:t>Clients:</a:t>
                      </a:r>
                      <a:r>
                        <a:rPr lang="af-ZA" sz="800" cap="none" spc="0">
                          <a:solidFill>
                            <a:schemeClr val="tx1"/>
                          </a:solidFill>
                          <a:effectLst/>
                        </a:rPr>
                        <a:t> Want their jobs to be seen by the right talent.</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b="1" cap="none" spc="0">
                          <a:solidFill>
                            <a:schemeClr val="tx1"/>
                          </a:solidFill>
                          <a:effectLst/>
                        </a:rPr>
                        <a:t>Freelancers:</a:t>
                      </a:r>
                      <a:r>
                        <a:rPr lang="af-ZA" sz="800" cap="none" spc="0">
                          <a:solidFill>
                            <a:schemeClr val="tx1"/>
                          </a:solidFill>
                          <a:effectLst/>
                        </a:rPr>
                        <a:t> Need an easy way to find relevant work without wasting time.</a:t>
                      </a:r>
                    </a:p>
                  </a:txBody>
                  <a:tcPr marL="42308" marR="30220" marT="50366" marB="60440"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10349842"/>
                  </a:ext>
                </a:extLst>
              </a:tr>
              <a:tr h="618500">
                <a:tc>
                  <a:txBody>
                    <a:bodyPr/>
                    <a:lstStyle/>
                    <a:p>
                      <a:pPr rtl="0">
                        <a:buNone/>
                      </a:pPr>
                      <a:r>
                        <a:rPr lang="af-ZA" sz="800" b="1" cap="none" spc="0">
                          <a:solidFill>
                            <a:schemeClr val="tx1"/>
                          </a:solidFill>
                          <a:effectLst/>
                        </a:rPr>
                        <a:t>Preconditions</a:t>
                      </a:r>
                      <a:endParaRPr lang="af-ZA" sz="800" cap="none" spc="0">
                        <a:solidFill>
                          <a:schemeClr val="tx1"/>
                        </a:solidFill>
                        <a:effectLst/>
                      </a:endParaRPr>
                    </a:p>
                  </a:txBody>
                  <a:tcPr marL="42308" marR="30220" marT="50366" marB="60440"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rtl="0">
                        <a:buNone/>
                      </a:pPr>
                      <a:r>
                        <a:rPr lang="af-ZA" sz="800" cap="none" spc="0">
                          <a:solidFill>
                            <a:schemeClr val="tx1"/>
                          </a:solidFill>
                          <a:effectLst/>
                        </a:rPr>
                        <a:t>1. The Freelancer must be logged in.</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There must be active "Open" jobs in the database.</a:t>
                      </a:r>
                    </a:p>
                  </a:txBody>
                  <a:tcPr marL="42308" marR="30220" marT="50366" marB="60440"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1890410163"/>
                  </a:ext>
                </a:extLst>
              </a:tr>
              <a:tr h="618500">
                <a:tc>
                  <a:txBody>
                    <a:bodyPr/>
                    <a:lstStyle/>
                    <a:p>
                      <a:pPr rtl="0">
                        <a:buNone/>
                      </a:pPr>
                      <a:r>
                        <a:rPr lang="af-ZA" sz="800" b="1" cap="none" spc="0">
                          <a:solidFill>
                            <a:schemeClr val="tx1"/>
                          </a:solidFill>
                          <a:effectLst/>
                        </a:rPr>
                        <a:t>Postconditions</a:t>
                      </a:r>
                      <a:endParaRPr lang="af-ZA" sz="800" cap="none" spc="0">
                        <a:solidFill>
                          <a:schemeClr val="tx1"/>
                        </a:solidFill>
                        <a:effectLst/>
                      </a:endParaRPr>
                    </a:p>
                  </a:txBody>
                  <a:tcPr marL="42308" marR="30220" marT="50366" marB="60440"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1. A list of job summaries is displayed to the user.</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The user can click a job to view full details.</a:t>
                      </a:r>
                    </a:p>
                  </a:txBody>
                  <a:tcPr marL="42308" marR="30220" marT="50366" marB="60440"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4041873428"/>
                  </a:ext>
                </a:extLst>
              </a:tr>
              <a:tr h="4003122">
                <a:tc>
                  <a:txBody>
                    <a:bodyPr/>
                    <a:lstStyle/>
                    <a:p>
                      <a:pPr rtl="0">
                        <a:buNone/>
                      </a:pPr>
                      <a:r>
                        <a:rPr lang="af-ZA" sz="800" b="1" cap="none" spc="0">
                          <a:solidFill>
                            <a:schemeClr val="tx1"/>
                          </a:solidFill>
                          <a:effectLst/>
                        </a:rPr>
                        <a:t>Flow of activities</a:t>
                      </a:r>
                      <a:endParaRPr lang="af-ZA" sz="800" cap="none" spc="0">
                        <a:solidFill>
                          <a:schemeClr val="tx1"/>
                        </a:solidFill>
                        <a:effectLst/>
                      </a:endParaRPr>
                    </a:p>
                  </a:txBody>
                  <a:tcPr marL="42308" marR="30220" marT="50366" marB="60440"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rtl="0">
                        <a:buNone/>
                      </a:pPr>
                      <a:r>
                        <a:rPr lang="af-ZA" sz="800" b="1" cap="none" spc="0">
                          <a:solidFill>
                            <a:schemeClr val="tx1"/>
                          </a:solidFill>
                          <a:effectLst/>
                        </a:rPr>
                        <a:t>Actor (Freelancer)</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User clicks the "Find Work" or "Jobs" tab.</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User optionally enters a keyword (e.g., "Python").</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User applies filters (e.g., Budget &gt; 1000 EGP).</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4. User scrolls through the results list.</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5. User clicks on a specific job card.</a:t>
                      </a:r>
                    </a:p>
                    <a:p>
                      <a:pPr rtl="0">
                        <a:buNone/>
                      </a:pPr>
                      <a:br>
                        <a:rPr lang="af-ZA" sz="800" cap="none" spc="0">
                          <a:solidFill>
                            <a:schemeClr val="tx1"/>
                          </a:solidFill>
                          <a:effectLst/>
                        </a:rPr>
                      </a:br>
                      <a:br>
                        <a:rPr lang="af-ZA" sz="800" cap="none" spc="0">
                          <a:solidFill>
                            <a:schemeClr val="tx1"/>
                          </a:solidFill>
                          <a:effectLst/>
                        </a:rPr>
                      </a:br>
                      <a:endParaRPr lang="af-ZA" sz="800" cap="none" spc="0">
                        <a:solidFill>
                          <a:schemeClr val="tx1"/>
                        </a:solidFill>
                        <a:effectLst/>
                      </a:endParaRPr>
                    </a:p>
                    <a:p>
                      <a:pPr rtl="0">
                        <a:buNone/>
                      </a:pPr>
                      <a:r>
                        <a:rPr lang="af-ZA" sz="800" b="1" cap="none" spc="0">
                          <a:solidFill>
                            <a:schemeClr val="tx1"/>
                          </a:solidFill>
                          <a:effectLst/>
                        </a:rPr>
                        <a:t>System</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System queries the database for jobs with status "Open".</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System filters results based on user input.</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System displays the job cards (Title, Client Name, Budget, Time posted).</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4. When a card is clicked, system loads the detailed view.</a:t>
                      </a:r>
                    </a:p>
                  </a:txBody>
                  <a:tcPr marL="42308" marR="30220" marT="50366" marB="60440"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996060921"/>
                  </a:ext>
                </a:extLst>
              </a:tr>
              <a:tr h="860259">
                <a:tc>
                  <a:txBody>
                    <a:bodyPr/>
                    <a:lstStyle/>
                    <a:p>
                      <a:pPr rtl="0">
                        <a:buNone/>
                      </a:pPr>
                      <a:r>
                        <a:rPr lang="af-ZA" sz="800" b="1" cap="none" spc="0">
                          <a:solidFill>
                            <a:schemeClr val="tx1"/>
                          </a:solidFill>
                          <a:effectLst/>
                        </a:rPr>
                        <a:t>Exception conditions</a:t>
                      </a:r>
                      <a:endParaRPr lang="af-ZA" sz="800" cap="none" spc="0">
                        <a:solidFill>
                          <a:schemeClr val="tx1"/>
                        </a:solidFill>
                        <a:effectLst/>
                      </a:endParaRPr>
                    </a:p>
                  </a:txBody>
                  <a:tcPr marL="42308" marR="30220" marT="50366" marB="60440"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1. </a:t>
                      </a:r>
                      <a:r>
                        <a:rPr lang="af-ZA" sz="800" b="1" cap="none" spc="0">
                          <a:solidFill>
                            <a:schemeClr val="tx1"/>
                          </a:solidFill>
                          <a:effectLst/>
                        </a:rPr>
                        <a:t>No Results:</a:t>
                      </a:r>
                      <a:r>
                        <a:rPr lang="af-ZA" sz="800" cap="none" spc="0">
                          <a:solidFill>
                            <a:schemeClr val="tx1"/>
                          </a:solidFill>
                          <a:effectLst/>
                        </a:rPr>
                        <a:t> If the search matches nothing, system displays "No jobs found. Try different keywords."</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a:t>
                      </a:r>
                      <a:r>
                        <a:rPr lang="af-ZA" sz="800" b="1" cap="none" spc="0">
                          <a:solidFill>
                            <a:schemeClr val="tx1"/>
                          </a:solidFill>
                          <a:effectLst/>
                        </a:rPr>
                        <a:t>Database Error:</a:t>
                      </a:r>
                      <a:r>
                        <a:rPr lang="af-ZA" sz="800" cap="none" spc="0">
                          <a:solidFill>
                            <a:schemeClr val="tx1"/>
                          </a:solidFill>
                          <a:effectLst/>
                        </a:rPr>
                        <a:t> If the job feed fails to load, system shows "Service unavailable, please refresh."</a:t>
                      </a:r>
                    </a:p>
                  </a:txBody>
                  <a:tcPr marL="42308" marR="30220" marT="50366" marB="60440"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393945790"/>
                  </a:ext>
                </a:extLst>
              </a:tr>
            </a:tbl>
          </a:graphicData>
        </a:graphic>
      </p:graphicFrame>
    </p:spTree>
    <p:extLst>
      <p:ext uri="{BB962C8B-B14F-4D97-AF65-F5344CB8AC3E}">
        <p14:creationId xmlns:p14="http://schemas.microsoft.com/office/powerpoint/2010/main" val="2657439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772400" cy="100583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0" name="Rectangle 9">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353" y="487445"/>
            <a:ext cx="6703695" cy="908350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3" name="جدول 2">
            <a:extLst>
              <a:ext uri="{FF2B5EF4-FFF2-40B4-BE49-F238E27FC236}">
                <a16:creationId xmlns:a16="http://schemas.microsoft.com/office/drawing/2014/main" id="{A374CC8A-8987-52D0-57CD-82FF6865BEDA}"/>
              </a:ext>
            </a:extLst>
          </p:cNvPr>
          <p:cNvGraphicFramePr>
            <a:graphicFrameLocks noGrp="1"/>
          </p:cNvGraphicFramePr>
          <p:nvPr/>
        </p:nvGraphicFramePr>
        <p:xfrm>
          <a:off x="1115383" y="653366"/>
          <a:ext cx="5556592" cy="8751671"/>
        </p:xfrm>
        <a:graphic>
          <a:graphicData uri="http://schemas.openxmlformats.org/drawingml/2006/table">
            <a:tbl>
              <a:tblPr bandRow="1">
                <a:noFill/>
                <a:tableStyleId>{5C22544A-7EE6-4342-B048-85BDC9FD1C3A}</a:tableStyleId>
              </a:tblPr>
              <a:tblGrid>
                <a:gridCol w="2288772">
                  <a:extLst>
                    <a:ext uri="{9D8B030D-6E8A-4147-A177-3AD203B41FA5}">
                      <a16:colId xmlns:a16="http://schemas.microsoft.com/office/drawing/2014/main" val="1860926496"/>
                    </a:ext>
                  </a:extLst>
                </a:gridCol>
                <a:gridCol w="3267820">
                  <a:extLst>
                    <a:ext uri="{9D8B030D-6E8A-4147-A177-3AD203B41FA5}">
                      <a16:colId xmlns:a16="http://schemas.microsoft.com/office/drawing/2014/main" val="375530858"/>
                    </a:ext>
                  </a:extLst>
                </a:gridCol>
              </a:tblGrid>
              <a:tr h="200667">
                <a:tc>
                  <a:txBody>
                    <a:bodyPr/>
                    <a:lstStyle/>
                    <a:p>
                      <a:pPr rtl="0">
                        <a:buNone/>
                      </a:pPr>
                      <a:r>
                        <a:rPr lang="af-ZA" sz="700" b="1" cap="none" spc="0">
                          <a:solidFill>
                            <a:schemeClr val="tx1"/>
                          </a:solidFill>
                          <a:effectLst/>
                        </a:rPr>
                        <a:t>Field</a:t>
                      </a:r>
                      <a:endParaRPr lang="af-ZA" sz="700" cap="none" spc="0">
                        <a:solidFill>
                          <a:schemeClr val="tx1"/>
                        </a:solidFill>
                        <a:effectLst/>
                      </a:endParaRPr>
                    </a:p>
                  </a:txBody>
                  <a:tcPr marL="60686" marR="60686" marT="33984" marB="33984" anchor="ctr">
                    <a:lnL w="28575" cap="flat" cmpd="sng" algn="ctr">
                      <a:noFill/>
                      <a:prstDash val="solid"/>
                    </a:lnL>
                    <a:lnR w="12700" cmpd="sng">
                      <a:noFill/>
                      <a:prstDash val="solid"/>
                    </a:lnR>
                    <a:lnT w="28575" cap="flat" cmpd="sng" algn="ctr">
                      <a:noFill/>
                      <a:prstDash val="solid"/>
                    </a:lnT>
                    <a:lnB w="12700" cap="flat" cmpd="sng" algn="ctr">
                      <a:noFill/>
                      <a:prstDash val="solid"/>
                    </a:lnB>
                    <a:noFill/>
                  </a:tcPr>
                </a:tc>
                <a:tc>
                  <a:txBody>
                    <a:bodyPr/>
                    <a:lstStyle/>
                    <a:p>
                      <a:pPr rtl="0">
                        <a:buNone/>
                      </a:pPr>
                      <a:r>
                        <a:rPr lang="af-ZA" sz="700" b="1" cap="none" spc="0">
                          <a:solidFill>
                            <a:schemeClr val="tx1"/>
                          </a:solidFill>
                          <a:effectLst/>
                        </a:rPr>
                        <a:t>Description</a:t>
                      </a:r>
                      <a:endParaRPr lang="af-ZA" sz="700" cap="none" spc="0">
                        <a:solidFill>
                          <a:schemeClr val="tx1"/>
                        </a:solidFill>
                        <a:effectLst/>
                      </a:endParaRPr>
                    </a:p>
                  </a:txBody>
                  <a:tcPr marL="60686" marR="60686" marT="33984" marB="33984" anchor="ctr">
                    <a:lnL w="12700" cmpd="sng">
                      <a:noFill/>
                      <a:prstDash val="solid"/>
                    </a:lnL>
                    <a:lnR w="28575" cap="flat" cmpd="sng" algn="ctr">
                      <a:noFill/>
                      <a:prstDash val="solid"/>
                    </a:lnR>
                    <a:lnT w="28575" cap="flat" cmpd="sng" algn="ctr">
                      <a:noFill/>
                      <a:prstDash val="solid"/>
                    </a:lnT>
                    <a:lnB w="12700" cap="flat" cmpd="sng" algn="ctr">
                      <a:noFill/>
                      <a:prstDash val="solid"/>
                    </a:lnB>
                    <a:noFill/>
                  </a:tcPr>
                </a:tc>
                <a:extLst>
                  <a:ext uri="{0D108BD9-81ED-4DB2-BD59-A6C34878D82A}">
                    <a16:rowId xmlns:a16="http://schemas.microsoft.com/office/drawing/2014/main" val="1622015435"/>
                  </a:ext>
                </a:extLst>
              </a:tr>
              <a:tr h="184485">
                <a:tc>
                  <a:txBody>
                    <a:bodyPr/>
                    <a:lstStyle/>
                    <a:p>
                      <a:pPr rtl="0">
                        <a:buNone/>
                      </a:pPr>
                      <a:r>
                        <a:rPr lang="af-ZA" sz="600" b="1" cap="none" spc="0">
                          <a:solidFill>
                            <a:schemeClr val="tx1"/>
                          </a:solidFill>
                          <a:effectLst/>
                        </a:rPr>
                        <a:t>Use case name</a:t>
                      </a:r>
                      <a:endParaRPr lang="af-ZA" sz="600" cap="none" spc="0">
                        <a:solidFill>
                          <a:schemeClr val="tx1"/>
                        </a:solidFill>
                        <a:effectLst/>
                      </a:endParaRPr>
                    </a:p>
                  </a:txBody>
                  <a:tcPr marL="60686" marR="60686" marT="33984" marB="3398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af-ZA" sz="600" cap="none" spc="0">
                          <a:solidFill>
                            <a:schemeClr val="tx1"/>
                          </a:solidFill>
                          <a:effectLst/>
                        </a:rPr>
                        <a:t>Submit Proposal</a:t>
                      </a:r>
                    </a:p>
                  </a:txBody>
                  <a:tcPr marL="60686" marR="60686" marT="33984" marB="3398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791459423"/>
                  </a:ext>
                </a:extLst>
              </a:tr>
              <a:tr h="200667">
                <a:tc>
                  <a:txBody>
                    <a:bodyPr/>
                    <a:lstStyle/>
                    <a:p>
                      <a:pPr rtl="0">
                        <a:buNone/>
                      </a:pPr>
                      <a:r>
                        <a:rPr lang="af-ZA" sz="700" b="1" cap="none" spc="0">
                          <a:solidFill>
                            <a:schemeClr val="tx1"/>
                          </a:solidFill>
                          <a:effectLst/>
                        </a:rPr>
                        <a:t>Scenario</a:t>
                      </a:r>
                      <a:endParaRPr lang="af-ZA" sz="700" cap="none" spc="0">
                        <a:solidFill>
                          <a:schemeClr val="tx1"/>
                        </a:solidFill>
                        <a:effectLst/>
                      </a:endParaRPr>
                    </a:p>
                  </a:txBody>
                  <a:tcPr marL="60686" marR="60686" marT="33984" marB="33984"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af-ZA" sz="700" cap="none" spc="0">
                          <a:solidFill>
                            <a:schemeClr val="tx1"/>
                          </a:solidFill>
                          <a:effectLst/>
                        </a:rPr>
                        <a:t>Freelancer applies for a specific job by offering a price and timeline.</a:t>
                      </a:r>
                    </a:p>
                  </a:txBody>
                  <a:tcPr marL="60686" marR="60686" marT="33984" marB="33984"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368696185"/>
                  </a:ext>
                </a:extLst>
              </a:tr>
              <a:tr h="281581">
                <a:tc>
                  <a:txBody>
                    <a:bodyPr/>
                    <a:lstStyle/>
                    <a:p>
                      <a:pPr rtl="0">
                        <a:buNone/>
                      </a:pPr>
                      <a:r>
                        <a:rPr lang="af-ZA" sz="600" b="1" cap="none" spc="0">
                          <a:solidFill>
                            <a:schemeClr val="tx1"/>
                          </a:solidFill>
                          <a:effectLst/>
                        </a:rPr>
                        <a:t>Triggering event</a:t>
                      </a:r>
                      <a:endParaRPr lang="af-ZA" sz="600" cap="none" spc="0">
                        <a:solidFill>
                          <a:schemeClr val="tx1"/>
                        </a:solidFill>
                        <a:effectLst/>
                      </a:endParaRPr>
                    </a:p>
                  </a:txBody>
                  <a:tcPr marL="60686" marR="60686" marT="33984" marB="3398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af-ZA" sz="600" cap="none" spc="0">
                          <a:solidFill>
                            <a:schemeClr val="tx1"/>
                          </a:solidFill>
                          <a:effectLst/>
                        </a:rPr>
                        <a:t>Freelancer finds a job they like in the "Browse Jobs" list and decides they can complete it.</a:t>
                      </a:r>
                    </a:p>
                  </a:txBody>
                  <a:tcPr marL="60686" marR="60686" marT="33984" marB="3398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226957018"/>
                  </a:ext>
                </a:extLst>
              </a:tr>
              <a:tr h="427227">
                <a:tc>
                  <a:txBody>
                    <a:bodyPr/>
                    <a:lstStyle/>
                    <a:p>
                      <a:pPr rtl="0">
                        <a:buNone/>
                      </a:pPr>
                      <a:r>
                        <a:rPr lang="af-ZA" sz="700" b="1" cap="none" spc="0">
                          <a:solidFill>
                            <a:schemeClr val="tx1"/>
                          </a:solidFill>
                          <a:effectLst/>
                        </a:rPr>
                        <a:t>Brief description</a:t>
                      </a:r>
                      <a:endParaRPr lang="af-ZA" sz="700" cap="none" spc="0">
                        <a:solidFill>
                          <a:schemeClr val="tx1"/>
                        </a:solidFill>
                        <a:effectLst/>
                      </a:endParaRPr>
                    </a:p>
                  </a:txBody>
                  <a:tcPr marL="60686" marR="60686" marT="33984" marB="33984"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af-ZA" sz="700" cap="none" spc="0">
                          <a:solidFill>
                            <a:schemeClr val="tx1"/>
                          </a:solidFill>
                          <a:effectLst/>
                        </a:rPr>
                        <a:t>The Freelancer fills out a proposal form, specifying their bid amount (Price), estimated delivery time, and a cover letter explaining why they are the best fit. Once submitted, the Client receives a notification.</a:t>
                      </a:r>
                    </a:p>
                  </a:txBody>
                  <a:tcPr marL="60686" marR="60686" marT="33984" marB="33984"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66413242"/>
                  </a:ext>
                </a:extLst>
              </a:tr>
              <a:tr h="184485">
                <a:tc>
                  <a:txBody>
                    <a:bodyPr/>
                    <a:lstStyle/>
                    <a:p>
                      <a:pPr rtl="0">
                        <a:buNone/>
                      </a:pPr>
                      <a:r>
                        <a:rPr lang="af-ZA" sz="600" b="1" cap="none" spc="0">
                          <a:solidFill>
                            <a:schemeClr val="tx1"/>
                          </a:solidFill>
                          <a:effectLst/>
                        </a:rPr>
                        <a:t>Actors</a:t>
                      </a:r>
                      <a:endParaRPr lang="af-ZA" sz="600" cap="none" spc="0">
                        <a:solidFill>
                          <a:schemeClr val="tx1"/>
                        </a:solidFill>
                        <a:effectLst/>
                      </a:endParaRPr>
                    </a:p>
                  </a:txBody>
                  <a:tcPr marL="60686" marR="60686" marT="33984" marB="3398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af-ZA" sz="600" cap="none" spc="0">
                          <a:solidFill>
                            <a:schemeClr val="tx1"/>
                          </a:solidFill>
                          <a:effectLst/>
                        </a:rPr>
                        <a:t>Freelancer (Student).</a:t>
                      </a:r>
                    </a:p>
                  </a:txBody>
                  <a:tcPr marL="60686" marR="60686" marT="33984" marB="3398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874471416"/>
                  </a:ext>
                </a:extLst>
              </a:tr>
              <a:tr h="200667">
                <a:tc>
                  <a:txBody>
                    <a:bodyPr/>
                    <a:lstStyle/>
                    <a:p>
                      <a:pPr rtl="0">
                        <a:buNone/>
                      </a:pPr>
                      <a:r>
                        <a:rPr lang="af-ZA" sz="700" b="1" cap="none" spc="0">
                          <a:solidFill>
                            <a:schemeClr val="tx1"/>
                          </a:solidFill>
                          <a:effectLst/>
                        </a:rPr>
                        <a:t>Related use cases</a:t>
                      </a:r>
                      <a:endParaRPr lang="af-ZA" sz="700" cap="none" spc="0">
                        <a:solidFill>
                          <a:schemeClr val="tx1"/>
                        </a:solidFill>
                        <a:effectLst/>
                      </a:endParaRPr>
                    </a:p>
                  </a:txBody>
                  <a:tcPr marL="60686" marR="60686" marT="33984" marB="33984"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af-ZA" sz="700" i="1" cap="none" spc="0">
                          <a:solidFill>
                            <a:schemeClr val="tx1"/>
                          </a:solidFill>
                          <a:effectLst/>
                        </a:rPr>
                        <a:t>Browse Jobs</a:t>
                      </a:r>
                      <a:r>
                        <a:rPr lang="af-ZA" sz="700" cap="none" spc="0">
                          <a:solidFill>
                            <a:schemeClr val="tx1"/>
                          </a:solidFill>
                          <a:effectLst/>
                        </a:rPr>
                        <a:t> (Predecessor), </a:t>
                      </a:r>
                      <a:r>
                        <a:rPr lang="af-ZA" sz="700" i="1" cap="none" spc="0">
                          <a:solidFill>
                            <a:schemeClr val="tx1"/>
                          </a:solidFill>
                          <a:effectLst/>
                        </a:rPr>
                        <a:t>Chat with Client</a:t>
                      </a:r>
                      <a:r>
                        <a:rPr lang="af-ZA" sz="700" cap="none" spc="0">
                          <a:solidFill>
                            <a:schemeClr val="tx1"/>
                          </a:solidFill>
                          <a:effectLst/>
                        </a:rPr>
                        <a:t> (Follow-up if interested).</a:t>
                      </a:r>
                    </a:p>
                  </a:txBody>
                  <a:tcPr marL="60686" marR="60686" marT="33984" marB="33984"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973935661"/>
                  </a:ext>
                </a:extLst>
              </a:tr>
              <a:tr h="475775">
                <a:tc>
                  <a:txBody>
                    <a:bodyPr/>
                    <a:lstStyle/>
                    <a:p>
                      <a:pPr rtl="0">
                        <a:buNone/>
                      </a:pPr>
                      <a:r>
                        <a:rPr lang="af-ZA" sz="600" b="1" cap="none" spc="0">
                          <a:solidFill>
                            <a:schemeClr val="tx1"/>
                          </a:solidFill>
                          <a:effectLst/>
                        </a:rPr>
                        <a:t>Stakeholders</a:t>
                      </a:r>
                      <a:endParaRPr lang="af-ZA" sz="600" cap="none" spc="0">
                        <a:solidFill>
                          <a:schemeClr val="tx1"/>
                        </a:solidFill>
                        <a:effectLst/>
                      </a:endParaRPr>
                    </a:p>
                  </a:txBody>
                  <a:tcPr marL="60686" marR="60686" marT="33984" marB="3398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af-ZA" sz="600" b="1" cap="none" spc="0">
                          <a:solidFill>
                            <a:schemeClr val="tx1"/>
                          </a:solidFill>
                          <a:effectLst/>
                        </a:rPr>
                        <a:t>Client:</a:t>
                      </a:r>
                      <a:r>
                        <a:rPr lang="af-ZA" sz="600" cap="none" spc="0">
                          <a:solidFill>
                            <a:schemeClr val="tx1"/>
                          </a:solidFill>
                          <a:effectLst/>
                        </a:rPr>
                        <a:t> Receives offers to choose from.</a:t>
                      </a:r>
                    </a:p>
                    <a:p>
                      <a:pPr rtl="0">
                        <a:buNone/>
                      </a:pPr>
                      <a:br>
                        <a:rPr lang="af-ZA" sz="600" cap="none" spc="0">
                          <a:solidFill>
                            <a:schemeClr val="tx1"/>
                          </a:solidFill>
                          <a:effectLst/>
                        </a:rPr>
                      </a:br>
                      <a:endParaRPr lang="af-ZA" sz="600" cap="none" spc="0">
                        <a:solidFill>
                          <a:schemeClr val="tx1"/>
                        </a:solidFill>
                        <a:effectLst/>
                      </a:endParaRPr>
                    </a:p>
                    <a:p>
                      <a:pPr rtl="0">
                        <a:buNone/>
                      </a:pPr>
                      <a:r>
                        <a:rPr lang="af-ZA" sz="600" b="1" cap="none" spc="0">
                          <a:solidFill>
                            <a:schemeClr val="tx1"/>
                          </a:solidFill>
                          <a:effectLst/>
                        </a:rPr>
                        <a:t>Sho8la:</a:t>
                      </a:r>
                      <a:r>
                        <a:rPr lang="af-ZA" sz="600" cap="none" spc="0">
                          <a:solidFill>
                            <a:schemeClr val="tx1"/>
                          </a:solidFill>
                          <a:effectLst/>
                        </a:rPr>
                        <a:t> Ensures the bidding process is competitive and fair.</a:t>
                      </a:r>
                    </a:p>
                  </a:txBody>
                  <a:tcPr marL="60686" marR="60686" marT="33984" marB="3398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537080911"/>
                  </a:ext>
                </a:extLst>
              </a:tr>
              <a:tr h="993625">
                <a:tc>
                  <a:txBody>
                    <a:bodyPr/>
                    <a:lstStyle/>
                    <a:p>
                      <a:pPr rtl="0">
                        <a:buNone/>
                      </a:pPr>
                      <a:r>
                        <a:rPr lang="af-ZA" sz="700" b="1" cap="none" spc="0">
                          <a:solidFill>
                            <a:schemeClr val="tx1"/>
                          </a:solidFill>
                          <a:effectLst/>
                        </a:rPr>
                        <a:t>Preconditions</a:t>
                      </a:r>
                      <a:endParaRPr lang="af-ZA" sz="700" cap="none" spc="0">
                        <a:solidFill>
                          <a:schemeClr val="tx1"/>
                        </a:solidFill>
                        <a:effectLst/>
                      </a:endParaRPr>
                    </a:p>
                  </a:txBody>
                  <a:tcPr marL="60686" marR="60686" marT="33984" marB="33984"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af-ZA" sz="700" cap="none" spc="0">
                          <a:solidFill>
                            <a:schemeClr val="tx1"/>
                          </a:solidFill>
                          <a:effectLst/>
                        </a:rPr>
                        <a:t>1. The Freelancer must be logged in.</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The Freelancer must be "Verified" (ID approved) to bid on jobs above a certain budget (if applicable).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The Job must still be "Open".</a:t>
                      </a:r>
                    </a:p>
                  </a:txBody>
                  <a:tcPr marL="60686" marR="60686" marT="33984" marB="33984"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905766110"/>
                  </a:ext>
                </a:extLst>
              </a:tr>
              <a:tr h="767066">
                <a:tc>
                  <a:txBody>
                    <a:bodyPr/>
                    <a:lstStyle/>
                    <a:p>
                      <a:pPr rtl="0">
                        <a:buNone/>
                      </a:pPr>
                      <a:r>
                        <a:rPr lang="af-ZA" sz="600" b="1" cap="none" spc="0">
                          <a:solidFill>
                            <a:schemeClr val="tx1"/>
                          </a:solidFill>
                          <a:effectLst/>
                        </a:rPr>
                        <a:t>Postconditions</a:t>
                      </a:r>
                      <a:endParaRPr lang="af-ZA" sz="600" cap="none" spc="0">
                        <a:solidFill>
                          <a:schemeClr val="tx1"/>
                        </a:solidFill>
                        <a:effectLst/>
                      </a:endParaRPr>
                    </a:p>
                  </a:txBody>
                  <a:tcPr marL="60686" marR="60686" marT="33984" marB="3398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af-ZA" sz="600" cap="none" spc="0">
                          <a:solidFill>
                            <a:schemeClr val="tx1"/>
                          </a:solidFill>
                          <a:effectLst/>
                        </a:rPr>
                        <a:t>1. A new Proposal record is created in the database.</a:t>
                      </a:r>
                    </a:p>
                    <a:p>
                      <a:pPr rtl="0">
                        <a:buNone/>
                      </a:pPr>
                      <a:br>
                        <a:rPr lang="af-ZA" sz="600" cap="none" spc="0">
                          <a:solidFill>
                            <a:schemeClr val="tx1"/>
                          </a:solidFill>
                          <a:effectLst/>
                        </a:rPr>
                      </a:br>
                      <a:endParaRPr lang="af-ZA" sz="600" cap="none" spc="0">
                        <a:solidFill>
                          <a:schemeClr val="tx1"/>
                        </a:solidFill>
                        <a:effectLst/>
                      </a:endParaRPr>
                    </a:p>
                    <a:p>
                      <a:pPr rtl="0">
                        <a:buNone/>
                      </a:pPr>
                      <a:r>
                        <a:rPr lang="af-ZA" sz="600" cap="none" spc="0">
                          <a:solidFill>
                            <a:schemeClr val="tx1"/>
                          </a:solidFill>
                          <a:effectLst/>
                        </a:rPr>
                        <a:t>2. The Client receives a notification: "New Proposal Received."</a:t>
                      </a:r>
                    </a:p>
                    <a:p>
                      <a:pPr rtl="0">
                        <a:buNone/>
                      </a:pPr>
                      <a:br>
                        <a:rPr lang="af-ZA" sz="600" cap="none" spc="0">
                          <a:solidFill>
                            <a:schemeClr val="tx1"/>
                          </a:solidFill>
                          <a:effectLst/>
                        </a:rPr>
                      </a:br>
                      <a:endParaRPr lang="af-ZA" sz="600" cap="none" spc="0">
                        <a:solidFill>
                          <a:schemeClr val="tx1"/>
                        </a:solidFill>
                        <a:effectLst/>
                      </a:endParaRPr>
                    </a:p>
                    <a:p>
                      <a:pPr rtl="0">
                        <a:buNone/>
                      </a:pPr>
                      <a:r>
                        <a:rPr lang="af-ZA" sz="600" cap="none" spc="0">
                          <a:solidFill>
                            <a:schemeClr val="tx1"/>
                          </a:solidFill>
                          <a:effectLst/>
                        </a:rPr>
                        <a:t>3. The Freelancer sees the job in their "My Proposals" list.</a:t>
                      </a:r>
                    </a:p>
                  </a:txBody>
                  <a:tcPr marL="60686" marR="60686" marT="33984" marB="3398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946870593"/>
                  </a:ext>
                </a:extLst>
              </a:tr>
              <a:tr h="4165457">
                <a:tc>
                  <a:txBody>
                    <a:bodyPr/>
                    <a:lstStyle/>
                    <a:p>
                      <a:pPr rtl="0">
                        <a:buNone/>
                      </a:pPr>
                      <a:r>
                        <a:rPr lang="af-ZA" sz="700" b="1" cap="none" spc="0">
                          <a:solidFill>
                            <a:schemeClr val="tx1"/>
                          </a:solidFill>
                          <a:effectLst/>
                        </a:rPr>
                        <a:t>Flow of activities</a:t>
                      </a:r>
                      <a:endParaRPr lang="af-ZA" sz="700" cap="none" spc="0">
                        <a:solidFill>
                          <a:schemeClr val="tx1"/>
                        </a:solidFill>
                        <a:effectLst/>
                      </a:endParaRPr>
                    </a:p>
                  </a:txBody>
                  <a:tcPr marL="60686" marR="60686" marT="33984" marB="33984"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af-ZA" sz="700" b="1" cap="none" spc="0">
                          <a:solidFill>
                            <a:schemeClr val="tx1"/>
                          </a:solidFill>
                          <a:effectLst/>
                        </a:rPr>
                        <a:t>Actor (Freelancer)</a:t>
                      </a:r>
                      <a:endParaRPr lang="af-ZA" sz="700" cap="none" spc="0">
                        <a:solidFill>
                          <a:schemeClr val="tx1"/>
                        </a:solidFill>
                        <a:effectLst/>
                      </a:endParaRP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1. User clicks "Apply Now" on the job page.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User enters their Bid Amount (e.g., 600 EGP).</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User specifies Delivery Time (e.g., 3 Days).</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4. User writes a Cover Letter/Message.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5. User clicks "Submit Proposal".</a:t>
                      </a:r>
                    </a:p>
                    <a:p>
                      <a:pPr rtl="0">
                        <a:buNone/>
                      </a:pPr>
                      <a:br>
                        <a:rPr lang="af-ZA" sz="700" cap="none" spc="0">
                          <a:solidFill>
                            <a:schemeClr val="tx1"/>
                          </a:solidFill>
                          <a:effectLst/>
                        </a:rPr>
                      </a:br>
                      <a:br>
                        <a:rPr lang="af-ZA" sz="700" cap="none" spc="0">
                          <a:solidFill>
                            <a:schemeClr val="tx1"/>
                          </a:solidFill>
                          <a:effectLst/>
                        </a:rPr>
                      </a:br>
                      <a:endParaRPr lang="af-ZA" sz="700" cap="none" spc="0">
                        <a:solidFill>
                          <a:schemeClr val="tx1"/>
                        </a:solidFill>
                        <a:effectLst/>
                      </a:endParaRPr>
                    </a:p>
                    <a:p>
                      <a:pPr rtl="0">
                        <a:buNone/>
                      </a:pPr>
                      <a:r>
                        <a:rPr lang="af-ZA" sz="700" b="1" cap="none" spc="0">
                          <a:solidFill>
                            <a:schemeClr val="tx1"/>
                          </a:solidFill>
                          <a:effectLst/>
                        </a:rPr>
                        <a:t>System</a:t>
                      </a:r>
                      <a:endParaRPr lang="af-ZA" sz="700" cap="none" spc="0">
                        <a:solidFill>
                          <a:schemeClr val="tx1"/>
                        </a:solidFill>
                        <a:effectLst/>
                      </a:endParaRP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1. System validates inputs (Bid must be positive).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System checks if Freelancer has already applied to this job (prevents duplicates).</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System saves the proposal to the database.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4. System increments the "Proposal Count" on the job listing.</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5. System displays success message.</a:t>
                      </a:r>
                    </a:p>
                  </a:txBody>
                  <a:tcPr marL="60686" marR="60686" marT="33984" marB="33984"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211739431"/>
                  </a:ext>
                </a:extLst>
              </a:tr>
              <a:tr h="669969">
                <a:tc>
                  <a:txBody>
                    <a:bodyPr/>
                    <a:lstStyle/>
                    <a:p>
                      <a:pPr rtl="0">
                        <a:buNone/>
                      </a:pPr>
                      <a:r>
                        <a:rPr lang="af-ZA" sz="600" b="1" cap="none" spc="0">
                          <a:solidFill>
                            <a:schemeClr val="tx1"/>
                          </a:solidFill>
                          <a:effectLst/>
                        </a:rPr>
                        <a:t>Exception conditions</a:t>
                      </a:r>
                      <a:endParaRPr lang="af-ZA" sz="600" cap="none" spc="0">
                        <a:solidFill>
                          <a:schemeClr val="tx1"/>
                        </a:solidFill>
                        <a:effectLst/>
                      </a:endParaRPr>
                    </a:p>
                  </a:txBody>
                  <a:tcPr marL="60686" marR="60686" marT="33984" marB="3398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af-ZA" sz="600" cap="none" spc="0">
                          <a:solidFill>
                            <a:schemeClr val="tx1"/>
                          </a:solidFill>
                          <a:effectLst/>
                        </a:rPr>
                        <a:t>1. </a:t>
                      </a:r>
                      <a:r>
                        <a:rPr lang="af-ZA" sz="600" b="1" cap="none" spc="0">
                          <a:solidFill>
                            <a:schemeClr val="tx1"/>
                          </a:solidFill>
                          <a:effectLst/>
                        </a:rPr>
                        <a:t>Already Applied:</a:t>
                      </a:r>
                      <a:r>
                        <a:rPr lang="af-ZA" sz="600" cap="none" spc="0">
                          <a:solidFill>
                            <a:schemeClr val="tx1"/>
                          </a:solidFill>
                          <a:effectLst/>
                        </a:rPr>
                        <a:t> If user tries to bid twice on the same job, system shows error "You have already submitted a proposal."</a:t>
                      </a:r>
                    </a:p>
                    <a:p>
                      <a:pPr rtl="0">
                        <a:buNone/>
                      </a:pPr>
                      <a:br>
                        <a:rPr lang="af-ZA" sz="600" cap="none" spc="0">
                          <a:solidFill>
                            <a:schemeClr val="tx1"/>
                          </a:solidFill>
                          <a:effectLst/>
                        </a:rPr>
                      </a:br>
                      <a:endParaRPr lang="af-ZA" sz="600" cap="none" spc="0">
                        <a:solidFill>
                          <a:schemeClr val="tx1"/>
                        </a:solidFill>
                        <a:effectLst/>
                      </a:endParaRPr>
                    </a:p>
                    <a:p>
                      <a:pPr rtl="0">
                        <a:buNone/>
                      </a:pPr>
                      <a:r>
                        <a:rPr lang="af-ZA" sz="600" cap="none" spc="0">
                          <a:solidFill>
                            <a:schemeClr val="tx1"/>
                          </a:solidFill>
                          <a:effectLst/>
                        </a:rPr>
                        <a:t>2. </a:t>
                      </a:r>
                      <a:r>
                        <a:rPr lang="af-ZA" sz="600" b="1" cap="none" spc="0">
                          <a:solidFill>
                            <a:schemeClr val="tx1"/>
                          </a:solidFill>
                          <a:effectLst/>
                        </a:rPr>
                        <a:t>Unverified:</a:t>
                      </a:r>
                      <a:r>
                        <a:rPr lang="af-ZA" sz="600" cap="none" spc="0">
                          <a:solidFill>
                            <a:schemeClr val="tx1"/>
                          </a:solidFill>
                          <a:effectLst/>
                        </a:rPr>
                        <a:t> If a non-verified student tries to bid on a high-value project, system prompts: "Please verify your ID first."</a:t>
                      </a:r>
                    </a:p>
                  </a:txBody>
                  <a:tcPr marL="60686" marR="60686" marT="33984" marB="3398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593416831"/>
                  </a:ext>
                </a:extLst>
              </a:tr>
            </a:tbl>
          </a:graphicData>
        </a:graphic>
      </p:graphicFrame>
    </p:spTree>
    <p:extLst>
      <p:ext uri="{BB962C8B-B14F-4D97-AF65-F5344CB8AC3E}">
        <p14:creationId xmlns:p14="http://schemas.microsoft.com/office/powerpoint/2010/main" val="3692313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772400" cy="100583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2" name="Rectangle 21">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353" y="487445"/>
            <a:ext cx="6703695" cy="908350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15" name="جدول 14">
            <a:extLst>
              <a:ext uri="{FF2B5EF4-FFF2-40B4-BE49-F238E27FC236}">
                <a16:creationId xmlns:a16="http://schemas.microsoft.com/office/drawing/2014/main" id="{E00E5D1E-6758-3DB3-090D-8B9F38E48B56}"/>
              </a:ext>
            </a:extLst>
          </p:cNvPr>
          <p:cNvGraphicFramePr>
            <a:graphicFrameLocks noGrp="1"/>
          </p:cNvGraphicFramePr>
          <p:nvPr/>
        </p:nvGraphicFramePr>
        <p:xfrm>
          <a:off x="1080913" y="653366"/>
          <a:ext cx="5625533" cy="8751672"/>
        </p:xfrm>
        <a:graphic>
          <a:graphicData uri="http://schemas.openxmlformats.org/drawingml/2006/table">
            <a:tbl>
              <a:tblPr bandRow="1">
                <a:solidFill>
                  <a:srgbClr val="F2F2F2">
                    <a:alpha val="30196"/>
                  </a:srgbClr>
                </a:solidFill>
                <a:tableStyleId>{5C22544A-7EE6-4342-B048-85BDC9FD1C3A}</a:tableStyleId>
              </a:tblPr>
              <a:tblGrid>
                <a:gridCol w="2482975">
                  <a:extLst>
                    <a:ext uri="{9D8B030D-6E8A-4147-A177-3AD203B41FA5}">
                      <a16:colId xmlns:a16="http://schemas.microsoft.com/office/drawing/2014/main" val="3300408776"/>
                    </a:ext>
                  </a:extLst>
                </a:gridCol>
                <a:gridCol w="3142558">
                  <a:extLst>
                    <a:ext uri="{9D8B030D-6E8A-4147-A177-3AD203B41FA5}">
                      <a16:colId xmlns:a16="http://schemas.microsoft.com/office/drawing/2014/main" val="3518752860"/>
                    </a:ext>
                  </a:extLst>
                </a:gridCol>
              </a:tblGrid>
              <a:tr h="218254">
                <a:tc>
                  <a:txBody>
                    <a:bodyPr/>
                    <a:lstStyle/>
                    <a:p>
                      <a:pPr rtl="0">
                        <a:buNone/>
                      </a:pPr>
                      <a:r>
                        <a:rPr lang="af-ZA" sz="700" b="1" cap="none" spc="0">
                          <a:solidFill>
                            <a:schemeClr val="tx1"/>
                          </a:solidFill>
                          <a:effectLst/>
                        </a:rPr>
                        <a:t>Field</a:t>
                      </a:r>
                      <a:endParaRPr lang="af-ZA" sz="700" cap="none" spc="0">
                        <a:solidFill>
                          <a:schemeClr val="tx1"/>
                        </a:solidFill>
                        <a:effectLst/>
                      </a:endParaRPr>
                    </a:p>
                  </a:txBody>
                  <a:tcPr marL="59943" marR="57637" marT="46110" marB="46110" anchor="ctr">
                    <a:lnL w="38100" cap="flat" cmpd="sng" algn="ctr">
                      <a:noFill/>
                      <a:prstDash val="solid"/>
                    </a:lnL>
                    <a:lnR w="6350" cap="flat" cmpd="sng" algn="ctr">
                      <a:solidFill>
                        <a:schemeClr val="tx1">
                          <a:lumMod val="75000"/>
                          <a:lumOff val="25000"/>
                        </a:schemeClr>
                      </a:solidFill>
                      <a:prstDash val="solid"/>
                    </a:lnR>
                    <a:lnT w="38100" cap="flat" cmpd="sng" algn="ctr">
                      <a:noFill/>
                      <a:prstDash val="solid"/>
                    </a:lnT>
                    <a:lnB w="6350" cap="flat" cmpd="sng" algn="ctr">
                      <a:noFill/>
                      <a:prstDash val="solid"/>
                    </a:lnB>
                    <a:solidFill>
                      <a:srgbClr val="F2F2F2">
                        <a:alpha val="30196"/>
                      </a:srgbClr>
                    </a:solidFill>
                  </a:tcPr>
                </a:tc>
                <a:tc>
                  <a:txBody>
                    <a:bodyPr/>
                    <a:lstStyle/>
                    <a:p>
                      <a:pPr rtl="0">
                        <a:buNone/>
                      </a:pPr>
                      <a:r>
                        <a:rPr lang="af-ZA" sz="700" b="1" cap="none" spc="0">
                          <a:solidFill>
                            <a:schemeClr val="tx1"/>
                          </a:solidFill>
                          <a:effectLst/>
                        </a:rPr>
                        <a:t>Description</a:t>
                      </a:r>
                      <a:endParaRPr lang="af-ZA" sz="700" cap="none" spc="0">
                        <a:solidFill>
                          <a:schemeClr val="tx1"/>
                        </a:solidFill>
                        <a:effectLst/>
                      </a:endParaRPr>
                    </a:p>
                  </a:txBody>
                  <a:tcPr marL="59943" marR="57637" marT="46110" marB="46110" anchor="ctr">
                    <a:lnL w="6350" cap="flat" cmpd="sng" algn="ctr">
                      <a:solidFill>
                        <a:schemeClr val="tx1">
                          <a:lumMod val="75000"/>
                          <a:lumOff val="25000"/>
                        </a:schemeClr>
                      </a:solidFill>
                      <a:prstDash val="solid"/>
                    </a:lnL>
                    <a:lnR w="38100" cap="flat" cmpd="sng" algn="ctr">
                      <a:noFill/>
                      <a:prstDash val="solid"/>
                    </a:lnR>
                    <a:lnT w="38100" cap="flat" cmpd="sng" algn="ctr">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969472492"/>
                  </a:ext>
                </a:extLst>
              </a:tr>
              <a:tr h="218254">
                <a:tc>
                  <a:txBody>
                    <a:bodyPr/>
                    <a:lstStyle/>
                    <a:p>
                      <a:pPr rtl="0">
                        <a:buNone/>
                      </a:pPr>
                      <a:r>
                        <a:rPr lang="af-ZA" sz="700" b="1" cap="none" spc="0">
                          <a:solidFill>
                            <a:schemeClr val="tx1"/>
                          </a:solidFill>
                          <a:effectLst/>
                        </a:rPr>
                        <a:t>Use case name</a:t>
                      </a:r>
                      <a:endParaRPr lang="af-ZA" sz="700" cap="none" spc="0">
                        <a:solidFill>
                          <a:schemeClr val="tx1"/>
                        </a:solidFill>
                        <a:effectLst/>
                      </a:endParaRPr>
                    </a:p>
                  </a:txBody>
                  <a:tcPr marL="59943" marR="57637" marT="46110" marB="46110"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Request Withdrawal</a:t>
                      </a:r>
                    </a:p>
                  </a:txBody>
                  <a:tcPr marL="59943" marR="57637" marT="46110" marB="46110"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290633649"/>
                  </a:ext>
                </a:extLst>
              </a:tr>
              <a:tr h="325844">
                <a:tc>
                  <a:txBody>
                    <a:bodyPr/>
                    <a:lstStyle/>
                    <a:p>
                      <a:pPr rtl="0">
                        <a:buNone/>
                      </a:pPr>
                      <a:r>
                        <a:rPr lang="af-ZA" sz="700" b="1" cap="none" spc="0">
                          <a:solidFill>
                            <a:schemeClr val="tx1"/>
                          </a:solidFill>
                          <a:effectLst/>
                        </a:rPr>
                        <a:t>Scenario</a:t>
                      </a:r>
                      <a:endParaRPr lang="af-ZA" sz="700" cap="none" spc="0">
                        <a:solidFill>
                          <a:schemeClr val="tx1"/>
                        </a:solidFill>
                        <a:effectLst/>
                      </a:endParaRPr>
                    </a:p>
                  </a:txBody>
                  <a:tcPr marL="59943" marR="57637" marT="46110" marB="46110"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rtl="0">
                        <a:buNone/>
                      </a:pPr>
                      <a:r>
                        <a:rPr lang="af-ZA" sz="700" cap="none" spc="0">
                          <a:solidFill>
                            <a:schemeClr val="tx1"/>
                          </a:solidFill>
                          <a:effectLst/>
                        </a:rPr>
                        <a:t>Freelancer moves their earned money from the Sho8la wallet to their personal account.</a:t>
                      </a:r>
                    </a:p>
                  </a:txBody>
                  <a:tcPr marL="59943" marR="57637" marT="46110" marB="46110"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3990389290"/>
                  </a:ext>
                </a:extLst>
              </a:tr>
              <a:tr h="325844">
                <a:tc>
                  <a:txBody>
                    <a:bodyPr/>
                    <a:lstStyle/>
                    <a:p>
                      <a:pPr rtl="0">
                        <a:buNone/>
                      </a:pPr>
                      <a:r>
                        <a:rPr lang="af-ZA" sz="700" b="1" cap="none" spc="0">
                          <a:solidFill>
                            <a:schemeClr val="tx1"/>
                          </a:solidFill>
                          <a:effectLst/>
                        </a:rPr>
                        <a:t>Triggering event</a:t>
                      </a:r>
                      <a:endParaRPr lang="af-ZA" sz="700" cap="none" spc="0">
                        <a:solidFill>
                          <a:schemeClr val="tx1"/>
                        </a:solidFill>
                        <a:effectLst/>
                      </a:endParaRPr>
                    </a:p>
                  </a:txBody>
                  <a:tcPr marL="59943" marR="57637" marT="46110" marB="46110"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Freelancer has completed jobs, accumulated a balance, and wants to cash out.</a:t>
                      </a:r>
                    </a:p>
                  </a:txBody>
                  <a:tcPr marL="59943" marR="57637" marT="46110" marB="46110"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702372870"/>
                  </a:ext>
                </a:extLst>
              </a:tr>
              <a:tr h="433434">
                <a:tc>
                  <a:txBody>
                    <a:bodyPr/>
                    <a:lstStyle/>
                    <a:p>
                      <a:pPr rtl="0">
                        <a:buNone/>
                      </a:pPr>
                      <a:r>
                        <a:rPr lang="af-ZA" sz="700" b="1" cap="none" spc="0">
                          <a:solidFill>
                            <a:schemeClr val="tx1"/>
                          </a:solidFill>
                          <a:effectLst/>
                        </a:rPr>
                        <a:t>Brief description</a:t>
                      </a:r>
                      <a:endParaRPr lang="af-ZA" sz="700" cap="none" spc="0">
                        <a:solidFill>
                          <a:schemeClr val="tx1"/>
                        </a:solidFill>
                        <a:effectLst/>
                      </a:endParaRPr>
                    </a:p>
                  </a:txBody>
                  <a:tcPr marL="59943" marR="57637" marT="46110" marB="46110"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rtl="0">
                        <a:buNone/>
                      </a:pPr>
                      <a:r>
                        <a:rPr lang="af-ZA" sz="700" cap="none" spc="0">
                          <a:solidFill>
                            <a:schemeClr val="tx1"/>
                          </a:solidFill>
                          <a:effectLst/>
                        </a:rPr>
                        <a:t>The Freelancer views their "Available Balance" and requests a payout. They specify the amount and the destination (e.g., Vodafone Cash number or InstaPay address). The Admin then reviews and processes this request.</a:t>
                      </a:r>
                    </a:p>
                  </a:txBody>
                  <a:tcPr marL="59943" marR="57637" marT="46110" marB="46110"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1467306105"/>
                  </a:ext>
                </a:extLst>
              </a:tr>
              <a:tr h="218254">
                <a:tc>
                  <a:txBody>
                    <a:bodyPr/>
                    <a:lstStyle/>
                    <a:p>
                      <a:pPr rtl="0">
                        <a:buNone/>
                      </a:pPr>
                      <a:r>
                        <a:rPr lang="af-ZA" sz="700" b="1" cap="none" spc="0">
                          <a:solidFill>
                            <a:schemeClr val="tx1"/>
                          </a:solidFill>
                          <a:effectLst/>
                        </a:rPr>
                        <a:t>Actors</a:t>
                      </a:r>
                      <a:endParaRPr lang="af-ZA" sz="700" cap="none" spc="0">
                        <a:solidFill>
                          <a:schemeClr val="tx1"/>
                        </a:solidFill>
                        <a:effectLst/>
                      </a:endParaRPr>
                    </a:p>
                  </a:txBody>
                  <a:tcPr marL="59943" marR="57637" marT="46110" marB="46110"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Freelancer (Student).</a:t>
                      </a:r>
                    </a:p>
                  </a:txBody>
                  <a:tcPr marL="59943" marR="57637" marT="46110" marB="46110"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1150045"/>
                  </a:ext>
                </a:extLst>
              </a:tr>
              <a:tr h="325844">
                <a:tc>
                  <a:txBody>
                    <a:bodyPr/>
                    <a:lstStyle/>
                    <a:p>
                      <a:pPr rtl="0">
                        <a:buNone/>
                      </a:pPr>
                      <a:r>
                        <a:rPr lang="af-ZA" sz="700" b="1" cap="none" spc="0">
                          <a:solidFill>
                            <a:schemeClr val="tx1"/>
                          </a:solidFill>
                          <a:effectLst/>
                        </a:rPr>
                        <a:t>Related use cases</a:t>
                      </a:r>
                      <a:endParaRPr lang="af-ZA" sz="700" cap="none" spc="0">
                        <a:solidFill>
                          <a:schemeClr val="tx1"/>
                        </a:solidFill>
                        <a:effectLst/>
                      </a:endParaRPr>
                    </a:p>
                  </a:txBody>
                  <a:tcPr marL="59943" marR="57637" marT="46110" marB="46110"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rtl="0">
                        <a:buNone/>
                      </a:pPr>
                      <a:r>
                        <a:rPr lang="af-ZA" sz="700" i="1" cap="none" spc="0">
                          <a:solidFill>
                            <a:schemeClr val="tx1"/>
                          </a:solidFill>
                          <a:effectLst/>
                        </a:rPr>
                        <a:t>Approve Work</a:t>
                      </a:r>
                      <a:r>
                        <a:rPr lang="af-ZA" sz="700" cap="none" spc="0">
                          <a:solidFill>
                            <a:schemeClr val="tx1"/>
                          </a:solidFill>
                          <a:effectLst/>
                        </a:rPr>
                        <a:t> (Source of funds), </a:t>
                      </a:r>
                      <a:r>
                        <a:rPr lang="af-ZA" sz="700" i="1" cap="none" spc="0">
                          <a:solidFill>
                            <a:schemeClr val="tx1"/>
                          </a:solidFill>
                          <a:effectLst/>
                        </a:rPr>
                        <a:t>Approve Payout</a:t>
                      </a:r>
                      <a:r>
                        <a:rPr lang="af-ZA" sz="700" cap="none" spc="0">
                          <a:solidFill>
                            <a:schemeClr val="tx1"/>
                          </a:solidFill>
                          <a:effectLst/>
                        </a:rPr>
                        <a:t> (Successor - performed by Admin).</a:t>
                      </a:r>
                    </a:p>
                  </a:txBody>
                  <a:tcPr marL="59943" marR="57637" marT="46110" marB="46110"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3853964753"/>
                  </a:ext>
                </a:extLst>
              </a:tr>
              <a:tr h="541024">
                <a:tc>
                  <a:txBody>
                    <a:bodyPr/>
                    <a:lstStyle/>
                    <a:p>
                      <a:pPr rtl="0">
                        <a:buNone/>
                      </a:pPr>
                      <a:r>
                        <a:rPr lang="af-ZA" sz="700" b="1" cap="none" spc="0">
                          <a:solidFill>
                            <a:schemeClr val="tx1"/>
                          </a:solidFill>
                          <a:effectLst/>
                        </a:rPr>
                        <a:t>Stakeholders</a:t>
                      </a:r>
                      <a:endParaRPr lang="af-ZA" sz="700" cap="none" spc="0">
                        <a:solidFill>
                          <a:schemeClr val="tx1"/>
                        </a:solidFill>
                        <a:effectLst/>
                      </a:endParaRPr>
                    </a:p>
                  </a:txBody>
                  <a:tcPr marL="59943" marR="57637" marT="46110" marB="46110"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rtl="0">
                        <a:buNone/>
                      </a:pPr>
                      <a:r>
                        <a:rPr lang="af-ZA" sz="700" b="1" cap="none" spc="0">
                          <a:solidFill>
                            <a:schemeClr val="tx1"/>
                          </a:solidFill>
                          <a:effectLst/>
                        </a:rPr>
                        <a:t>Admin:</a:t>
                      </a:r>
                      <a:r>
                        <a:rPr lang="af-ZA" sz="700" cap="none" spc="0">
                          <a:solidFill>
                            <a:schemeClr val="tx1"/>
                          </a:solidFill>
                          <a:effectLst/>
                        </a:rPr>
                        <a:t> Needs to verify the request to prevent fraud.</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b="1" cap="none" spc="0">
                          <a:solidFill>
                            <a:schemeClr val="tx1"/>
                          </a:solidFill>
                          <a:effectLst/>
                        </a:rPr>
                        <a:t>Freelancer:</a:t>
                      </a:r>
                      <a:r>
                        <a:rPr lang="af-ZA" sz="700" cap="none" spc="0">
                          <a:solidFill>
                            <a:schemeClr val="tx1"/>
                          </a:solidFill>
                          <a:effectLst/>
                        </a:rPr>
                        <a:t> Wants quick access to their earnings.</a:t>
                      </a:r>
                    </a:p>
                  </a:txBody>
                  <a:tcPr marL="59943" marR="57637" marT="46110" marB="46110"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336876456"/>
                  </a:ext>
                </a:extLst>
              </a:tr>
              <a:tr h="541024">
                <a:tc>
                  <a:txBody>
                    <a:bodyPr/>
                    <a:lstStyle/>
                    <a:p>
                      <a:pPr rtl="0">
                        <a:buNone/>
                      </a:pPr>
                      <a:r>
                        <a:rPr lang="af-ZA" sz="700" b="1" cap="none" spc="0">
                          <a:solidFill>
                            <a:schemeClr val="tx1"/>
                          </a:solidFill>
                          <a:effectLst/>
                        </a:rPr>
                        <a:t>Preconditions</a:t>
                      </a:r>
                      <a:endParaRPr lang="af-ZA" sz="700" cap="none" spc="0">
                        <a:solidFill>
                          <a:schemeClr val="tx1"/>
                        </a:solidFill>
                        <a:effectLst/>
                      </a:endParaRPr>
                    </a:p>
                  </a:txBody>
                  <a:tcPr marL="59943" marR="57637" marT="46110" marB="46110"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rtl="0">
                        <a:buNone/>
                      </a:pPr>
                      <a:r>
                        <a:rPr lang="af-ZA" sz="700" cap="none" spc="0">
                          <a:solidFill>
                            <a:schemeClr val="tx1"/>
                          </a:solidFill>
                          <a:effectLst/>
                        </a:rPr>
                        <a:t>1. Freelancer must have a positive "Available Balance".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Freelancer must not have any active disputes locking their funds.</a:t>
                      </a:r>
                    </a:p>
                  </a:txBody>
                  <a:tcPr marL="59943" marR="57637" marT="46110" marB="46110"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1846108109"/>
                  </a:ext>
                </a:extLst>
              </a:tr>
              <a:tr h="648614">
                <a:tc>
                  <a:txBody>
                    <a:bodyPr/>
                    <a:lstStyle/>
                    <a:p>
                      <a:pPr rtl="0">
                        <a:buNone/>
                      </a:pPr>
                      <a:r>
                        <a:rPr lang="af-ZA" sz="700" b="1" cap="none" spc="0">
                          <a:solidFill>
                            <a:schemeClr val="tx1"/>
                          </a:solidFill>
                          <a:effectLst/>
                        </a:rPr>
                        <a:t>Postconditions</a:t>
                      </a:r>
                      <a:endParaRPr lang="af-ZA" sz="700" cap="none" spc="0">
                        <a:solidFill>
                          <a:schemeClr val="tx1"/>
                        </a:solidFill>
                        <a:effectLst/>
                      </a:endParaRPr>
                    </a:p>
                  </a:txBody>
                  <a:tcPr marL="59943" marR="57637" marT="46110" marB="46110"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1. A "Withdrawal Request" record is created with status "Pending".</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The requested amount is deducted from "Available Balance" and moved to "Frozen/Pending Withdrawal".</a:t>
                      </a:r>
                    </a:p>
                  </a:txBody>
                  <a:tcPr marL="59943" marR="57637" marT="46110" marB="46110"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333564942"/>
                  </a:ext>
                </a:extLst>
              </a:tr>
              <a:tr h="4199079">
                <a:tc>
                  <a:txBody>
                    <a:bodyPr/>
                    <a:lstStyle/>
                    <a:p>
                      <a:pPr rtl="0">
                        <a:buNone/>
                      </a:pPr>
                      <a:r>
                        <a:rPr lang="af-ZA" sz="700" b="1" cap="none" spc="0">
                          <a:solidFill>
                            <a:schemeClr val="tx1"/>
                          </a:solidFill>
                          <a:effectLst/>
                        </a:rPr>
                        <a:t>Flow of activities</a:t>
                      </a:r>
                      <a:endParaRPr lang="af-ZA" sz="700" cap="none" spc="0">
                        <a:solidFill>
                          <a:schemeClr val="tx1"/>
                        </a:solidFill>
                        <a:effectLst/>
                      </a:endParaRPr>
                    </a:p>
                  </a:txBody>
                  <a:tcPr marL="59943" marR="57637" marT="46110" marB="46110"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rtl="0">
                        <a:buNone/>
                      </a:pPr>
                      <a:r>
                        <a:rPr lang="af-ZA" sz="700" b="1" cap="none" spc="0">
                          <a:solidFill>
                            <a:schemeClr val="tx1"/>
                          </a:solidFill>
                          <a:effectLst/>
                        </a:rPr>
                        <a:t>Actor (Freelancer)</a:t>
                      </a:r>
                      <a:endParaRPr lang="af-ZA" sz="700" cap="none" spc="0">
                        <a:solidFill>
                          <a:schemeClr val="tx1"/>
                        </a:solidFill>
                        <a:effectLst/>
                      </a:endParaRP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1. User navigates to the "Wallet" page.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User clicks "Withdraw Funds".</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User enters the Amount (e.g., 500 EGP).</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4. User selects Method (Vodafone Cash / InstaPay).</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5. User enters the destination number/address.</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6. User clicks "Confirm Withdrawal".</a:t>
                      </a:r>
                    </a:p>
                    <a:p>
                      <a:pPr rtl="0">
                        <a:buNone/>
                      </a:pPr>
                      <a:br>
                        <a:rPr lang="af-ZA" sz="700" cap="none" spc="0">
                          <a:solidFill>
                            <a:schemeClr val="tx1"/>
                          </a:solidFill>
                          <a:effectLst/>
                        </a:rPr>
                      </a:br>
                      <a:br>
                        <a:rPr lang="af-ZA" sz="700" cap="none" spc="0">
                          <a:solidFill>
                            <a:schemeClr val="tx1"/>
                          </a:solidFill>
                          <a:effectLst/>
                        </a:rPr>
                      </a:br>
                      <a:endParaRPr lang="af-ZA" sz="700" cap="none" spc="0">
                        <a:solidFill>
                          <a:schemeClr val="tx1"/>
                        </a:solidFill>
                        <a:effectLst/>
                      </a:endParaRPr>
                    </a:p>
                    <a:p>
                      <a:pPr rtl="0">
                        <a:buNone/>
                      </a:pPr>
                      <a:r>
                        <a:rPr lang="af-ZA" sz="700" b="1" cap="none" spc="0">
                          <a:solidFill>
                            <a:schemeClr val="tx1"/>
                          </a:solidFill>
                          <a:effectLst/>
                        </a:rPr>
                        <a:t>System</a:t>
                      </a:r>
                      <a:endParaRPr lang="af-ZA" sz="700" cap="none" spc="0">
                        <a:solidFill>
                          <a:schemeClr val="tx1"/>
                        </a:solidFill>
                        <a:effectLst/>
                      </a:endParaRP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1. System checks if (Requested Amount &lt;= Available Balance).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System validates the phone number/InstaPay format.</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System creates the transaction record.</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4. System updates the wallet UI to show the new pending state.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5. System notifies Admin: "New Payout Request".</a:t>
                      </a:r>
                    </a:p>
                  </a:txBody>
                  <a:tcPr marL="59943" marR="57637" marT="46110" marB="46110"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1220419691"/>
                  </a:ext>
                </a:extLst>
              </a:tr>
              <a:tr h="756203">
                <a:tc>
                  <a:txBody>
                    <a:bodyPr/>
                    <a:lstStyle/>
                    <a:p>
                      <a:pPr rtl="0">
                        <a:buNone/>
                      </a:pPr>
                      <a:r>
                        <a:rPr lang="af-ZA" sz="700" b="1" cap="none" spc="0">
                          <a:solidFill>
                            <a:schemeClr val="tx1"/>
                          </a:solidFill>
                          <a:effectLst/>
                        </a:rPr>
                        <a:t>Exception conditions</a:t>
                      </a:r>
                      <a:endParaRPr lang="af-ZA" sz="700" cap="none" spc="0">
                        <a:solidFill>
                          <a:schemeClr val="tx1"/>
                        </a:solidFill>
                        <a:effectLst/>
                      </a:endParaRPr>
                    </a:p>
                  </a:txBody>
                  <a:tcPr marL="59943" marR="57637" marT="46110" marB="46110"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1. </a:t>
                      </a:r>
                      <a:r>
                        <a:rPr lang="af-ZA" sz="700" b="1" cap="none" spc="0">
                          <a:solidFill>
                            <a:schemeClr val="tx1"/>
                          </a:solidFill>
                          <a:effectLst/>
                        </a:rPr>
                        <a:t>Insufficient Funds:</a:t>
                      </a:r>
                      <a:r>
                        <a:rPr lang="af-ZA" sz="700" cap="none" spc="0">
                          <a:solidFill>
                            <a:schemeClr val="tx1"/>
                          </a:solidFill>
                          <a:effectLst/>
                        </a:rPr>
                        <a:t> If user requests 1000 EGP but has only 500 EGP, system shows error "Insufficient Balance".</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a:t>
                      </a:r>
                      <a:r>
                        <a:rPr lang="af-ZA" sz="700" b="1" cap="none" spc="0">
                          <a:solidFill>
                            <a:schemeClr val="tx1"/>
                          </a:solidFill>
                          <a:effectLst/>
                        </a:rPr>
                        <a:t>Invalid Number:</a:t>
                      </a:r>
                      <a:r>
                        <a:rPr lang="af-ZA" sz="700" cap="none" spc="0">
                          <a:solidFill>
                            <a:schemeClr val="tx1"/>
                          </a:solidFill>
                          <a:effectLst/>
                        </a:rPr>
                        <a:t> If the Vodafone Cash number is not 11 digits, system rejects the request.</a:t>
                      </a:r>
                    </a:p>
                  </a:txBody>
                  <a:tcPr marL="59943" marR="57637" marT="46110" marB="46110"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804427634"/>
                  </a:ext>
                </a:extLst>
              </a:tr>
            </a:tbl>
          </a:graphicData>
        </a:graphic>
      </p:graphicFrame>
    </p:spTree>
    <p:extLst>
      <p:ext uri="{BB962C8B-B14F-4D97-AF65-F5344CB8AC3E}">
        <p14:creationId xmlns:p14="http://schemas.microsoft.com/office/powerpoint/2010/main" val="3923025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772400" cy="100583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0" name="Rectangle 9">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353" y="487445"/>
            <a:ext cx="6703695" cy="908350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3" name="جدول 2">
            <a:extLst>
              <a:ext uri="{FF2B5EF4-FFF2-40B4-BE49-F238E27FC236}">
                <a16:creationId xmlns:a16="http://schemas.microsoft.com/office/drawing/2014/main" id="{F389189C-11F0-5BED-ABB7-9EE44FB9FA0F}"/>
              </a:ext>
            </a:extLst>
          </p:cNvPr>
          <p:cNvGraphicFramePr>
            <a:graphicFrameLocks noGrp="1"/>
          </p:cNvGraphicFramePr>
          <p:nvPr/>
        </p:nvGraphicFramePr>
        <p:xfrm>
          <a:off x="796840" y="653366"/>
          <a:ext cx="6193677" cy="8838704"/>
        </p:xfrm>
        <a:graphic>
          <a:graphicData uri="http://schemas.openxmlformats.org/drawingml/2006/table">
            <a:tbl>
              <a:tblPr bandRow="1">
                <a:noFill/>
                <a:tableStyleId>{5C22544A-7EE6-4342-B048-85BDC9FD1C3A}</a:tableStyleId>
              </a:tblPr>
              <a:tblGrid>
                <a:gridCol w="2121740">
                  <a:extLst>
                    <a:ext uri="{9D8B030D-6E8A-4147-A177-3AD203B41FA5}">
                      <a16:colId xmlns:a16="http://schemas.microsoft.com/office/drawing/2014/main" val="2599839424"/>
                    </a:ext>
                  </a:extLst>
                </a:gridCol>
                <a:gridCol w="4071937">
                  <a:extLst>
                    <a:ext uri="{9D8B030D-6E8A-4147-A177-3AD203B41FA5}">
                      <a16:colId xmlns:a16="http://schemas.microsoft.com/office/drawing/2014/main" val="2873191648"/>
                    </a:ext>
                  </a:extLst>
                </a:gridCol>
              </a:tblGrid>
              <a:tr h="266848">
                <a:tc>
                  <a:txBody>
                    <a:bodyPr/>
                    <a:lstStyle/>
                    <a:p>
                      <a:pPr rtl="0">
                        <a:buNone/>
                      </a:pPr>
                      <a:r>
                        <a:rPr lang="af-ZA" sz="800" b="1" cap="none" spc="0">
                          <a:solidFill>
                            <a:schemeClr val="tx1"/>
                          </a:solidFill>
                          <a:effectLst/>
                        </a:rPr>
                        <a:t>Field</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rtl="0">
                        <a:buNone/>
                      </a:pPr>
                      <a:r>
                        <a:rPr lang="af-ZA" sz="800" b="1" cap="none" spc="0">
                          <a:solidFill>
                            <a:schemeClr val="tx1"/>
                          </a:solidFill>
                          <a:effectLst/>
                        </a:rPr>
                        <a:t>Description</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28224231"/>
                  </a:ext>
                </a:extLst>
              </a:tr>
              <a:tr h="266848">
                <a:tc>
                  <a:txBody>
                    <a:bodyPr/>
                    <a:lstStyle/>
                    <a:p>
                      <a:pPr rtl="0">
                        <a:buNone/>
                      </a:pPr>
                      <a:r>
                        <a:rPr lang="af-ZA" sz="800" b="1" cap="none" spc="0">
                          <a:solidFill>
                            <a:schemeClr val="tx1"/>
                          </a:solidFill>
                          <a:effectLst/>
                        </a:rPr>
                        <a:t>Use case name</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Verify Student ID</a:t>
                      </a: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573279435"/>
                  </a:ext>
                </a:extLst>
              </a:tr>
              <a:tr h="266848">
                <a:tc>
                  <a:txBody>
                    <a:bodyPr/>
                    <a:lstStyle/>
                    <a:p>
                      <a:pPr rtl="0">
                        <a:buNone/>
                      </a:pPr>
                      <a:r>
                        <a:rPr lang="af-ZA" sz="800" b="1" cap="none" spc="0">
                          <a:solidFill>
                            <a:schemeClr val="tx1"/>
                          </a:solidFill>
                          <a:effectLst/>
                        </a:rPr>
                        <a:t>Scenario</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rtl="0">
                        <a:buNone/>
                      </a:pPr>
                      <a:r>
                        <a:rPr lang="af-ZA" sz="800" cap="none" spc="0">
                          <a:solidFill>
                            <a:schemeClr val="tx1"/>
                          </a:solidFill>
                          <a:effectLst/>
                        </a:rPr>
                        <a:t>Admin reviews and validates the university ID uploaded by a freelancer.</a:t>
                      </a: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3219469212"/>
                  </a:ext>
                </a:extLst>
              </a:tr>
              <a:tr h="384923">
                <a:tc>
                  <a:txBody>
                    <a:bodyPr/>
                    <a:lstStyle/>
                    <a:p>
                      <a:pPr rtl="0">
                        <a:buNone/>
                      </a:pPr>
                      <a:r>
                        <a:rPr lang="af-ZA" sz="800" b="1" cap="none" spc="0">
                          <a:solidFill>
                            <a:schemeClr val="tx1"/>
                          </a:solidFill>
                          <a:effectLst/>
                        </a:rPr>
                        <a:t>Triggering event</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A Freelancer has uploaded their ID card, generating a "Pending Verification" request in the Admin panel.</a:t>
                      </a: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275593204"/>
                  </a:ext>
                </a:extLst>
              </a:tr>
              <a:tr h="502997">
                <a:tc>
                  <a:txBody>
                    <a:bodyPr/>
                    <a:lstStyle/>
                    <a:p>
                      <a:pPr rtl="0">
                        <a:buNone/>
                      </a:pPr>
                      <a:r>
                        <a:rPr lang="af-ZA" sz="800" b="1" cap="none" spc="0">
                          <a:solidFill>
                            <a:schemeClr val="tx1"/>
                          </a:solidFill>
                          <a:effectLst/>
                        </a:rPr>
                        <a:t>Brief description</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rtl="0">
                        <a:buNone/>
                      </a:pPr>
                      <a:r>
                        <a:rPr lang="af-ZA" sz="800" cap="none" spc="0">
                          <a:solidFill>
                            <a:schemeClr val="tx1"/>
                          </a:solidFill>
                          <a:effectLst/>
                        </a:rPr>
                        <a:t>The Admin views the queue of pending verifications. They examine the uploaded image to ensure it is a valid, readable Egyptian university ID and matches the user's name. They then approve or reject the request.</a:t>
                      </a: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2180633851"/>
                  </a:ext>
                </a:extLst>
              </a:tr>
              <a:tr h="266848">
                <a:tc>
                  <a:txBody>
                    <a:bodyPr/>
                    <a:lstStyle/>
                    <a:p>
                      <a:pPr rtl="0">
                        <a:buNone/>
                      </a:pPr>
                      <a:r>
                        <a:rPr lang="af-ZA" sz="800" b="1" cap="none" spc="0">
                          <a:solidFill>
                            <a:schemeClr val="tx1"/>
                          </a:solidFill>
                          <a:effectLst/>
                        </a:rPr>
                        <a:t>Actors</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Admin.</a:t>
                      </a: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338466284"/>
                  </a:ext>
                </a:extLst>
              </a:tr>
              <a:tr h="266848">
                <a:tc>
                  <a:txBody>
                    <a:bodyPr/>
                    <a:lstStyle/>
                    <a:p>
                      <a:pPr rtl="0">
                        <a:buNone/>
                      </a:pPr>
                      <a:r>
                        <a:rPr lang="af-ZA" sz="800" b="1" cap="none" spc="0">
                          <a:solidFill>
                            <a:schemeClr val="tx1"/>
                          </a:solidFill>
                          <a:effectLst/>
                        </a:rPr>
                        <a:t>Related use cases</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rtl="0">
                        <a:buNone/>
                      </a:pPr>
                      <a:r>
                        <a:rPr lang="af-ZA" sz="800" i="1" cap="none" spc="0">
                          <a:solidFill>
                            <a:schemeClr val="tx1"/>
                          </a:solidFill>
                          <a:effectLst/>
                        </a:rPr>
                        <a:t>Upload University ID</a:t>
                      </a:r>
                      <a:r>
                        <a:rPr lang="af-ZA" sz="800" cap="none" spc="0">
                          <a:solidFill>
                            <a:schemeClr val="tx1"/>
                          </a:solidFill>
                          <a:effectLst/>
                        </a:rPr>
                        <a:t> (Predecessor), </a:t>
                      </a:r>
                      <a:r>
                        <a:rPr lang="af-ZA" sz="800" i="1" cap="none" spc="0">
                          <a:solidFill>
                            <a:schemeClr val="tx1"/>
                          </a:solidFill>
                          <a:effectLst/>
                        </a:rPr>
                        <a:t>Login</a:t>
                      </a:r>
                      <a:r>
                        <a:rPr lang="af-ZA" sz="800" cap="none" spc="0">
                          <a:solidFill>
                            <a:schemeClr val="tx1"/>
                          </a:solidFill>
                          <a:effectLst/>
                        </a:rPr>
                        <a:t> (Precondition).</a:t>
                      </a: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3028346129"/>
                  </a:ext>
                </a:extLst>
              </a:tr>
              <a:tr h="621071">
                <a:tc>
                  <a:txBody>
                    <a:bodyPr/>
                    <a:lstStyle/>
                    <a:p>
                      <a:pPr rtl="0">
                        <a:buNone/>
                      </a:pPr>
                      <a:r>
                        <a:rPr lang="af-ZA" sz="800" b="1" cap="none" spc="0">
                          <a:solidFill>
                            <a:schemeClr val="tx1"/>
                          </a:solidFill>
                          <a:effectLst/>
                        </a:rPr>
                        <a:t>Stakeholders</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b="1" cap="none" spc="0">
                          <a:solidFill>
                            <a:schemeClr val="tx1"/>
                          </a:solidFill>
                          <a:effectLst/>
                        </a:rPr>
                        <a:t>Sho8la:</a:t>
                      </a:r>
                      <a:r>
                        <a:rPr lang="af-ZA" sz="800" cap="none" spc="0">
                          <a:solidFill>
                            <a:schemeClr val="tx1"/>
                          </a:solidFill>
                          <a:effectLst/>
                        </a:rPr>
                        <a:t> Ensures only real students are on the platform.</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b="1" cap="none" spc="0">
                          <a:solidFill>
                            <a:schemeClr val="tx1"/>
                          </a:solidFill>
                          <a:effectLst/>
                        </a:rPr>
                        <a:t>Freelancer:</a:t>
                      </a:r>
                      <a:r>
                        <a:rPr lang="af-ZA" sz="800" cap="none" spc="0">
                          <a:solidFill>
                            <a:schemeClr val="tx1"/>
                          </a:solidFill>
                          <a:effectLst/>
                        </a:rPr>
                        <a:t> Needs the "Verified" badge to unlock full account features.</a:t>
                      </a: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76556848"/>
                  </a:ext>
                </a:extLst>
              </a:tr>
              <a:tr h="621071">
                <a:tc>
                  <a:txBody>
                    <a:bodyPr/>
                    <a:lstStyle/>
                    <a:p>
                      <a:pPr rtl="0">
                        <a:buNone/>
                      </a:pPr>
                      <a:r>
                        <a:rPr lang="af-ZA" sz="800" b="1" cap="none" spc="0">
                          <a:solidFill>
                            <a:schemeClr val="tx1"/>
                          </a:solidFill>
                          <a:effectLst/>
                        </a:rPr>
                        <a:t>Preconditions</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rtl="0">
                        <a:buNone/>
                      </a:pPr>
                      <a:r>
                        <a:rPr lang="af-ZA" sz="800" cap="none" spc="0">
                          <a:solidFill>
                            <a:schemeClr val="tx1"/>
                          </a:solidFill>
                          <a:effectLst/>
                        </a:rPr>
                        <a:t>1. The Admin is logged in to the Admin Dashboard.</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There is at least one "Pending" verification request in the database.</a:t>
                      </a: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3000875634"/>
                  </a:ext>
                </a:extLst>
              </a:tr>
              <a:tr h="739146">
                <a:tc>
                  <a:txBody>
                    <a:bodyPr/>
                    <a:lstStyle/>
                    <a:p>
                      <a:pPr rtl="0">
                        <a:buNone/>
                      </a:pPr>
                      <a:r>
                        <a:rPr lang="af-ZA" sz="800" b="1" cap="none" spc="0">
                          <a:solidFill>
                            <a:schemeClr val="tx1"/>
                          </a:solidFill>
                          <a:effectLst/>
                        </a:rPr>
                        <a:t>Postconditions</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1. </a:t>
                      </a:r>
                      <a:r>
                        <a:rPr lang="af-ZA" sz="800" b="1" cap="none" spc="0">
                          <a:solidFill>
                            <a:schemeClr val="tx1"/>
                          </a:solidFill>
                          <a:effectLst/>
                        </a:rPr>
                        <a:t>If Approved:</a:t>
                      </a:r>
                      <a:r>
                        <a:rPr lang="af-ZA" sz="800" cap="none" spc="0">
                          <a:solidFill>
                            <a:schemeClr val="tx1"/>
                          </a:solidFill>
                          <a:effectLst/>
                        </a:rPr>
                        <a:t> User's status updates to "Verified" and they receive a badge.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a:t>
                      </a:r>
                      <a:r>
                        <a:rPr lang="af-ZA" sz="800" b="1" cap="none" spc="0">
                          <a:solidFill>
                            <a:schemeClr val="tx1"/>
                          </a:solidFill>
                          <a:effectLst/>
                        </a:rPr>
                        <a:t>If Rejected:</a:t>
                      </a:r>
                      <a:r>
                        <a:rPr lang="af-ZA" sz="800" cap="none" spc="0">
                          <a:solidFill>
                            <a:schemeClr val="tx1"/>
                          </a:solidFill>
                          <a:effectLst/>
                        </a:rPr>
                        <a:t> User's status resets to "Unverified" and they receive a reason (e.g., "Blurry Image").</a:t>
                      </a: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711003449"/>
                  </a:ext>
                </a:extLst>
              </a:tr>
              <a:tr h="3691003">
                <a:tc>
                  <a:txBody>
                    <a:bodyPr/>
                    <a:lstStyle/>
                    <a:p>
                      <a:pPr rtl="0">
                        <a:buNone/>
                      </a:pPr>
                      <a:r>
                        <a:rPr lang="af-ZA" sz="800" b="1" cap="none" spc="0">
                          <a:solidFill>
                            <a:schemeClr val="tx1"/>
                          </a:solidFill>
                          <a:effectLst/>
                        </a:rPr>
                        <a:t>Flow of activities</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rtl="0">
                        <a:buNone/>
                      </a:pPr>
                      <a:r>
                        <a:rPr lang="af-ZA" sz="800" b="1" cap="none" spc="0">
                          <a:solidFill>
                            <a:schemeClr val="tx1"/>
                          </a:solidFill>
                          <a:effectLst/>
                        </a:rPr>
                        <a:t>Actor (Admin)</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Admin clicks on the "Verification Requests" tab.</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Admin selects a specific user from the list.</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Admin views the uploaded ID image and compares the name with the profile name.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4. Admin clicks either "Approve" or "Reject".</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5. (If Rejecting) Admin types a reason for the rejection.</a:t>
                      </a:r>
                    </a:p>
                    <a:p>
                      <a:pPr rtl="0">
                        <a:buNone/>
                      </a:pPr>
                      <a:br>
                        <a:rPr lang="af-ZA" sz="800" cap="none" spc="0">
                          <a:solidFill>
                            <a:schemeClr val="tx1"/>
                          </a:solidFill>
                          <a:effectLst/>
                        </a:rPr>
                      </a:br>
                      <a:br>
                        <a:rPr lang="af-ZA" sz="800" cap="none" spc="0">
                          <a:solidFill>
                            <a:schemeClr val="tx1"/>
                          </a:solidFill>
                          <a:effectLst/>
                        </a:rPr>
                      </a:br>
                      <a:endParaRPr lang="af-ZA" sz="800" cap="none" spc="0">
                        <a:solidFill>
                          <a:schemeClr val="tx1"/>
                        </a:solidFill>
                        <a:effectLst/>
                      </a:endParaRPr>
                    </a:p>
                    <a:p>
                      <a:pPr rtl="0">
                        <a:buNone/>
                      </a:pPr>
                      <a:r>
                        <a:rPr lang="af-ZA" sz="800" b="1" cap="none" spc="0">
                          <a:solidFill>
                            <a:schemeClr val="tx1"/>
                          </a:solidFill>
                          <a:effectLst/>
                        </a:rPr>
                        <a:t>System</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System retrieves the image from secure storage.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System updates the User table in the database.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System sends a notification to the Freelancer: "Congratulations, you are verified!" or "Verification Failed."</a:t>
                      </a:r>
                    </a:p>
                  </a:txBody>
                  <a:tcPr marL="0" marR="35422" marT="14169" marB="106267" anchor="ctr">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756199178"/>
                  </a:ext>
                </a:extLst>
              </a:tr>
              <a:tr h="857220">
                <a:tc>
                  <a:txBody>
                    <a:bodyPr/>
                    <a:lstStyle/>
                    <a:p>
                      <a:pPr rtl="0">
                        <a:buNone/>
                      </a:pPr>
                      <a:r>
                        <a:rPr lang="af-ZA" sz="800" b="1" cap="none" spc="0">
                          <a:solidFill>
                            <a:schemeClr val="tx1"/>
                          </a:solidFill>
                          <a:effectLst/>
                        </a:rPr>
                        <a:t>Exception conditions</a:t>
                      </a:r>
                      <a:endParaRPr lang="af-ZA" sz="800" cap="none" spc="0">
                        <a:solidFill>
                          <a:schemeClr val="tx1"/>
                        </a:solidFill>
                        <a:effectLst/>
                      </a:endParaRP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rtl="0">
                        <a:buNone/>
                      </a:pPr>
                      <a:r>
                        <a:rPr lang="af-ZA" sz="800" cap="none" spc="0">
                          <a:solidFill>
                            <a:schemeClr val="tx1"/>
                          </a:solidFill>
                          <a:effectLst/>
                        </a:rPr>
                        <a:t>1. </a:t>
                      </a:r>
                      <a:r>
                        <a:rPr lang="af-ZA" sz="800" b="1" cap="none" spc="0">
                          <a:solidFill>
                            <a:schemeClr val="tx1"/>
                          </a:solidFill>
                          <a:effectLst/>
                        </a:rPr>
                        <a:t>Image Load Error:</a:t>
                      </a:r>
                      <a:r>
                        <a:rPr lang="af-ZA" sz="800" cap="none" spc="0">
                          <a:solidFill>
                            <a:schemeClr val="tx1"/>
                          </a:solidFill>
                          <a:effectLst/>
                        </a:rPr>
                        <a:t> If the file is corrupted, Admin sees "Error loading image" and automatically rejects the request asking the user to re-upload.</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a:t>
                      </a:r>
                      <a:r>
                        <a:rPr lang="af-ZA" sz="800" b="1" cap="none" spc="0">
                          <a:solidFill>
                            <a:schemeClr val="tx1"/>
                          </a:solidFill>
                          <a:effectLst/>
                        </a:rPr>
                        <a:t>Duplicate ID:</a:t>
                      </a:r>
                      <a:r>
                        <a:rPr lang="af-ZA" sz="800" cap="none" spc="0">
                          <a:solidFill>
                            <a:schemeClr val="tx1"/>
                          </a:solidFill>
                          <a:effectLst/>
                        </a:rPr>
                        <a:t> If the Admin flags that this ID number is already in use by another account, the system bans both accounts for fraud.</a:t>
                      </a:r>
                    </a:p>
                  </a:txBody>
                  <a:tcPr marL="0" marR="35422" marT="14169" marB="106267" anchor="ctr">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237436225"/>
                  </a:ext>
                </a:extLst>
              </a:tr>
            </a:tbl>
          </a:graphicData>
        </a:graphic>
      </p:graphicFrame>
    </p:spTree>
    <p:extLst>
      <p:ext uri="{BB962C8B-B14F-4D97-AF65-F5344CB8AC3E}">
        <p14:creationId xmlns:p14="http://schemas.microsoft.com/office/powerpoint/2010/main" val="1263947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9">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772400" cy="100583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2" name="Rectangle 11">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353" y="487445"/>
            <a:ext cx="6703695" cy="908350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5" name="جدول 4">
            <a:extLst>
              <a:ext uri="{FF2B5EF4-FFF2-40B4-BE49-F238E27FC236}">
                <a16:creationId xmlns:a16="http://schemas.microsoft.com/office/drawing/2014/main" id="{0D989C08-0908-52F0-ED86-7439BC674570}"/>
              </a:ext>
            </a:extLst>
          </p:cNvPr>
          <p:cNvGraphicFramePr>
            <a:graphicFrameLocks noGrp="1"/>
          </p:cNvGraphicFramePr>
          <p:nvPr/>
        </p:nvGraphicFramePr>
        <p:xfrm>
          <a:off x="947985" y="653366"/>
          <a:ext cx="5891387" cy="8751671"/>
        </p:xfrm>
        <a:graphic>
          <a:graphicData uri="http://schemas.openxmlformats.org/drawingml/2006/table">
            <a:tbl>
              <a:tblPr bandRow="1">
                <a:noFill/>
                <a:tableStyleId>{5C22544A-7EE6-4342-B048-85BDC9FD1C3A}</a:tableStyleId>
              </a:tblPr>
              <a:tblGrid>
                <a:gridCol w="2426922">
                  <a:extLst>
                    <a:ext uri="{9D8B030D-6E8A-4147-A177-3AD203B41FA5}">
                      <a16:colId xmlns:a16="http://schemas.microsoft.com/office/drawing/2014/main" val="3733329425"/>
                    </a:ext>
                  </a:extLst>
                </a:gridCol>
                <a:gridCol w="3464465">
                  <a:extLst>
                    <a:ext uri="{9D8B030D-6E8A-4147-A177-3AD203B41FA5}">
                      <a16:colId xmlns:a16="http://schemas.microsoft.com/office/drawing/2014/main" val="1575216575"/>
                    </a:ext>
                  </a:extLst>
                </a:gridCol>
              </a:tblGrid>
              <a:tr h="214978">
                <a:tc>
                  <a:txBody>
                    <a:bodyPr/>
                    <a:lstStyle/>
                    <a:p>
                      <a:pPr rtl="0">
                        <a:buNone/>
                      </a:pPr>
                      <a:r>
                        <a:rPr lang="af-ZA" sz="800" b="1" cap="none" spc="0">
                          <a:solidFill>
                            <a:schemeClr val="tx1"/>
                          </a:solidFill>
                          <a:effectLst/>
                        </a:rPr>
                        <a:t>Field</a:t>
                      </a:r>
                      <a:endParaRPr lang="af-ZA" sz="800" cap="none" spc="0">
                        <a:solidFill>
                          <a:schemeClr val="tx1"/>
                        </a:solidFill>
                        <a:effectLst/>
                      </a:endParaRPr>
                    </a:p>
                  </a:txBody>
                  <a:tcPr marL="65013" marR="65013" marT="36407" marB="36407" anchor="ctr">
                    <a:lnL w="28575" cap="flat" cmpd="sng" algn="ctr">
                      <a:noFill/>
                      <a:prstDash val="solid"/>
                    </a:lnL>
                    <a:lnR w="12700" cmpd="sng">
                      <a:noFill/>
                      <a:prstDash val="solid"/>
                    </a:lnR>
                    <a:lnT w="28575" cap="flat" cmpd="sng" algn="ctr">
                      <a:noFill/>
                      <a:prstDash val="solid"/>
                    </a:lnT>
                    <a:lnB w="12700" cap="flat" cmpd="sng" algn="ctr">
                      <a:noFill/>
                      <a:prstDash val="solid"/>
                    </a:lnB>
                    <a:noFill/>
                  </a:tcPr>
                </a:tc>
                <a:tc>
                  <a:txBody>
                    <a:bodyPr/>
                    <a:lstStyle/>
                    <a:p>
                      <a:pPr rtl="0">
                        <a:buNone/>
                      </a:pPr>
                      <a:r>
                        <a:rPr lang="af-ZA" sz="800" b="1" cap="none" spc="0">
                          <a:solidFill>
                            <a:schemeClr val="tx1"/>
                          </a:solidFill>
                          <a:effectLst/>
                        </a:rPr>
                        <a:t>Description</a:t>
                      </a:r>
                      <a:endParaRPr lang="af-ZA" sz="800" cap="none" spc="0">
                        <a:solidFill>
                          <a:schemeClr val="tx1"/>
                        </a:solidFill>
                        <a:effectLst/>
                      </a:endParaRPr>
                    </a:p>
                  </a:txBody>
                  <a:tcPr marL="65013" marR="65013" marT="36407" marB="36407" anchor="ctr">
                    <a:lnL w="12700" cmpd="sng">
                      <a:noFill/>
                      <a:prstDash val="solid"/>
                    </a:lnL>
                    <a:lnR w="28575" cap="flat" cmpd="sng" algn="ctr">
                      <a:noFill/>
                      <a:prstDash val="solid"/>
                    </a:lnR>
                    <a:lnT w="28575" cap="flat" cmpd="sng" algn="ctr">
                      <a:noFill/>
                      <a:prstDash val="solid"/>
                    </a:lnT>
                    <a:lnB w="12700" cap="flat" cmpd="sng" algn="ctr">
                      <a:noFill/>
                      <a:prstDash val="solid"/>
                    </a:lnB>
                    <a:noFill/>
                  </a:tcPr>
                </a:tc>
                <a:extLst>
                  <a:ext uri="{0D108BD9-81ED-4DB2-BD59-A6C34878D82A}">
                    <a16:rowId xmlns:a16="http://schemas.microsoft.com/office/drawing/2014/main" val="1183716047"/>
                  </a:ext>
                </a:extLst>
              </a:tr>
              <a:tr h="197641">
                <a:tc>
                  <a:txBody>
                    <a:bodyPr/>
                    <a:lstStyle/>
                    <a:p>
                      <a:pPr rtl="0">
                        <a:buNone/>
                      </a:pPr>
                      <a:r>
                        <a:rPr lang="af-ZA" sz="700" b="1" cap="none" spc="0">
                          <a:solidFill>
                            <a:schemeClr val="tx1"/>
                          </a:solidFill>
                          <a:effectLst/>
                        </a:rPr>
                        <a:t>Use case name</a:t>
                      </a:r>
                      <a:endParaRPr lang="af-ZA" sz="700" cap="none" spc="0">
                        <a:solidFill>
                          <a:schemeClr val="tx1"/>
                        </a:solidFill>
                        <a:effectLst/>
                      </a:endParaRPr>
                    </a:p>
                  </a:txBody>
                  <a:tcPr marL="65013" marR="65013" marT="36407" marB="36407"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Approve Payout</a:t>
                      </a:r>
                    </a:p>
                  </a:txBody>
                  <a:tcPr marL="65013" marR="65013" marT="36407" marB="36407"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911851880"/>
                  </a:ext>
                </a:extLst>
              </a:tr>
              <a:tr h="214978">
                <a:tc>
                  <a:txBody>
                    <a:bodyPr/>
                    <a:lstStyle/>
                    <a:p>
                      <a:pPr rtl="0">
                        <a:buNone/>
                      </a:pPr>
                      <a:r>
                        <a:rPr lang="af-ZA" sz="800" b="1" cap="none" spc="0">
                          <a:solidFill>
                            <a:schemeClr val="tx1"/>
                          </a:solidFill>
                          <a:effectLst/>
                        </a:rPr>
                        <a:t>Scenario</a:t>
                      </a:r>
                      <a:endParaRPr lang="af-ZA" sz="800" cap="none" spc="0">
                        <a:solidFill>
                          <a:schemeClr val="tx1"/>
                        </a:solidFill>
                        <a:effectLst/>
                      </a:endParaRPr>
                    </a:p>
                  </a:txBody>
                  <a:tcPr marL="65013" marR="65013" marT="36407" marB="36407"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af-ZA" sz="800" cap="none" spc="0">
                          <a:solidFill>
                            <a:schemeClr val="tx1"/>
                          </a:solidFill>
                          <a:effectLst/>
                        </a:rPr>
                        <a:t>Admin authorizes the transfer of funds to a Freelancer's external wallet.</a:t>
                      </a:r>
                    </a:p>
                  </a:txBody>
                  <a:tcPr marL="65013" marR="65013" marT="36407" marB="36407"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328093932"/>
                  </a:ext>
                </a:extLst>
              </a:tr>
              <a:tr h="301663">
                <a:tc>
                  <a:txBody>
                    <a:bodyPr/>
                    <a:lstStyle/>
                    <a:p>
                      <a:pPr rtl="0">
                        <a:buNone/>
                      </a:pPr>
                      <a:r>
                        <a:rPr lang="af-ZA" sz="700" b="1" cap="none" spc="0">
                          <a:solidFill>
                            <a:schemeClr val="tx1"/>
                          </a:solidFill>
                          <a:effectLst/>
                        </a:rPr>
                        <a:t>Triggering event</a:t>
                      </a:r>
                      <a:endParaRPr lang="af-ZA" sz="700" cap="none" spc="0">
                        <a:solidFill>
                          <a:schemeClr val="tx1"/>
                        </a:solidFill>
                        <a:effectLst/>
                      </a:endParaRPr>
                    </a:p>
                  </a:txBody>
                  <a:tcPr marL="65013" marR="65013" marT="36407" marB="36407"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A "Pending Withdrawal" request appears in the Admin Dashboard after a Freelancer requests their money.</a:t>
                      </a:r>
                    </a:p>
                  </a:txBody>
                  <a:tcPr marL="65013" marR="65013" marT="36407" marB="36407"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518163915"/>
                  </a:ext>
                </a:extLst>
              </a:tr>
              <a:tr h="579053">
                <a:tc>
                  <a:txBody>
                    <a:bodyPr/>
                    <a:lstStyle/>
                    <a:p>
                      <a:pPr rtl="0">
                        <a:buNone/>
                      </a:pPr>
                      <a:r>
                        <a:rPr lang="af-ZA" sz="800" b="1" cap="none" spc="0">
                          <a:solidFill>
                            <a:schemeClr val="tx1"/>
                          </a:solidFill>
                          <a:effectLst/>
                        </a:rPr>
                        <a:t>Brief description</a:t>
                      </a:r>
                      <a:endParaRPr lang="af-ZA" sz="800" cap="none" spc="0">
                        <a:solidFill>
                          <a:schemeClr val="tx1"/>
                        </a:solidFill>
                        <a:effectLst/>
                      </a:endParaRPr>
                    </a:p>
                  </a:txBody>
                  <a:tcPr marL="65013" marR="65013" marT="36407" marB="36407"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af-ZA" sz="800" cap="none" spc="0">
                          <a:solidFill>
                            <a:schemeClr val="tx1"/>
                          </a:solidFill>
                          <a:effectLst/>
                        </a:rPr>
                        <a:t>The Admin reviews the pending financial request to ensuring there are no security flags on the account. They then approve the transaction, which triggers the actual money transfer (via Paymob/InstaPay integration or manual transfer) and marks the request as "Completed" in the system.</a:t>
                      </a:r>
                    </a:p>
                  </a:txBody>
                  <a:tcPr marL="65013" marR="65013" marT="36407" marB="36407"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725265962"/>
                  </a:ext>
                </a:extLst>
              </a:tr>
              <a:tr h="197641">
                <a:tc>
                  <a:txBody>
                    <a:bodyPr/>
                    <a:lstStyle/>
                    <a:p>
                      <a:pPr rtl="0">
                        <a:buNone/>
                      </a:pPr>
                      <a:r>
                        <a:rPr lang="af-ZA" sz="700" b="1" cap="none" spc="0">
                          <a:solidFill>
                            <a:schemeClr val="tx1"/>
                          </a:solidFill>
                          <a:effectLst/>
                        </a:rPr>
                        <a:t>Actors</a:t>
                      </a:r>
                      <a:endParaRPr lang="af-ZA" sz="700" cap="none" spc="0">
                        <a:solidFill>
                          <a:schemeClr val="tx1"/>
                        </a:solidFill>
                        <a:effectLst/>
                      </a:endParaRPr>
                    </a:p>
                  </a:txBody>
                  <a:tcPr marL="65013" marR="65013" marT="36407" marB="36407"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Admin.</a:t>
                      </a:r>
                    </a:p>
                  </a:txBody>
                  <a:tcPr marL="65013" marR="65013" marT="36407" marB="36407"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4030985716"/>
                  </a:ext>
                </a:extLst>
              </a:tr>
              <a:tr h="214978">
                <a:tc>
                  <a:txBody>
                    <a:bodyPr/>
                    <a:lstStyle/>
                    <a:p>
                      <a:pPr rtl="0">
                        <a:buNone/>
                      </a:pPr>
                      <a:r>
                        <a:rPr lang="af-ZA" sz="800" b="1" cap="none" spc="0">
                          <a:solidFill>
                            <a:schemeClr val="tx1"/>
                          </a:solidFill>
                          <a:effectLst/>
                        </a:rPr>
                        <a:t>Related use cases</a:t>
                      </a:r>
                      <a:endParaRPr lang="af-ZA" sz="800" cap="none" spc="0">
                        <a:solidFill>
                          <a:schemeClr val="tx1"/>
                        </a:solidFill>
                        <a:effectLst/>
                      </a:endParaRPr>
                    </a:p>
                  </a:txBody>
                  <a:tcPr marL="65013" marR="65013" marT="36407" marB="36407"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af-ZA" sz="800" i="1" cap="none" spc="0">
                          <a:solidFill>
                            <a:schemeClr val="tx1"/>
                          </a:solidFill>
                          <a:effectLst/>
                        </a:rPr>
                        <a:t>Request Withdrawal</a:t>
                      </a:r>
                      <a:r>
                        <a:rPr lang="af-ZA" sz="800" cap="none" spc="0">
                          <a:solidFill>
                            <a:schemeClr val="tx1"/>
                          </a:solidFill>
                          <a:effectLst/>
                        </a:rPr>
                        <a:t> (Predecessor), </a:t>
                      </a:r>
                      <a:r>
                        <a:rPr lang="af-ZA" sz="800" i="1" cap="none" spc="0">
                          <a:solidFill>
                            <a:schemeClr val="tx1"/>
                          </a:solidFill>
                          <a:effectLst/>
                        </a:rPr>
                        <a:t>Login</a:t>
                      </a:r>
                      <a:r>
                        <a:rPr lang="af-ZA" sz="800" cap="none" spc="0">
                          <a:solidFill>
                            <a:schemeClr val="tx1"/>
                          </a:solidFill>
                          <a:effectLst/>
                        </a:rPr>
                        <a:t> (Precondition).</a:t>
                      </a:r>
                    </a:p>
                  </a:txBody>
                  <a:tcPr marL="65013" marR="65013" marT="36407" marB="36407"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046115698"/>
                  </a:ext>
                </a:extLst>
              </a:tr>
              <a:tr h="509705">
                <a:tc>
                  <a:txBody>
                    <a:bodyPr/>
                    <a:lstStyle/>
                    <a:p>
                      <a:pPr rtl="0">
                        <a:buNone/>
                      </a:pPr>
                      <a:r>
                        <a:rPr lang="af-ZA" sz="700" b="1" cap="none" spc="0">
                          <a:solidFill>
                            <a:schemeClr val="tx1"/>
                          </a:solidFill>
                          <a:effectLst/>
                        </a:rPr>
                        <a:t>Stakeholders</a:t>
                      </a:r>
                      <a:endParaRPr lang="af-ZA" sz="700" cap="none" spc="0">
                        <a:solidFill>
                          <a:schemeClr val="tx1"/>
                        </a:solidFill>
                        <a:effectLst/>
                      </a:endParaRPr>
                    </a:p>
                  </a:txBody>
                  <a:tcPr marL="65013" marR="65013" marT="36407" marB="36407"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af-ZA" sz="700" b="1" cap="none" spc="0">
                          <a:solidFill>
                            <a:schemeClr val="tx1"/>
                          </a:solidFill>
                          <a:effectLst/>
                        </a:rPr>
                        <a:t>Freelancer:</a:t>
                      </a:r>
                      <a:r>
                        <a:rPr lang="af-ZA" sz="700" cap="none" spc="0">
                          <a:solidFill>
                            <a:schemeClr val="tx1"/>
                          </a:solidFill>
                          <a:effectLst/>
                        </a:rPr>
                        <a:t> Waiting for their money.</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b="1" cap="none" spc="0">
                          <a:solidFill>
                            <a:schemeClr val="tx1"/>
                          </a:solidFill>
                          <a:effectLst/>
                        </a:rPr>
                        <a:t>Sho8la Finance:</a:t>
                      </a:r>
                      <a:r>
                        <a:rPr lang="af-ZA" sz="700" cap="none" spc="0">
                          <a:solidFill>
                            <a:schemeClr val="tx1"/>
                          </a:solidFill>
                          <a:effectLst/>
                        </a:rPr>
                        <a:t> Needs accurate records of money leaving the system.</a:t>
                      </a:r>
                    </a:p>
                  </a:txBody>
                  <a:tcPr marL="65013" marR="65013" marT="36407" marB="36407"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496134623"/>
                  </a:ext>
                </a:extLst>
              </a:tr>
              <a:tr h="943128">
                <a:tc>
                  <a:txBody>
                    <a:bodyPr/>
                    <a:lstStyle/>
                    <a:p>
                      <a:pPr rtl="0">
                        <a:buNone/>
                      </a:pPr>
                      <a:r>
                        <a:rPr lang="af-ZA" sz="800" b="1" cap="none" spc="0">
                          <a:solidFill>
                            <a:schemeClr val="tx1"/>
                          </a:solidFill>
                          <a:effectLst/>
                        </a:rPr>
                        <a:t>Preconditions</a:t>
                      </a:r>
                      <a:endParaRPr lang="af-ZA" sz="800" cap="none" spc="0">
                        <a:solidFill>
                          <a:schemeClr val="tx1"/>
                        </a:solidFill>
                        <a:effectLst/>
                      </a:endParaRPr>
                    </a:p>
                  </a:txBody>
                  <a:tcPr marL="65013" marR="65013" marT="36407" marB="36407"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af-ZA" sz="800" cap="none" spc="0">
                          <a:solidFill>
                            <a:schemeClr val="tx1"/>
                          </a:solidFill>
                          <a:effectLst/>
                        </a:rPr>
                        <a:t>1. Admin is logged in.</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A Freelancer has submitted a valid withdrawal request.</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The system's central bank account has sufficient funds.</a:t>
                      </a:r>
                    </a:p>
                  </a:txBody>
                  <a:tcPr marL="65013" marR="65013" marT="36407" marB="36407"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122790894"/>
                  </a:ext>
                </a:extLst>
              </a:tr>
              <a:tr h="821769">
                <a:tc>
                  <a:txBody>
                    <a:bodyPr/>
                    <a:lstStyle/>
                    <a:p>
                      <a:pPr rtl="0">
                        <a:buNone/>
                      </a:pPr>
                      <a:r>
                        <a:rPr lang="af-ZA" sz="700" b="1" cap="none" spc="0">
                          <a:solidFill>
                            <a:schemeClr val="tx1"/>
                          </a:solidFill>
                          <a:effectLst/>
                        </a:rPr>
                        <a:t>Postconditions</a:t>
                      </a:r>
                      <a:endParaRPr lang="af-ZA" sz="700" cap="none" spc="0">
                        <a:solidFill>
                          <a:schemeClr val="tx1"/>
                        </a:solidFill>
                        <a:effectLst/>
                      </a:endParaRPr>
                    </a:p>
                  </a:txBody>
                  <a:tcPr marL="65013" marR="65013" marT="36407" marB="36407"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1. Funds are transferred to the Freelancer.</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The transaction status in the database changes from "Pending" to "Paid".</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3. An email/SMS receipt is sent to the Freelancer.</a:t>
                      </a:r>
                    </a:p>
                  </a:txBody>
                  <a:tcPr marL="65013" marR="65013" marT="36407" marB="36407"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955285932"/>
                  </a:ext>
                </a:extLst>
              </a:tr>
              <a:tr h="3734368">
                <a:tc>
                  <a:txBody>
                    <a:bodyPr/>
                    <a:lstStyle/>
                    <a:p>
                      <a:pPr rtl="0">
                        <a:buNone/>
                      </a:pPr>
                      <a:r>
                        <a:rPr lang="af-ZA" sz="800" b="1" cap="none" spc="0">
                          <a:solidFill>
                            <a:schemeClr val="tx1"/>
                          </a:solidFill>
                          <a:effectLst/>
                        </a:rPr>
                        <a:t>Flow of activities</a:t>
                      </a:r>
                      <a:endParaRPr lang="af-ZA" sz="800" cap="none" spc="0">
                        <a:solidFill>
                          <a:schemeClr val="tx1"/>
                        </a:solidFill>
                        <a:effectLst/>
                      </a:endParaRPr>
                    </a:p>
                  </a:txBody>
                  <a:tcPr marL="65013" marR="65013" marT="36407" marB="36407"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af-ZA" sz="800" b="1" cap="none" spc="0">
                          <a:solidFill>
                            <a:schemeClr val="tx1"/>
                          </a:solidFill>
                          <a:effectLst/>
                        </a:rPr>
                        <a:t>Actor (Admin)</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Admin navigates to "Financial Requests".</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Admin reviews the request details (User Name, Amount, Destination Number).</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Admin checks for any fraud alerts.</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4. Admin clicks "Approve Transfer".</a:t>
                      </a:r>
                    </a:p>
                    <a:p>
                      <a:pPr rtl="0">
                        <a:buNone/>
                      </a:pPr>
                      <a:br>
                        <a:rPr lang="af-ZA" sz="800" cap="none" spc="0">
                          <a:solidFill>
                            <a:schemeClr val="tx1"/>
                          </a:solidFill>
                          <a:effectLst/>
                        </a:rPr>
                      </a:br>
                      <a:br>
                        <a:rPr lang="af-ZA" sz="800" cap="none" spc="0">
                          <a:solidFill>
                            <a:schemeClr val="tx1"/>
                          </a:solidFill>
                          <a:effectLst/>
                        </a:rPr>
                      </a:br>
                      <a:endParaRPr lang="af-ZA" sz="800" cap="none" spc="0">
                        <a:solidFill>
                          <a:schemeClr val="tx1"/>
                        </a:solidFill>
                        <a:effectLst/>
                      </a:endParaRPr>
                    </a:p>
                    <a:p>
                      <a:pPr rtl="0">
                        <a:buNone/>
                      </a:pPr>
                      <a:r>
                        <a:rPr lang="af-ZA" sz="800" b="1" cap="none" spc="0">
                          <a:solidFill>
                            <a:schemeClr val="tx1"/>
                          </a:solidFill>
                          <a:effectLst/>
                        </a:rPr>
                        <a:t>System</a:t>
                      </a:r>
                      <a:endParaRPr lang="af-ZA" sz="800" cap="none" spc="0">
                        <a:solidFill>
                          <a:schemeClr val="tx1"/>
                        </a:solidFill>
                        <a:effectLst/>
                      </a:endParaRP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1. System locks the transaction to prevent double-payment.</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2. System calls the Payout API (or records the manual transfer reference).</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3. System deducts the amount from the platform's pending liability.</a:t>
                      </a:r>
                    </a:p>
                    <a:p>
                      <a:pPr rtl="0">
                        <a:buNone/>
                      </a:pPr>
                      <a:br>
                        <a:rPr lang="af-ZA" sz="800" cap="none" spc="0">
                          <a:solidFill>
                            <a:schemeClr val="tx1"/>
                          </a:solidFill>
                          <a:effectLst/>
                        </a:rPr>
                      </a:br>
                      <a:endParaRPr lang="af-ZA" sz="800" cap="none" spc="0">
                        <a:solidFill>
                          <a:schemeClr val="tx1"/>
                        </a:solidFill>
                        <a:effectLst/>
                      </a:endParaRPr>
                    </a:p>
                    <a:p>
                      <a:pPr rtl="0">
                        <a:buNone/>
                      </a:pPr>
                      <a:r>
                        <a:rPr lang="af-ZA" sz="800" cap="none" spc="0">
                          <a:solidFill>
                            <a:schemeClr val="tx1"/>
                          </a:solidFill>
                          <a:effectLst/>
                        </a:rPr>
                        <a:t>4. System notifies the Freelancer: "Your funds have been sent."</a:t>
                      </a:r>
                    </a:p>
                  </a:txBody>
                  <a:tcPr marL="65013" marR="65013" marT="36407" marB="36407"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843952386"/>
                  </a:ext>
                </a:extLst>
              </a:tr>
              <a:tr h="821769">
                <a:tc>
                  <a:txBody>
                    <a:bodyPr/>
                    <a:lstStyle/>
                    <a:p>
                      <a:pPr rtl="0">
                        <a:buNone/>
                      </a:pPr>
                      <a:r>
                        <a:rPr lang="af-ZA" sz="700" b="1" cap="none" spc="0">
                          <a:solidFill>
                            <a:schemeClr val="tx1"/>
                          </a:solidFill>
                          <a:effectLst/>
                        </a:rPr>
                        <a:t>Exception conditions</a:t>
                      </a:r>
                      <a:endParaRPr lang="af-ZA" sz="700" cap="none" spc="0">
                        <a:solidFill>
                          <a:schemeClr val="tx1"/>
                        </a:solidFill>
                        <a:effectLst/>
                      </a:endParaRPr>
                    </a:p>
                  </a:txBody>
                  <a:tcPr marL="65013" marR="65013" marT="36407" marB="36407"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af-ZA" sz="700" cap="none" spc="0">
                          <a:solidFill>
                            <a:schemeClr val="tx1"/>
                          </a:solidFill>
                          <a:effectLst/>
                        </a:rPr>
                        <a:t>1. </a:t>
                      </a:r>
                      <a:r>
                        <a:rPr lang="af-ZA" sz="700" b="1" cap="none" spc="0">
                          <a:solidFill>
                            <a:schemeClr val="tx1"/>
                          </a:solidFill>
                          <a:effectLst/>
                        </a:rPr>
                        <a:t>Suspected Fraud:</a:t>
                      </a:r>
                      <a:r>
                        <a:rPr lang="af-ZA" sz="700" cap="none" spc="0">
                          <a:solidFill>
                            <a:schemeClr val="tx1"/>
                          </a:solidFill>
                          <a:effectLst/>
                        </a:rPr>
                        <a:t> If the user has suspicious activity, Admin clicks "Reject" or "Hold". The funds are returned to the Freelancer's Sho8la wallet, and their account is flagged.</a:t>
                      </a:r>
                    </a:p>
                    <a:p>
                      <a:pPr rtl="0">
                        <a:buNone/>
                      </a:pPr>
                      <a:br>
                        <a:rPr lang="af-ZA" sz="700" cap="none" spc="0">
                          <a:solidFill>
                            <a:schemeClr val="tx1"/>
                          </a:solidFill>
                          <a:effectLst/>
                        </a:rPr>
                      </a:br>
                      <a:endParaRPr lang="af-ZA" sz="700" cap="none" spc="0">
                        <a:solidFill>
                          <a:schemeClr val="tx1"/>
                        </a:solidFill>
                        <a:effectLst/>
                      </a:endParaRPr>
                    </a:p>
                    <a:p>
                      <a:pPr rtl="0">
                        <a:buNone/>
                      </a:pPr>
                      <a:r>
                        <a:rPr lang="af-ZA" sz="700" cap="none" spc="0">
                          <a:solidFill>
                            <a:schemeClr val="tx1"/>
                          </a:solidFill>
                          <a:effectLst/>
                        </a:rPr>
                        <a:t>2. </a:t>
                      </a:r>
                      <a:r>
                        <a:rPr lang="af-ZA" sz="700" b="1" cap="none" spc="0">
                          <a:solidFill>
                            <a:schemeClr val="tx1"/>
                          </a:solidFill>
                          <a:effectLst/>
                        </a:rPr>
                        <a:t>Gateway Failure:</a:t>
                      </a:r>
                      <a:r>
                        <a:rPr lang="af-ZA" sz="700" cap="none" spc="0">
                          <a:solidFill>
                            <a:schemeClr val="tx1"/>
                          </a:solidFill>
                          <a:effectLst/>
                        </a:rPr>
                        <a:t> If the banking API is down, the system shows "Transfer Failed, try again later" and keeps the request in "Pending" status.</a:t>
                      </a:r>
                    </a:p>
                  </a:txBody>
                  <a:tcPr marL="65013" marR="65013" marT="36407" marB="36407"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626704094"/>
                  </a:ext>
                </a:extLst>
              </a:tr>
            </a:tbl>
          </a:graphicData>
        </a:graphic>
      </p:graphicFrame>
    </p:spTree>
    <p:extLst>
      <p:ext uri="{BB962C8B-B14F-4D97-AF65-F5344CB8AC3E}">
        <p14:creationId xmlns:p14="http://schemas.microsoft.com/office/powerpoint/2010/main" val="805060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TotalTime>
  <Words>33</Words>
  <Application>Microsoft Office PowerPoint</Application>
  <PresentationFormat>مخصص</PresentationFormat>
  <Paragraphs>13</Paragraphs>
  <Slides>14</Slides>
  <Notes>0</Notes>
  <HiddenSlides>0</HiddenSlides>
  <MMClips>0</MMClips>
  <ScaleCrop>false</ScaleCrop>
  <HeadingPairs>
    <vt:vector size="4" baseType="variant">
      <vt:variant>
        <vt:lpstr>نسق</vt:lpstr>
      </vt:variant>
      <vt:variant>
        <vt:i4>1</vt:i4>
      </vt:variant>
      <vt:variant>
        <vt:lpstr>عناوين الشرائح</vt:lpstr>
      </vt:variant>
      <vt:variant>
        <vt:i4>14</vt:i4>
      </vt:variant>
    </vt:vector>
  </HeadingPairs>
  <TitlesOfParts>
    <vt:vector size="15" baseType="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Omar Shahata Ismail Abdel Hamid Anani</dc:creator>
  <cp:lastModifiedBy>Omar Shahata Ismail Abdel Hamid Anani</cp:lastModifiedBy>
  <cp:revision>198</cp:revision>
  <dcterms:created xsi:type="dcterms:W3CDTF">2025-12-04T18:53:50Z</dcterms:created>
  <dcterms:modified xsi:type="dcterms:W3CDTF">2025-12-05T19:58:46Z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2025-12-04T00:00:00Z</vt:filetime>
  </property>
  <property fmtid="{D5CDD505-2E9C-101B-9397-08002B2CF9AE}" pid="3" name="Creator">
    <vt:lpwstr>Microsoft® Word 2016</vt:lpwstr>
  </property>
  <property fmtid="{D5CDD505-2E9C-101B-9397-08002B2CF9AE}" pid="4" name="LastSaved">
    <vt:filetime>2025-12-04T00:00:00Z</vt:filetime>
  </property>
  <property fmtid="{D5CDD505-2E9C-101B-9397-08002B2CF9AE}" pid="5" name="Producer">
    <vt:lpwstr>www.ilovepdf.com</vt:lpwstr>
  </property>
</Properties>
</file>